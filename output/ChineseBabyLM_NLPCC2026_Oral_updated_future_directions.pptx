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c69f0e3bdde4285" /><Relationship Type="http://schemas.openxmlformats.org/officeDocument/2006/relationships/extended-properties" Target="/docProps/app.xml" Id="R705a459269524606" /><Relationship Type="http://schemas.openxmlformats.org/officeDocument/2006/relationships/officeDocument" Target="/ppt/presentation.xml" Id="R52afdd8415754c63" /></Relationships>
</file>

<file path=ppt/presentation.xml><?xml version="1.0" encoding="utf-8"?>
<p:presentation xmlns:p="http://schemas.openxmlformats.org/presentationml/2006/main">
  <p:sldMasterIdLst>
    <p:sldMasterId xmlns:r="http://schemas.openxmlformats.org/officeDocument/2006/relationships" id="2147483648" r:id="R7c161681c3534c21"/>
  </p:sldMasterIdLst>
  <p:notesMasterIdLst>
    <p:notesMasterId xmlns:r="http://schemas.openxmlformats.org/officeDocument/2006/relationships" r:id="R572d7eaf4f864ab5"/>
  </p:notesMasterIdLst>
  <p:sldIdLst>
    <p:sldId xmlns:r="http://schemas.openxmlformats.org/officeDocument/2006/relationships" id="256" r:id="R30a23a4ec4cd46ea"/>
    <p:sldId xmlns:r="http://schemas.openxmlformats.org/officeDocument/2006/relationships" id="257" r:id="R20f6ff09bdf846a9"/>
    <p:sldId xmlns:r="http://schemas.openxmlformats.org/officeDocument/2006/relationships" id="258" r:id="R36ead213e36b4dc6"/>
    <p:sldId xmlns:r="http://schemas.openxmlformats.org/officeDocument/2006/relationships" id="259" r:id="R4b54ae5994f44299"/>
    <p:sldId xmlns:r="http://schemas.openxmlformats.org/officeDocument/2006/relationships" id="260" r:id="R52e30aac94664b54"/>
    <p:sldId xmlns:r="http://schemas.openxmlformats.org/officeDocument/2006/relationships" id="261" r:id="R5f228e444b2f4c1b"/>
    <p:sldId xmlns:r="http://schemas.openxmlformats.org/officeDocument/2006/relationships" id="262" r:id="Rce3172718f3a4bd4"/>
    <p:sldId xmlns:r="http://schemas.openxmlformats.org/officeDocument/2006/relationships" id="263" r:id="Ra63dfcf994d0461c"/>
    <p:sldId xmlns:r="http://schemas.openxmlformats.org/officeDocument/2006/relationships" id="264" r:id="Race57d0efd2342e3"/>
    <p:sldId xmlns:r="http://schemas.openxmlformats.org/officeDocument/2006/relationships" id="265" r:id="R07fc2218e7dc457e"/>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2f7cee764724edb" /><Relationship Type="http://schemas.openxmlformats.org/officeDocument/2006/relationships/slideMaster" Target="/ppt/slideMasters/slideMaster1.xml" Id="R7c161681c3534c21" /><Relationship Type="http://schemas.openxmlformats.org/officeDocument/2006/relationships/notesMaster" Target="/ppt/notesMasters/notesMaster1.xml" Id="R572d7eaf4f864ab5" /><Relationship Type="http://schemas.openxmlformats.org/officeDocument/2006/relationships/presProps" Target="/ppt/presProps.xml" Id="Rd0f09aa854844e0f" /><Relationship Type="http://schemas.openxmlformats.org/officeDocument/2006/relationships/viewProps" Target="/ppt/viewProps.xml" Id="Rd5d677e14cae45da" /><Relationship Type="http://schemas.openxmlformats.org/officeDocument/2006/relationships/tableStyles" Target="/ppt/tableStyles.xml" Id="Rf4ab7ca0574a46f8" /><Relationship Type="http://schemas.openxmlformats.org/officeDocument/2006/relationships/slide" Target="/ppt/slides/slide1.xml" Id="R30a23a4ec4cd46ea" /><Relationship Type="http://schemas.openxmlformats.org/officeDocument/2006/relationships/slide" Target="/ppt/slides/slide2.xml" Id="R20f6ff09bdf846a9" /><Relationship Type="http://schemas.openxmlformats.org/officeDocument/2006/relationships/slide" Target="/ppt/slides/slide3.xml" Id="R36ead213e36b4dc6" /><Relationship Type="http://schemas.openxmlformats.org/officeDocument/2006/relationships/slide" Target="/ppt/slides/slide4.xml" Id="R4b54ae5994f44299" /><Relationship Type="http://schemas.openxmlformats.org/officeDocument/2006/relationships/slide" Target="/ppt/slides/slide5.xml" Id="R52e30aac94664b54" /><Relationship Type="http://schemas.openxmlformats.org/officeDocument/2006/relationships/slide" Target="/ppt/slides/slide6.xml" Id="R5f228e444b2f4c1b" /><Relationship Type="http://schemas.openxmlformats.org/officeDocument/2006/relationships/slide" Target="/ppt/slides/slide7.xml" Id="Rce3172718f3a4bd4" /><Relationship Type="http://schemas.openxmlformats.org/officeDocument/2006/relationships/slide" Target="/ppt/slides/slide8.xml" Id="Ra63dfcf994d0461c" /><Relationship Type="http://schemas.openxmlformats.org/officeDocument/2006/relationships/slide" Target="/ppt/slides/slide9.xml" Id="Race57d0efd2342e3" /><Relationship Type="http://schemas.openxmlformats.org/officeDocument/2006/relationships/slide" Target="/ppt/slides/slide10.xml" Id="R07fc2218e7dc45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a368788e7449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621e536b604a63" /><Relationship Type="http://schemas.openxmlformats.org/officeDocument/2006/relationships/notesMaster" Target="/ppt/notesMasters/notesMaster1.xml" Id="R1803d387a30a46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a4f25c24f24cf5" /><Relationship Type="http://schemas.openxmlformats.org/officeDocument/2006/relationships/notesMaster" Target="/ppt/notesMasters/notesMaster1.xml" Id="Re435b48ce1c945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f6948fcc624463" /><Relationship Type="http://schemas.openxmlformats.org/officeDocument/2006/relationships/notesMaster" Target="/ppt/notesMasters/notesMaster1.xml" Id="R37c12cbeca4e42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b27cca646547eb" /><Relationship Type="http://schemas.openxmlformats.org/officeDocument/2006/relationships/notesMaster" Target="/ppt/notesMasters/notesMaster1.xml" Id="R8c9423de894344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7cc1b9ab784cfa" /><Relationship Type="http://schemas.openxmlformats.org/officeDocument/2006/relationships/notesMaster" Target="/ppt/notesMasters/notesMaster1.xml" Id="R5fb5c48e31be42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d11daa3a124620" /><Relationship Type="http://schemas.openxmlformats.org/officeDocument/2006/relationships/notesMaster" Target="/ppt/notesMasters/notesMaster1.xml" Id="R1b59a3ebf30b40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db9bd84046451d" /><Relationship Type="http://schemas.openxmlformats.org/officeDocument/2006/relationships/notesMaster" Target="/ppt/notesMasters/notesMaster1.xml" Id="Rd95c23e8d7704d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c6ebc549c64c6f" /><Relationship Type="http://schemas.openxmlformats.org/officeDocument/2006/relationships/notesMaster" Target="/ppt/notesMasters/notesMaster1.xml" Id="Rb76906a9d1e345c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156a5c063c4570" /><Relationship Type="http://schemas.openxmlformats.org/officeDocument/2006/relationships/notesMaster" Target="/ppt/notesMasters/notesMaster1.xml" Id="Rc733bb93481d4c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f5a6087d4c4113" /><Relationship Type="http://schemas.openxmlformats.org/officeDocument/2006/relationships/notesMaster" Target="/ppt/notesMasters/notesMaster1.xml" Id="R482b98ea6ec84a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05000"/>
              </a:lnSpc>
              <a:buNone/>
              <a:defRPr sz="2100">
                <a:solidFill>
                  <a:srgbClr val="233342"/>
                </a:solidFill>
                <a:latin typeface="Arial"/>
                <a:ea typeface="Arial"/>
                <a:cs typeface="Arial"/>
              </a:defRPr>
            </a:pPr>
            <a:r>
              <a:t>I am Zhiheng Qian. I am here to present the first ChineseBabyLM Challenge on behalf of the shared task organisers.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The first </a:t>
            </a:r>
            <a:r>
              <a:t>ChineseBabyLM</a:t>
            </a:r>
            <a:r>
              <a:t> Challenge aims </a:t>
            </a:r>
            <a:r>
              <a:rPr sz="1200">
                <a:solidFill>
                  <a:srgbClr val="233342"/>
                </a:solidFill>
                <a:latin typeface="Arial"/>
                <a:ea typeface="Arial"/>
                <a:cs typeface="Arial"/>
              </a:rPr>
              <a:t>t</a:t>
            </a:r>
            <a:r>
              <a:rPr sz="1200">
                <a:solidFill>
                  <a:srgbClr val="233342"/>
                </a:solidFill>
                <a:latin typeface="Arial"/>
                <a:ea typeface="Arial"/>
                <a:cs typeface="Arial"/>
              </a:rPr>
              <a:t>raining data-efficient and cognitively plausible language models for Chinese language. Specifically, we ask, </a:t>
            </a:r>
            <a:r>
              <a:rPr sz="1200" b="1">
                <a:solidFill>
                  <a:srgbClr val="20242A"/>
                </a:solidFill>
                <a:latin typeface="Arial"/>
                <a:ea typeface="Arial"/>
                <a:cs typeface="Arial"/>
              </a:rPr>
              <a:t>How well can models learn Chinese with no more than 102M words?</a:t>
            </a:r>
            <a:endParaRPr sz="1200">
              <a:solidFill>
                <a:srgbClr val="233342"/>
              </a:solidFill>
              <a:latin typeface="Arial"/>
              <a:ea typeface="Arial"/>
              <a:cs typeface="Arial"/>
            </a:endParaRPr>
          </a:p>
          <a:p xmlns:a="http://schemas.openxmlformats.org/drawingml/2006/main">
            <a:pPr marL="0" marR="0" lvl="0" indent="0" algn="l" defTabSz="914400">
              <a:lnSpc>
                <a:spcPct val="100000"/>
              </a:lnSpc>
              <a:spcBef>
                <a:spcPts val="0"/>
              </a:spcBef>
              <a:spcAft>
                <a:spcPts val="0"/>
              </a:spcAft>
              <a:buClrTx/>
              <a:buSzTx/>
              <a:buFontTx/>
              <a:buNone/>
            </a:pPr>
            <a:endParaRPr sz="1200">
              <a:solidFill>
                <a:srgbClr val="233342"/>
              </a:solidFill>
              <a:latin typeface="Arial"/>
              <a:ea typeface="Arial"/>
              <a:cs typeface="Arial"/>
            </a:endParaRPr>
          </a:p>
          <a:p xmlns:a="http://schemas.openxmlformats.org/drawingml/2006/main">
            <a:pPr marL="0" marR="0" lvl="0" indent="0" algn="l" defTabSz="914400">
              <a:lnSpc>
                <a:spcPct val="100000"/>
              </a:lnSpc>
              <a:spcBef>
                <a:spcPts val="0"/>
              </a:spcBef>
              <a:spcAft>
                <a:spcPts val="0"/>
              </a:spcAft>
              <a:buClrTx/>
              <a:buSzTx/>
              <a:buFontTx/>
              <a:buNone/>
            </a:pPr>
            <a:r>
              <a:rPr sz="1200">
                <a:solidFill>
                  <a:srgbClr val="233342"/>
                </a:solidFill>
                <a:latin typeface="Arial"/>
                <a:ea typeface="Arial"/>
                <a:cs typeface="Arial"/>
              </a:rPr>
              <a:t>The shared task is inspired by </a:t>
            </a:r>
            <a:r>
              <a:rPr sz="1200">
                <a:solidFill>
                  <a:srgbClr val="233342"/>
                </a:solidFill>
                <a:latin typeface="Arial"/>
                <a:ea typeface="Arial"/>
                <a:cs typeface="Arial"/>
              </a:rPr>
              <a:t>BabyLM</a:t>
            </a:r>
            <a:r>
              <a:rPr sz="1200">
                <a:solidFill>
                  <a:srgbClr val="233342"/>
                </a:solidFill>
                <a:latin typeface="Arial"/>
                <a:ea typeface="Arial"/>
                <a:cs typeface="Arial"/>
              </a:rPr>
              <a:t> challenge. </a:t>
            </a:r>
            <a:r>
              <a:t>BabyLM</a:t>
            </a:r>
            <a:r>
              <a:t> studies sample-efficient pretraining under data budgets inspired by human language acquisition, but previous shared tasks focused mainly on English. </a:t>
            </a:r>
            <a:endParaRPr/>
          </a:p>
          <a:p xmlns:a="http://schemas.openxmlformats.org/drawingml/2006/main">
            <a:endParaRPr/>
          </a:p>
          <a:p xmlns:a="http://schemas.openxmlformats.org/drawingml/2006/main">
            <a:r>
              <a:t>Chinese language has some specific linguistic feature, making it differ from English. For example, it lacks explicit word boundaries, makes extensive use of compounding, permits flexible syntactic configurations, and uses a logographic writing system in which characters carry visual, structural, and phonological regularities.</a:t>
            </a:r>
          </a:p>
          <a:p xmlns:a="http://schemas.openxmlformats.org/drawingml/2006/main">
            <a:endParaRPr/>
          </a:p>
          <a:p xmlns:a="http://schemas.openxmlformats.org/drawingml/2006/main">
            <a:r>
              <a:t>To address these language-specific challenges, we organized the first </a:t>
            </a:r>
            <a:r>
              <a:t>ChineseBabyLM</a:t>
            </a:r>
            <a:r>
              <a:t> challenge, a shared task with controlled training data and evaluation across multiple tracks.</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The challenge </a:t>
            </a:r>
            <a:r>
              <a:t>evaluates models along three complementary tracks. </a:t>
            </a:r>
            <a:endParaRP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a:t>
            </a:r>
            <a:r>
              <a:t>he </a:t>
            </a:r>
            <a:r>
              <a:rPr b="1"/>
              <a:t>NLU track</a:t>
            </a:r>
            <a:r>
              <a:t> measures Chinese syntactic and semantic understanding.</a:t>
            </a:r>
            <a:endParaRPr/>
          </a:p>
          <a:p xmlns:a="http://schemas.openxmlformats.org/drawingml/2006/main">
            <a:pPr marL="0" marR="0" lvl="0" indent="0" algn="l" defTabSz="914400">
              <a:lnSpc>
                <a:spcPct val="100000"/>
              </a:lnSpc>
              <a:spcBef>
                <a:spcPts val="0"/>
              </a:spcBef>
              <a:spcAft>
                <a:spcPts val="0"/>
              </a:spcAft>
              <a:buClrTx/>
              <a:buSzTx/>
              <a:buFontTx/>
              <a:buNone/>
            </a:pPr>
            <a:endParaRPr b="1"/>
          </a:p>
          <a:p xmlns:a="http://schemas.openxmlformats.org/drawingml/2006/main">
            <a:pPr marL="0" marR="0" lvl="0" indent="0" algn="l" defTabSz="914400">
              <a:lnSpc>
                <a:spcPct val="100000"/>
              </a:lnSpc>
              <a:spcBef>
                <a:spcPts val="0"/>
              </a:spcBef>
              <a:spcAft>
                <a:spcPts val="0"/>
              </a:spcAft>
              <a:buClrTx/>
              <a:buSzTx/>
              <a:buFontTx/>
              <a:buNone/>
            </a:pPr>
            <a:r>
              <a:rPr b="1"/>
              <a:t>The </a:t>
            </a:r>
            <a:r>
              <a:rPr b="1"/>
              <a:t>Cognitive Modeling track</a:t>
            </a:r>
            <a:r>
              <a:t> asks whether model representations resemble human language representations in the brain. </a:t>
            </a:r>
            <a:endParaRP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a:t>
            </a:r>
            <a:r>
              <a:t>he </a:t>
            </a:r>
            <a:r>
              <a:rPr b="1"/>
              <a:t>Hanzi track</a:t>
            </a:r>
            <a:r>
              <a:t> focuses on knowledge specific to the Chinese writing system. </a:t>
            </a:r>
            <a:endParaRP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The challenge consists of open development tasks released during development, and hidden tasks released after the model submission deadline. The submitted models will be evaluated on both open and hidden tasks.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The </a:t>
            </a:r>
            <a:r>
              <a:rPr b="1"/>
              <a:t>NLU track</a:t>
            </a:r>
            <a:r>
              <a:t> consists of zero-shot tasks and supervised fine-tuning tasks.</a:t>
            </a: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The open zero-shot tasks is </a:t>
            </a:r>
            <a:r>
              <a:rPr b="1"/>
              <a:t>ZhoBLiMP</a:t>
            </a:r>
            <a:r>
              <a:t>, which contains 35,400 minimal pairs from 118 linguistic paradigms, and the hidden zero-shot task is </a:t>
            </a:r>
            <a:r>
              <a:rPr b="1"/>
              <a:t>XCOMPS-ZH</a:t>
            </a:r>
            <a:r>
              <a:t>, which contains 14,368 pairs testing concept-property compatibility. </a:t>
            </a: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The open fine-tuning tasks include </a:t>
            </a:r>
            <a:r>
              <a:rPr b="1"/>
              <a:t>AFQMC</a:t>
            </a:r>
            <a:r>
              <a:t> for semantic matching, </a:t>
            </a:r>
            <a:r>
              <a:rPr b="1"/>
              <a:t>OCNLI</a:t>
            </a:r>
            <a:r>
              <a:t> for natural language inference, </a:t>
            </a:r>
            <a:r>
              <a:rPr b="1"/>
              <a:t>TNEWS</a:t>
            </a:r>
            <a:r>
              <a:t> for news classification, and </a:t>
            </a:r>
            <a:r>
              <a:rPr b="1"/>
              <a:t>CLUEWSC2020</a:t>
            </a:r>
            <a:r>
              <a:t> for coreference resolution. </a:t>
            </a: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The hidden fine-tuning tasks are </a:t>
            </a:r>
            <a:r>
              <a:rPr b="1"/>
              <a:t>C3</a:t>
            </a:r>
            <a:r>
              <a:t>, a multiple-choice reading-comprehension benchmark, and </a:t>
            </a:r>
            <a:r>
              <a:rPr b="1"/>
              <a:t>Diagnostic NLI</a:t>
            </a:r>
            <a:r>
              <a:t>.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The Cognitive Modeling track contains two Chinese fMRI tasks from </a:t>
            </a:r>
            <a:r>
              <a:t>MulCogBench</a:t>
            </a:r>
            <a:r>
              <a:t>. </a:t>
            </a: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For both tasks, we </a:t>
            </a:r>
            <a:r>
              <a:rPr sz="1200" b="0">
                <a:solidFill>
                  <a:srgbClr val="20242A"/>
                </a:solidFill>
                <a:latin typeface="Arial"/>
                <a:ea typeface="Arial"/>
                <a:cs typeface="Arial"/>
              </a:rPr>
              <a:t>fit a ridge-regression from model representations to fMRI responses to evaluate the correlation between model representation and brain signal.</a:t>
            </a: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The word-level task uses brain responses from 11 participants reading 672 isolated words, while the discourse-level task uses data from 12 participants listening to 60 stories containing more than 52,000 words. </a:t>
            </a:r>
          </a:p>
          <a:p xmlns:a="http://schemas.openxmlformats.org/drawingml/2006/main">
            <a:pPr marL="0" marR="0" lvl="0" indent="0" algn="l" defTabSz="914400">
              <a:lnSpc>
                <a:spcPct val="100000"/>
              </a:lnSpc>
              <a:spcBef>
                <a:spcPts val="0"/>
              </a:spcBef>
              <a:spcAft>
                <a:spcPts val="0"/>
              </a:spcAft>
              <a:buClrTx/>
              <a:buSzTx/>
              <a:buFontTx/>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Hanzi track contains zero-shot minimal-pair tasks for character structure and pinyin knowledge. </a:t>
            </a:r>
          </a:p>
          <a:p xmlns:a="http://schemas.openxmlformats.org/drawingml/2006/main">
            <a:endParaRPr/>
          </a:p>
          <a:p xmlns:a="http://schemas.openxmlformats.org/drawingml/2006/main">
            <a:pPr>
              <a:lnSpc>
                <a:spcPct val="150000"/>
              </a:lnSpc>
              <a:buNone/>
              <a:defRPr sz="1200" b="1">
                <a:solidFill>
                  <a:srgbClr val="233342"/>
                </a:solidFill>
                <a:latin typeface="Arial"/>
                <a:ea typeface="Arial"/>
                <a:cs typeface="Arial"/>
              </a:defRPr>
            </a:pPr>
            <a:r>
              <a:t>The structure task tests knowledge about </a:t>
            </a:r>
            <a:r>
              <a:rPr sz="1200" b="0"/>
              <a:t>Chinese character and its components, while the pinyin task is pronunciation knowledge of Chinese characters.</a:t>
            </a:r>
          </a:p>
          <a:p xmlns:a="http://schemas.openxmlformats.org/drawingml/2006/main">
            <a:endParaRPr/>
          </a:p>
          <a:p xmlns:a="http://schemas.openxmlformats.org/drawingml/2006/main">
            <a:pPr marL="0" marR="0" lvl="0" indent="0" algn="l" defTabSz="914400">
              <a:lnSpc>
                <a:spcPct val="100000"/>
              </a:lnSpc>
              <a:spcBef>
                <a:spcPts val="0"/>
              </a:spcBef>
              <a:spcAft>
                <a:spcPts val="0"/>
              </a:spcAft>
              <a:buClrTx/>
              <a:buSzTx/>
              <a:buFontTx/>
              <a:buNone/>
            </a:pPr>
            <a:r>
              <a:t>Each task contains 4,000 minimal pairs. Half of them is open, while another half is hidden.</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rules for model training is pretty simple. We have two main constraints: first, the model should be trained from scratch. Second, there are two options for the training data. The option 1 is, the participant can use the official 102M word training corpus, which is sampled from </a:t>
            </a:r>
            <a:r>
              <a:rPr sz="1200">
                <a:solidFill>
                  <a:srgbClr val="686E75"/>
                </a:solidFill>
                <a:latin typeface="Arial"/>
                <a:ea typeface="Arial"/>
                <a:cs typeface="Arial"/>
              </a:rPr>
              <a:t>BabyBabelLM</a:t>
            </a:r>
            <a:r>
              <a:rPr sz="1200">
                <a:solidFill>
                  <a:srgbClr val="686E75"/>
                </a:solidFill>
                <a:latin typeface="Arial"/>
                <a:ea typeface="Arial"/>
                <a:cs typeface="Arial"/>
              </a:rPr>
              <a:t>. Or the participants could also choose option 2, using a self-compiled corpus with not more than 102M words.</a:t>
            </a:r>
          </a:p>
          <a:p xmlns:a="http://schemas.openxmlformats.org/drawingml/2006/main">
            <a:endParaRPr sz="1200">
              <a:solidFill>
                <a:srgbClr val="686E75"/>
              </a:solidFill>
              <a:latin typeface="Arial"/>
              <a:ea typeface="Arial"/>
              <a:cs typeface="Arial"/>
            </a:endParaRPr>
          </a:p>
          <a:p xmlns:a="http://schemas.openxmlformats.org/drawingml/2006/main">
            <a:r>
              <a:rPr sz="1200">
                <a:solidFill>
                  <a:srgbClr val="686E75"/>
                </a:solidFill>
                <a:latin typeface="Arial"/>
                <a:ea typeface="Arial"/>
                <a:cs typeface="Arial"/>
              </a:rPr>
              <a:t>The other designs of the model, for example, tokenizer, architecture, model scale, and training strategy, are very flexible.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received 28 models</a:t>
            </a:r>
            <a:r>
              <a:t> </a:t>
            </a:r>
            <a:r>
              <a:t>subimissions</a:t>
            </a:r>
            <a:r>
              <a:t> from </a:t>
            </a:r>
            <a:r>
              <a:t>18 teams. </a:t>
            </a:r>
            <a:endParaRPr/>
          </a:p>
          <a:p xmlns:a="http://schemas.openxmlformats.org/drawingml/2006/main">
            <a:endParaRPr/>
          </a:p>
          <a:p xmlns:a="http://schemas.openxmlformats.org/drawingml/2006/main">
            <a:r>
              <a:t>Among </a:t>
            </a:r>
            <a:r>
              <a:t>teams</a:t>
            </a:r>
            <a:r>
              <a:t>, </a:t>
            </a:r>
            <a:r>
              <a:t>BabyDragon</a:t>
            </a:r>
            <a:r>
              <a:t> </a:t>
            </a:r>
            <a:r>
              <a:t>from University of Chinese Academy of Sciences </a:t>
            </a:r>
            <a:r>
              <a:t>ranked first overall with 61.49</a:t>
            </a:r>
            <a:r>
              <a:t>. </a:t>
            </a:r>
          </a:p>
          <a:p xmlns:a="http://schemas.openxmlformats.org/drawingml/2006/main">
            <a:pPr marL="0" marR="0" lvl="0" indent="0" algn="l" defTabSz="914400">
              <a:lnSpc>
                <a:spcPct val="100000"/>
              </a:lnSpc>
              <a:spcBef>
                <a:spcPts val="0"/>
              </a:spcBef>
              <a:spcAft>
                <a:spcPts val="0"/>
              </a:spcAft>
              <a:buClrTx/>
              <a:buSzTx/>
              <a:buFontTx/>
              <a:buNone/>
            </a:pPr>
            <a:r>
              <a:rPr sz="1200" b="0">
                <a:solidFill>
                  <a:srgbClr val="20242A"/>
                </a:solidFill>
                <a:latin typeface="Arial"/>
                <a:ea typeface="Arial"/>
                <a:cs typeface="Arial"/>
              </a:rPr>
              <a:t>OK</a:t>
            </a:r>
            <a:r>
              <a:rPr sz="1200" b="0">
                <a:solidFill>
                  <a:srgbClr val="20242A"/>
                </a:solidFill>
                <a:latin typeface="Arial"/>
                <a:ea typeface="Arial"/>
                <a:cs typeface="Arial"/>
              </a:rPr>
              <a:t>的老大 </a:t>
            </a:r>
            <a:r>
              <a:rPr sz="1200" b="0">
                <a:solidFill>
                  <a:srgbClr val="20242A"/>
                </a:solidFill>
                <a:latin typeface="Arial"/>
                <a:ea typeface="Arial"/>
                <a:cs typeface="Arial"/>
              </a:rPr>
              <a:t>from Fudan University ranked second with 57.79.</a:t>
            </a:r>
          </a:p>
          <a:p xmlns:a="http://schemas.openxmlformats.org/drawingml/2006/main">
            <a:pPr marL="0" marR="0" lvl="0" indent="0" algn="l" defTabSz="914400">
              <a:lnSpc>
                <a:spcPct val="100000"/>
              </a:lnSpc>
              <a:spcBef>
                <a:spcPts val="0"/>
              </a:spcBef>
              <a:spcAft>
                <a:spcPts val="0"/>
              </a:spcAft>
              <a:buClrTx/>
              <a:buSzTx/>
              <a:buFontTx/>
              <a:buNone/>
            </a:pPr>
            <a:r>
              <a:rPr sz="1200" b="0">
                <a:solidFill>
                  <a:srgbClr val="20242A"/>
                </a:solidFill>
                <a:latin typeface="Arial"/>
                <a:ea typeface="Arial"/>
                <a:cs typeface="Arial"/>
              </a:rPr>
              <a:t>TUM Campus Heilbronn ranked third with 54.90.</a:t>
            </a:r>
            <a:endParaRPr sz="1200" b="0">
              <a:solidFill>
                <a:srgbClr val="20242A"/>
              </a:solidFill>
              <a:latin typeface="Arial"/>
              <a:ea typeface="Arial"/>
              <a:cs typeface="Arial"/>
            </a:endParaRPr>
          </a:p>
          <a:p xmlns:a="http://schemas.openxmlformats.org/drawingml/2006/main">
            <a:endParaRPr/>
          </a:p>
          <a:p xmlns:a="http://schemas.openxmlformats.org/drawingml/2006/main">
            <a:r>
              <a:t>For track winners, YNU-HPCC is the winner of NLU track with 60.99.</a:t>
            </a:r>
          </a:p>
          <a:p xmlns:a="http://schemas.openxmlformats.org/drawingml/2006/main">
            <a:pPr marL="0" marR="0" lvl="0" indent="0" algn="l" defTabSz="914400">
              <a:lnSpc>
                <a:spcPct val="100000"/>
              </a:lnSpc>
              <a:spcBef>
                <a:spcPts val="0"/>
              </a:spcBef>
              <a:spcAft>
                <a:spcPts val="0"/>
              </a:spcAft>
              <a:buClrTx/>
              <a:buSzTx/>
              <a:buFontTx/>
              <a:buNone/>
            </a:pPr>
            <a:r>
              <a:rPr sz="1200"/>
              <a:t>Deepscientist</a:t>
            </a:r>
            <a:r>
              <a:t> is the winner of cognitive modeling track with 33.96.</a:t>
            </a:r>
          </a:p>
          <a:p xmlns:a="http://schemas.openxmlformats.org/drawingml/2006/main">
            <a:pPr marL="0" marR="0" lvl="0" indent="0" algn="l" defTabSz="914400">
              <a:lnSpc>
                <a:spcPct val="100000"/>
              </a:lnSpc>
              <a:spcBef>
                <a:spcPts val="0"/>
              </a:spcBef>
              <a:spcAft>
                <a:spcPts val="0"/>
              </a:spcAft>
              <a:buClrTx/>
              <a:buSzTx/>
              <a:buFontTx/>
              <a:buNone/>
            </a:pPr>
            <a:r>
              <a:t>BabyDragon</a:t>
            </a:r>
            <a:r>
              <a:t> </a:t>
            </a:r>
            <a:r>
              <a:t>is the winner </a:t>
            </a:r>
            <a:r>
              <a:t>of HANZI </a:t>
            </a:r>
            <a:r>
              <a:t>track with 91.56.</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Finally, let me share a few statistics from the submitted systems. Eighteen teams appeared on the final leaderboard, although the organizers received twenty-eight distinct models in total. Encoder-only systems accounted for thirteen of the eighteen ranked submissions, while five were decoder-only. Among the fourteen systems that reported parameter counts, six fell between one hundred and one hundred fifty million parameters, while the full range extended from 12.8 million to 847 million. I also calculated the population variance across systems with valid results in each track, excluding zeros caused by missing submissions. Hanzi had by far the largest variance at 390.24 points squared. NLU was 19.81, while Cognitive Modeling was only 0.95. This confirms that Hanzi separated systems much more strongly, while Cognitive Modeling scores were tightly compressed.</a:t>
            </a:r>
          </a:p>
          <a:p xmlns:a="http://schemas.openxmlformats.org/drawingml/2006/main">
            <a:r>
              <a:t/>
            </a:r>
            <a:endParaRPr/>
          </a:p>
          <a:p xmlns:a="http://schemas.openxmlformats.org/drawingml/2006/main">
            <a:r>
              <a:t>Sources</a:t>
            </a:r>
          </a:p>
          <a:p xmlns:a="http://schemas.openxmlformats.org/drawingml/2006/main">
            <a:r>
              <a:t>Song et al. (2026), Sections 5.2 and 6.2: https://arxiv.org/abs/2607.10745</a:t>
            </a:r>
          </a:p>
          <a:p xmlns:a="http://schemas.openxmlformats.org/drawingml/2006/main">
            <a:r>
              <a:t>ChineseBabyLM final leaderboard: https://chinese-babylm.github.io/index.html#results</a:t>
            </a:r>
          </a:p>
          <a:p xmlns:a="http://schemas.openxmlformats.org/drawingml/2006/main">
            <a:r>
              <a:t>Variance calculation: population variance across valid track submissions; missing-track zeros excluded.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points to two main directions for future work. On modeling, we need systematic ablations to separate the effects of knowledge injection, tokenization, pinyin-aware objectives, curriculum schedules, phonetic recoding, and representation fusion. We should also explore tokenizers and training objectives that represent Chinese form and sound without relying so heavily on injected facts. On evaluation, future editions should keep high-discrimination tasks such as ZhoBLiMP, NLI, and Hanzi, while revising compressed tasks such as word fMRI, AFQMC, and CLUEWSC. The benchmark can also add segmentation, morphology, discourse, reading-time, and acquisition measures. The long-term goal is one limited-data model that captures Chinese-specific structure and performs well across all three tracks.</a:t>
            </a:r>
          </a:p>
          <a:p xmlns:a="http://schemas.openxmlformats.org/drawingml/2006/main">
            <a:r>
              <a:t/>
            </a:r>
          </a:p>
          <a:p xmlns:a="http://schemas.openxmlformats.org/drawingml/2006/main">
            <a:r>
              <a:t>Source</a:t>
            </a:r>
          </a:p>
          <a:p xmlns:a="http://schemas.openxmlformats.org/drawingml/2006/main">
            <a:r>
              <a:t>Song et al. (2026), Sections 6.1–6.3 and 7: https://arxiv.org/abs/2607.10745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d6b601463b4b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2f380295fa4e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0e69ffd885742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3952498b0d42b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92ef9ee47a747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621bf4b6754f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57771F-8C71-4BA2-89DE-3FE42239F5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8F27FAA1-1439-4DBF-BCC4-03C086EB1F2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6728481-9F14-4219-8927-24C7AFD1FB7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564182-C916-4859-8E3C-F4F4289ACB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BDD1E5D5-DBC2-43FB-A7D4-0BBDD6F8730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E5991F1-C8DB-43CE-ACA7-0EFD7F9122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7A03EEC6-3121-4BF5-A5B3-3BC245388D0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4889E7F5-4CE8-4B95-A31B-7480A3A248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4F8247-01A9-44AA-B7A5-98F3351980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9C2E1BB-D82C-430C-919F-A56114A70B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ea6fb0827144fc" /><Relationship Type="http://schemas.openxmlformats.org/officeDocument/2006/relationships/slideLayout" Target="/ppt/slideLayouts/slideLayout1.xml" Id="Re7d063517c264356" /><Relationship Type="http://schemas.openxmlformats.org/officeDocument/2006/relationships/slideLayout" Target="/ppt/slideLayouts/slideLayout2.xml" Id="R1161e9c5185b4d98" /><Relationship Type="http://schemas.openxmlformats.org/officeDocument/2006/relationships/slideLayout" Target="/ppt/slideLayouts/slideLayout3.xml" Id="R7d80568a60fe4ac7" /><Relationship Type="http://schemas.openxmlformats.org/officeDocument/2006/relationships/slideLayout" Target="/ppt/slideLayouts/slideLayout4.xml" Id="R41b4c1205dd34d9c" /><Relationship Type="http://schemas.openxmlformats.org/officeDocument/2006/relationships/slideLayout" Target="/ppt/slideLayouts/slideLayout5.xml" Id="R07491fe3f1b64be3" /><Relationship Type="http://schemas.openxmlformats.org/officeDocument/2006/relationships/slideLayout" Target="/ppt/slideLayouts/slideLayout6.xml" Id="R6b2a5fe7d70547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d063517c264356"/>
    <p:sldLayoutId xmlns:r="http://schemas.openxmlformats.org/officeDocument/2006/relationships" id="2147483650" r:id="R1161e9c5185b4d98"/>
    <p:sldLayoutId xmlns:r="http://schemas.openxmlformats.org/officeDocument/2006/relationships" id="2147483651" r:id="R7d80568a60fe4ac7"/>
    <p:sldLayoutId xmlns:r="http://schemas.openxmlformats.org/officeDocument/2006/relationships" id="2147483652" r:id="R41b4c1205dd34d9c"/>
    <p:sldLayoutId xmlns:r="http://schemas.openxmlformats.org/officeDocument/2006/relationships" id="2147483653" r:id="R07491fe3f1b64be3"/>
    <p:sldLayoutId xmlns:r="http://schemas.openxmlformats.org/officeDocument/2006/relationships" id="2147483654" r:id="R6b2a5fe7d70547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fda6ec878144e3f" /><Relationship Type="http://schemas.openxmlformats.org/officeDocument/2006/relationships/notesSlide" Target="/ppt/notesSlides/notesSlide1.xml" Id="Rc96adcb3ece247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4fa95889154482e" /><Relationship Type="http://schemas.openxmlformats.org/officeDocument/2006/relationships/notesSlide" Target="/ppt/notesSlides/notesSlide2.xml" Id="R5457c8948cd147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253b58d9b6749b5" /><Relationship Type="http://schemas.openxmlformats.org/officeDocument/2006/relationships/notesSlide" Target="/ppt/notesSlides/notesSlide3.xml" Id="R40f81498d19d4b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1122be106964f9a" /><Relationship Type="http://schemas.openxmlformats.org/officeDocument/2006/relationships/notesSlide" Target="/ppt/notesSlides/notesSlide4.xml" Id="R05b24f3296a040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5055e83dfdc48cd" /><Relationship Type="http://schemas.openxmlformats.org/officeDocument/2006/relationships/notesSlide" Target="/ppt/notesSlides/notesSlide5.xml" Id="Rc77fe7d90ea24f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07ee5c8df614e44" /><Relationship Type="http://schemas.openxmlformats.org/officeDocument/2006/relationships/notesSlide" Target="/ppt/notesSlides/notesSlide6.xml" Id="R992a207f89244c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f797261a2de4620" /><Relationship Type="http://schemas.openxmlformats.org/officeDocument/2006/relationships/notesSlide" Target="/ppt/notesSlides/notesSlide7.xml" Id="R13ab7aeb87904f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38a75e58f254649" /><Relationship Type="http://schemas.openxmlformats.org/officeDocument/2006/relationships/notesSlide" Target="/ppt/notesSlides/notesSlide8.xml" Id="Recc857619b4f48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cd4e05fe6cc4c88" /><Relationship Type="http://schemas.openxmlformats.org/officeDocument/2006/relationships/chart" Target="/ppt/slides/charts/chart1.xml" Id="Rcd9e086b2ed64182" /><Relationship Type="http://schemas.openxmlformats.org/officeDocument/2006/relationships/chart" Target="/ppt/slides/charts/chart2.xml" Id="Rf5c4c4bf48b74a22" /><Relationship Type="http://schemas.openxmlformats.org/officeDocument/2006/relationships/chart" Target="/ppt/slides/charts/chart3.xml" Id="Re7bcf423a2364775" /><Relationship Type="http://schemas.openxmlformats.org/officeDocument/2006/relationships/notesSlide" Target="/ppt/notesSlides/notesSlide9.xml" Id="R985ade8b4eb341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24ab19397a4409a" /><Relationship Type="http://schemas.openxmlformats.org/officeDocument/2006/relationships/notesSlide" Target="/ppt/notesSlides/notesSlide10.xml" Id="Re50eb3a579e0492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Ranked systems</c:v>
          </c:tx>
          <c:spPr>
            <a:solidFill xmlns:a="http://schemas.openxmlformats.org/drawingml/2006/main">
              <a:srgbClr val="9E1B32"/>
            </a:solidFill>
          </c:spPr>
          <c:invertIfNegative val="0"/>
          <c:dPt>
            <c:idx val="0"/>
            <c:invertIfNegative val="0"/>
            <c:spPr>
              <a:solidFill xmlns:a="http://schemas.openxmlformats.org/drawingml/2006/main">
                <a:srgbClr val="9E1B32"/>
              </a:solidFill>
            </c:spPr>
          </c:dPt>
          <c:dPt>
            <c:idx val="1"/>
            <c:invertIfNegative val="0"/>
            <c:spPr>
              <a:solidFill xmlns:a="http://schemas.openxmlformats.org/drawingml/2006/main">
                <a:srgbClr val="C49A2C"/>
              </a:solidFill>
            </c:spPr>
          </c:dPt>
          <c:cat>
            <c:strRef>
              <c:f>'Chart Data'!$A$2:$A$3</c:f>
              <c:strCache>
                <c:ptCount val="2"/>
                <c:pt idx="0">
                  <c:v>Encoder-only</c:v>
                </c:pt>
                <c:pt idx="1">
                  <c:v>Decoder-only</c:v>
                </c:pt>
              </c:strCache>
            </c:strRef>
          </c:cat>
          <c:val>
            <c:numRef>
              <c:f>'Chart Data'!$B$2:$B$3</c:f>
              <c:numCache>
                <c:formatCode>General</c:formatCode>
                <c:ptCount val="2"/>
                <c:pt idx="0">
                  <c:v>13</c:v>
                </c:pt>
                <c:pt idx="1">
                  <c:v>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25" b="1">
                  <a:solidFill>
                    <a:srgbClr val="20242A"/>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9D7D2"/>
            </a:solidFill>
            <a:prstDash val="solid"/>
          </a:ln>
        </c:spPr>
        <c:txPr>
          <a:bodyPr xmlns:a="http://schemas.openxmlformats.org/drawingml/2006/main" anchorCtr="1"/>
          <a:lstStyle xmlns:a="http://schemas.openxmlformats.org/drawingml/2006/main"/>
          <a:p xmlns:a="http://schemas.openxmlformats.org/drawingml/2006/main">
            <a:pPr>
              <a:defRPr sz="975">
                <a:solidFill>
                  <a:srgbClr val="20242A"/>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D7D2"/>
            </a:solidFill>
            <a:prstDash val="solid"/>
          </a:ln>
        </c:spPr>
        <c:txPr>
          <a:bodyPr xmlns:a="http://schemas.openxmlformats.org/drawingml/2006/main" anchorCtr="1"/>
          <a:lstStyle xmlns:a="http://schemas.openxmlformats.org/drawingml/2006/main"/>
          <a:p xmlns:a="http://schemas.openxmlformats.org/drawingml/2006/main">
            <a:pPr>
              <a:defRPr sz="1125" b="1">
                <a:solidFill>
                  <a:srgbClr val="686E75"/>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Ranked systems</c:v>
          </c:tx>
          <c:spPr>
            <a:solidFill xmlns:a="http://schemas.openxmlformats.org/drawingml/2006/main">
              <a:srgbClr val="233342"/>
            </a:solidFill>
          </c:spPr>
          <c:invertIfNegative val="0"/>
          <c:dPt>
            <c:idx val="3"/>
            <c:invertIfNegative val="0"/>
            <c:spPr>
              <a:solidFill xmlns:a="http://schemas.openxmlformats.org/drawingml/2006/main">
                <a:srgbClr val="9E1B32"/>
              </a:solidFill>
            </c:spPr>
          </c:dPt>
          <c:dPt>
            <c:idx val="4"/>
            <c:invertIfNegative val="0"/>
            <c:spPr>
              <a:solidFill xmlns:a="http://schemas.openxmlformats.org/drawingml/2006/main">
                <a:srgbClr val="C49A2C"/>
              </a:solidFill>
            </c:spPr>
          </c:dPt>
          <c:cat>
            <c:strRef>
              <c:f>'Chart Data'!$A$2:$A$6</c:f>
              <c:strCache>
                <c:ptCount val="5"/>
                <c:pt idx="0">
                  <c:v>&lt;20M</c:v>
                </c:pt>
                <c:pt idx="1">
                  <c:v>20–50M</c:v>
                </c:pt>
                <c:pt idx="2">
                  <c:v>50–100M</c:v>
                </c:pt>
                <c:pt idx="3">
                  <c:v>100–150M</c:v>
                </c:pt>
                <c:pt idx="4">
                  <c:v>&gt;150M</c:v>
                </c:pt>
              </c:strCache>
            </c:strRef>
          </c:cat>
          <c:val>
            <c:numRef>
              <c:f>'Chart Data'!$B$2:$B$6</c:f>
              <c:numCache>
                <c:formatCode>General</c:formatCode>
                <c:ptCount val="5"/>
                <c:pt idx="0">
                  <c:v>3</c:v>
                </c:pt>
                <c:pt idx="1">
                  <c:v>2</c:v>
                </c:pt>
                <c:pt idx="2">
                  <c:v>2</c:v>
                </c:pt>
                <c:pt idx="3">
                  <c:v>6</c:v>
                </c:pt>
                <c:pt idx="4">
                  <c:v>1</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20242A"/>
                  </a:solidFill>
                  <a:latin typeface="Arial"/>
                  <a:ea typeface="Arial"/>
                  <a:cs typeface="Aria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9D7D2"/>
            </a:solidFill>
            <a:prstDash val="solid"/>
          </a:ln>
        </c:spPr>
        <c:txPr>
          <a:bodyPr xmlns:a="http://schemas.openxmlformats.org/drawingml/2006/main" anchorCtr="1"/>
          <a:lstStyle xmlns:a="http://schemas.openxmlformats.org/drawingml/2006/main"/>
          <a:p xmlns:a="http://schemas.openxmlformats.org/drawingml/2006/main">
            <a:pPr>
              <a:defRPr sz="900">
                <a:solidFill>
                  <a:srgbClr val="20242A"/>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D7D2"/>
            </a:solidFill>
            <a:prstDash val="solid"/>
          </a:ln>
        </c:spPr>
        <c:txPr>
          <a:bodyPr xmlns:a="http://schemas.openxmlformats.org/drawingml/2006/main" anchorCtr="1"/>
          <a:lstStyle xmlns:a="http://schemas.openxmlformats.org/drawingml/2006/main"/>
          <a:p xmlns:a="http://schemas.openxmlformats.org/drawingml/2006/main">
            <a:pPr>
              <a:defRPr sz="900">
                <a:solidFill>
                  <a:srgbClr val="686E75"/>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Population variance</c:v>
          </c:tx>
          <c:spPr>
            <a:solidFill xmlns:a="http://schemas.openxmlformats.org/drawingml/2006/main">
              <a:srgbClr val="9E1B32"/>
            </a:solidFill>
          </c:spPr>
          <c:invertIfNegative val="0"/>
          <c:dPt>
            <c:idx val="0"/>
            <c:invertIfNegative val="0"/>
            <c:spPr>
              <a:solidFill xmlns:a="http://schemas.openxmlformats.org/drawingml/2006/main">
                <a:srgbClr val="233342"/>
              </a:solidFill>
            </c:spPr>
          </c:dPt>
          <c:dPt>
            <c:idx val="1"/>
            <c:invertIfNegative val="0"/>
            <c:spPr>
              <a:solidFill xmlns:a="http://schemas.openxmlformats.org/drawingml/2006/main">
                <a:srgbClr val="C49A2C"/>
              </a:solidFill>
            </c:spPr>
          </c:dPt>
          <c:dPt>
            <c:idx val="2"/>
            <c:invertIfNegative val="0"/>
            <c:spPr>
              <a:solidFill xmlns:a="http://schemas.openxmlformats.org/drawingml/2006/main">
                <a:srgbClr val="9E1B32"/>
              </a:solidFill>
            </c:spPr>
          </c:dPt>
          <c:cat>
            <c:strRef>
              <c:f>'Chart Data'!$A$2:$A$4</c:f>
              <c:strCache>
                <c:ptCount val="3"/>
                <c:pt idx="0">
                  <c:v>NLU</c:v>
                </c:pt>
                <c:pt idx="1">
                  <c:v>Cognitive</c:v>
                </c:pt>
                <c:pt idx="2">
                  <c:v>Hanzi</c:v>
                </c:pt>
              </c:strCache>
            </c:strRef>
          </c:cat>
          <c:val>
            <c:numRef>
              <c:f>'Chart Data'!$B$2:$B$4</c:f>
              <c:numCache>
                <c:formatCode>General</c:formatCode>
                <c:ptCount val="3"/>
                <c:pt idx="0">
                  <c:v>19.81</c:v>
                </c:pt>
                <c:pt idx="1">
                  <c:v>0.95</c:v>
                </c:pt>
                <c:pt idx="2">
                  <c:v>390.24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125" b="1">
                  <a:solidFill>
                    <a:srgbClr val="20242A"/>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9D7D2"/>
            </a:solidFill>
            <a:prstDash val="solid"/>
          </a:ln>
        </c:spPr>
        <c:txPr>
          <a:bodyPr xmlns:a="http://schemas.openxmlformats.org/drawingml/2006/main" anchorCtr="1"/>
          <a:lstStyle xmlns:a="http://schemas.openxmlformats.org/drawingml/2006/main"/>
          <a:p xmlns:a="http://schemas.openxmlformats.org/drawingml/2006/main">
            <a:pPr>
              <a:defRPr sz="900">
                <a:solidFill>
                  <a:srgbClr val="20242A"/>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125" b="1">
                <a:solidFill>
                  <a:srgbClr val="20242A"/>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ver-accent-field">
            <a:extLst xmlns:a="http://schemas.openxmlformats.org/drawingml/2006/main">
              <a:ext uri="{FF2B5EF4-FFF2-40B4-BE49-F238E27FC236}">
                <a16:creationId xmlns:a16="http://schemas.microsoft.com/office/drawing/2014/main" id="{756E360B-BB51-4DFF-BA76-1435A00AFC45}"/>
              </a:ext>
            </a:extLst>
          </p:cNvPr>
          <p:cNvSpPr>
            <a:spLocks xmlns:a="http://schemas.openxmlformats.org/drawingml/2006/main" noGrp="1"/>
          </p:cNvSpPr>
          <p:nvPr/>
        </p:nvSpPr>
        <p:spPr>
          <a:xfrm xmlns:a="http://schemas.openxmlformats.org/drawingml/2006/main">
            <a:off x="9372600" y="0"/>
            <a:ext cx="2819400" cy="6858000"/>
          </a:xfrm>
          <a:prstGeom xmlns:a="http://schemas.openxmlformats.org/drawingml/2006/main" prst="rect">
            <a:avLst/>
          </a:prstGeom>
          <a:solidFill xmlns:a="http://schemas.openxmlformats.org/drawingml/2006/main">
            <a:srgbClr val="F7ECEF"/>
          </a:solidFill>
          <a:ln xmlns:a="http://schemas.openxmlformats.org/drawingml/2006/main" w="0">
            <a:noFill/>
            <a:prstDash val="solid"/>
          </a:ln>
        </p:spPr>
      </p:sp>
      <p:sp>
        <p:nvSpPr>
          <p:cNvPr id="4" name="cover-gold-rule">
            <a:extLst xmlns:a="http://schemas.openxmlformats.org/drawingml/2006/main">
              <a:ext uri="{FF2B5EF4-FFF2-40B4-BE49-F238E27FC236}">
                <a16:creationId xmlns:a16="http://schemas.microsoft.com/office/drawing/2014/main" id="{7AA1C449-F45C-4C3B-8431-4D46F17308CD}"/>
              </a:ext>
            </a:extLst>
          </p:cNvPr>
          <p:cNvSpPr>
            <a:spLocks xmlns:a="http://schemas.openxmlformats.org/drawingml/2006/main" noGrp="1"/>
          </p:cNvSpPr>
          <p:nvPr/>
        </p:nvSpPr>
        <p:spPr>
          <a:xfrm xmlns:a="http://schemas.openxmlformats.org/drawingml/2006/main">
            <a:off x="723900" y="933450"/>
            <a:ext cx="1104900" cy="47625"/>
          </a:xfrm>
          <a:prstGeom xmlns:a="http://schemas.openxmlformats.org/drawingml/2006/main" prst="rect">
            <a:avLst/>
          </a:prstGeom>
          <a:solidFill xmlns:a="http://schemas.openxmlformats.org/drawingml/2006/main">
            <a:srgbClr val="C49A2C"/>
          </a:solidFill>
          <a:ln xmlns:a="http://schemas.openxmlformats.org/drawingml/2006/main" w="0">
            <a:noFill/>
            <a:prstDash val="solid"/>
          </a:ln>
        </p:spPr>
      </p:sp>
      <p:sp>
        <p:nvSpPr>
          <p:cNvPr id="5" name="cover-title">
            <a:extLst xmlns:a="http://schemas.openxmlformats.org/drawingml/2006/main">
              <a:ext uri="{FF2B5EF4-FFF2-40B4-BE49-F238E27FC236}">
                <a16:creationId xmlns:a16="http://schemas.microsoft.com/office/drawing/2014/main" id="{B80B94A3-4196-4AB9-804D-56AEE29E1887}"/>
              </a:ext>
            </a:extLst>
          </p:cNvPr>
          <p:cNvSpPr>
            <a:spLocks xmlns:a="http://schemas.openxmlformats.org/drawingml/2006/main" noGrp="1"/>
          </p:cNvSpPr>
          <p:nvPr/>
        </p:nvSpPr>
        <p:spPr>
          <a:xfrm xmlns:a="http://schemas.openxmlformats.org/drawingml/2006/main">
            <a:off x="723900" y="1219200"/>
            <a:ext cx="7905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750" b="1">
                <a:solidFill>
                  <a:srgbClr val="20242A"/>
                </a:solidFill>
                <a:latin typeface="Arial"/>
                <a:ea typeface="Arial"/>
                <a:cs typeface="Arial"/>
              </a:defRPr>
            </a:defPPr>
            <a:lvl1pPr>
              <a:buNone/>
              <a:defRPr sz="3750" b="1">
                <a:solidFill>
                  <a:srgbClr val="20242A"/>
                </a:solidFill>
                <a:latin typeface="Arial"/>
                <a:ea typeface="Arial"/>
                <a:cs typeface="Arial"/>
              </a:defRPr>
            </a:lvl1pPr>
            <a:lvl2pPr>
              <a:buNone/>
              <a:defRPr sz="3750" b="1">
                <a:solidFill>
                  <a:srgbClr val="20242A"/>
                </a:solidFill>
                <a:latin typeface="Arial"/>
                <a:ea typeface="Arial"/>
                <a:cs typeface="Arial"/>
              </a:defRPr>
            </a:lvl2pPr>
            <a:lvl3pPr>
              <a:buNone/>
              <a:defRPr sz="3750" b="1">
                <a:solidFill>
                  <a:srgbClr val="20242A"/>
                </a:solidFill>
                <a:latin typeface="Arial"/>
                <a:ea typeface="Arial"/>
                <a:cs typeface="Arial"/>
              </a:defRPr>
            </a:lvl3pPr>
            <a:lvl4pPr>
              <a:buNone/>
              <a:defRPr sz="3750" b="1">
                <a:solidFill>
                  <a:srgbClr val="20242A"/>
                </a:solidFill>
                <a:latin typeface="Arial"/>
                <a:ea typeface="Arial"/>
                <a:cs typeface="Arial"/>
              </a:defRPr>
            </a:lvl4pPr>
            <a:lvl5pPr>
              <a:buNone/>
              <a:defRPr sz="3750" b="1">
                <a:solidFill>
                  <a:srgbClr val="20242A"/>
                </a:solidFill>
                <a:latin typeface="Arial"/>
                <a:ea typeface="Arial"/>
                <a:cs typeface="Arial"/>
              </a:defRPr>
            </a:lvl5pPr>
            <a:lvl6pPr>
              <a:buNone/>
              <a:defRPr sz="3750" b="1">
                <a:solidFill>
                  <a:srgbClr val="20242A"/>
                </a:solidFill>
                <a:latin typeface="Arial"/>
                <a:ea typeface="Arial"/>
                <a:cs typeface="Arial"/>
              </a:defRPr>
            </a:lvl6pPr>
            <a:lvl7pPr>
              <a:buNone/>
              <a:defRPr sz="3750" b="1">
                <a:solidFill>
                  <a:srgbClr val="20242A"/>
                </a:solidFill>
                <a:latin typeface="Arial"/>
                <a:ea typeface="Arial"/>
                <a:cs typeface="Arial"/>
              </a:defRPr>
            </a:lvl7pPr>
            <a:lvl8pPr>
              <a:buNone/>
              <a:defRPr sz="3750" b="1">
                <a:solidFill>
                  <a:srgbClr val="20242A"/>
                </a:solidFill>
                <a:latin typeface="Arial"/>
                <a:ea typeface="Arial"/>
                <a:cs typeface="Arial"/>
              </a:defRPr>
            </a:lvl8pPr>
            <a:lvl9pPr>
              <a:buNone/>
              <a:defRPr sz="3750" b="1">
                <a:solidFill>
                  <a:srgbClr val="20242A"/>
                </a:solidFill>
                <a:latin typeface="Arial"/>
                <a:ea typeface="Arial"/>
                <a:cs typeface="Arial"/>
              </a:defRPr>
            </a:lvl9pPr>
          </a:lstStyle>
          <a:p xmlns:a="http://schemas.openxmlformats.org/drawingml/2006/main">
            <a:pPr>
              <a:buNone/>
              <a:defRPr sz="3750" b="1">
                <a:solidFill>
                  <a:srgbClr val="20242A"/>
                </a:solidFill>
                <a:latin typeface="Arial"/>
                <a:ea typeface="Arial"/>
                <a:cs typeface="Arial"/>
              </a:defRPr>
            </a:pPr>
            <a:r>
              <a:rPr sz="4000" b="1">
                <a:solidFill>
                  <a:srgbClr val="20242A"/>
                </a:solidFill>
                <a:latin typeface="Arial"/>
                <a:ea typeface="Arial"/>
                <a:cs typeface="Arial"/>
              </a:rPr>
              <a:t>THE FIRST CHINESEBABYLM CHALLENGE</a:t>
            </a:r>
          </a:p>
        </p:txBody>
      </p:sp>
      <p:sp>
        <p:nvSpPr>
          <p:cNvPr id="6" name="cover-subtitle">
            <a:extLst xmlns:a="http://schemas.openxmlformats.org/drawingml/2006/main">
              <a:ext uri="{FF2B5EF4-FFF2-40B4-BE49-F238E27FC236}">
                <a16:creationId xmlns:a16="http://schemas.microsoft.com/office/drawing/2014/main" id="{C5904510-6BBF-40D4-88DC-EFBA4E9412C2}"/>
              </a:ext>
            </a:extLst>
          </p:cNvPr>
          <p:cNvSpPr>
            <a:spLocks xmlns:a="http://schemas.openxmlformats.org/drawingml/2006/main" noGrp="1"/>
          </p:cNvSpPr>
          <p:nvPr/>
        </p:nvSpPr>
        <p:spPr>
          <a:xfrm xmlns:a="http://schemas.openxmlformats.org/drawingml/2006/main">
            <a:off x="733425" y="2628900"/>
            <a:ext cx="7429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2100">
                <a:solidFill>
                  <a:srgbClr val="233342"/>
                </a:solidFill>
                <a:latin typeface="Arial"/>
                <a:ea typeface="Arial"/>
                <a:cs typeface="Arial"/>
              </a:defRPr>
            </a:defPPr>
            <a:lvl1pPr>
              <a:buNone/>
              <a:defRPr sz="2100">
                <a:solidFill>
                  <a:srgbClr val="233342"/>
                </a:solidFill>
                <a:latin typeface="Arial"/>
                <a:ea typeface="Arial"/>
                <a:cs typeface="Arial"/>
              </a:defRPr>
            </a:lvl1pPr>
            <a:lvl2pPr>
              <a:buNone/>
              <a:defRPr sz="2100">
                <a:solidFill>
                  <a:srgbClr val="233342"/>
                </a:solidFill>
                <a:latin typeface="Arial"/>
                <a:ea typeface="Arial"/>
                <a:cs typeface="Arial"/>
              </a:defRPr>
            </a:lvl2pPr>
            <a:lvl3pPr>
              <a:buNone/>
              <a:defRPr sz="2100">
                <a:solidFill>
                  <a:srgbClr val="233342"/>
                </a:solidFill>
                <a:latin typeface="Arial"/>
                <a:ea typeface="Arial"/>
                <a:cs typeface="Arial"/>
              </a:defRPr>
            </a:lvl3pPr>
            <a:lvl4pPr>
              <a:buNone/>
              <a:defRPr sz="2100">
                <a:solidFill>
                  <a:srgbClr val="233342"/>
                </a:solidFill>
                <a:latin typeface="Arial"/>
                <a:ea typeface="Arial"/>
                <a:cs typeface="Arial"/>
              </a:defRPr>
            </a:lvl4pPr>
            <a:lvl5pPr>
              <a:buNone/>
              <a:defRPr sz="2100">
                <a:solidFill>
                  <a:srgbClr val="233342"/>
                </a:solidFill>
                <a:latin typeface="Arial"/>
                <a:ea typeface="Arial"/>
                <a:cs typeface="Arial"/>
              </a:defRPr>
            </a:lvl5pPr>
            <a:lvl6pPr>
              <a:buNone/>
              <a:defRPr sz="2100">
                <a:solidFill>
                  <a:srgbClr val="233342"/>
                </a:solidFill>
                <a:latin typeface="Arial"/>
                <a:ea typeface="Arial"/>
                <a:cs typeface="Arial"/>
              </a:defRPr>
            </a:lvl6pPr>
            <a:lvl7pPr>
              <a:buNone/>
              <a:defRPr sz="2100">
                <a:solidFill>
                  <a:srgbClr val="233342"/>
                </a:solidFill>
                <a:latin typeface="Arial"/>
                <a:ea typeface="Arial"/>
                <a:cs typeface="Arial"/>
              </a:defRPr>
            </a:lvl7pPr>
            <a:lvl8pPr>
              <a:buNone/>
              <a:defRPr sz="2100">
                <a:solidFill>
                  <a:srgbClr val="233342"/>
                </a:solidFill>
                <a:latin typeface="Arial"/>
                <a:ea typeface="Arial"/>
                <a:cs typeface="Arial"/>
              </a:defRPr>
            </a:lvl8pPr>
            <a:lvl9pPr>
              <a:buNone/>
              <a:defRPr sz="2100">
                <a:solidFill>
                  <a:srgbClr val="233342"/>
                </a:solidFill>
                <a:latin typeface="Arial"/>
                <a:ea typeface="Arial"/>
                <a:cs typeface="Arial"/>
              </a:defRPr>
            </a:lvl9pPr>
          </a:lstStyle>
          <a:p xmlns:a="http://schemas.openxmlformats.org/drawingml/2006/main">
            <a:pPr>
              <a:lnSpc>
                <a:spcPct val="105000"/>
              </a:lnSpc>
              <a:buNone/>
              <a:defRPr sz="2100">
                <a:solidFill>
                  <a:srgbClr val="233342"/>
                </a:solidFill>
                <a:latin typeface="Arial"/>
                <a:ea typeface="Arial"/>
                <a:cs typeface="Arial"/>
              </a:defRPr>
            </a:pPr>
            <a:r>
              <a:rPr sz="2200">
                <a:solidFill>
                  <a:srgbClr val="233342"/>
                </a:solidFill>
                <a:latin typeface="Arial"/>
                <a:ea typeface="Arial"/>
                <a:cs typeface="Arial"/>
              </a:rPr>
              <a:t>Training Data-efficient and Cognitively Plausible</a:t>
            </a:r>
          </a:p>
          <a:p xmlns:a="http://schemas.openxmlformats.org/drawingml/2006/main">
            <a:pPr>
              <a:lnSpc>
                <a:spcPct val="105000"/>
              </a:lnSpc>
              <a:buNone/>
              <a:defRPr sz="2100">
                <a:solidFill>
                  <a:srgbClr val="233342"/>
                </a:solidFill>
                <a:latin typeface="Arial"/>
                <a:ea typeface="Arial"/>
                <a:cs typeface="Arial"/>
              </a:defRPr>
            </a:pPr>
            <a:r>
              <a:rPr sz="2200">
                <a:solidFill>
                  <a:srgbClr val="233342"/>
                </a:solidFill>
                <a:latin typeface="Arial"/>
                <a:ea typeface="Arial"/>
                <a:cs typeface="Arial"/>
              </a:rPr>
              <a:t>Language Models for Chinese</a:t>
            </a:r>
          </a:p>
        </p:txBody>
      </p:sp>
      <p:sp>
        <p:nvSpPr>
          <p:cNvPr id="7" name="cover-authors">
            <a:extLst xmlns:a="http://schemas.openxmlformats.org/drawingml/2006/main">
              <a:ext uri="{FF2B5EF4-FFF2-40B4-BE49-F238E27FC236}">
                <a16:creationId xmlns:a16="http://schemas.microsoft.com/office/drawing/2014/main" id="{B036FC9A-F60F-4DD4-BD30-1720B0A34BC0}"/>
              </a:ext>
            </a:extLst>
          </p:cNvPr>
          <p:cNvSpPr>
            <a:spLocks xmlns:a="http://schemas.openxmlformats.org/drawingml/2006/main" noGrp="1"/>
          </p:cNvSpPr>
          <p:nvPr/>
        </p:nvSpPr>
        <p:spPr>
          <a:xfrm xmlns:a="http://schemas.openxmlformats.org/drawingml/2006/main">
            <a:off x="733425" y="3600450"/>
            <a:ext cx="7620000" cy="53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a:solidFill>
                  <a:srgbClr val="20242A"/>
                </a:solidFill>
                <a:latin typeface="Arial"/>
                <a:ea typeface="Arial"/>
                <a:cs typeface="Arial"/>
              </a:defRPr>
            </a:defPPr>
            <a:lvl1pPr>
              <a:buNone/>
              <a:defRPr sz="1500">
                <a:solidFill>
                  <a:srgbClr val="20242A"/>
                </a:solidFill>
                <a:latin typeface="Arial"/>
                <a:ea typeface="Arial"/>
                <a:cs typeface="Arial"/>
              </a:defRPr>
            </a:lvl1pPr>
            <a:lvl2pPr>
              <a:buNone/>
              <a:defRPr sz="1500">
                <a:solidFill>
                  <a:srgbClr val="20242A"/>
                </a:solidFill>
                <a:latin typeface="Arial"/>
                <a:ea typeface="Arial"/>
                <a:cs typeface="Arial"/>
              </a:defRPr>
            </a:lvl2pPr>
            <a:lvl3pPr>
              <a:buNone/>
              <a:defRPr sz="1500">
                <a:solidFill>
                  <a:srgbClr val="20242A"/>
                </a:solidFill>
                <a:latin typeface="Arial"/>
                <a:ea typeface="Arial"/>
                <a:cs typeface="Arial"/>
              </a:defRPr>
            </a:lvl3pPr>
            <a:lvl4pPr>
              <a:buNone/>
              <a:defRPr sz="1500">
                <a:solidFill>
                  <a:srgbClr val="20242A"/>
                </a:solidFill>
                <a:latin typeface="Arial"/>
                <a:ea typeface="Arial"/>
                <a:cs typeface="Arial"/>
              </a:defRPr>
            </a:lvl4pPr>
            <a:lvl5pPr>
              <a:buNone/>
              <a:defRPr sz="1500">
                <a:solidFill>
                  <a:srgbClr val="20242A"/>
                </a:solidFill>
                <a:latin typeface="Arial"/>
                <a:ea typeface="Arial"/>
                <a:cs typeface="Arial"/>
              </a:defRPr>
            </a:lvl5pPr>
            <a:lvl6pPr>
              <a:buNone/>
              <a:defRPr sz="1500">
                <a:solidFill>
                  <a:srgbClr val="20242A"/>
                </a:solidFill>
                <a:latin typeface="Arial"/>
                <a:ea typeface="Arial"/>
                <a:cs typeface="Arial"/>
              </a:defRPr>
            </a:lvl6pPr>
            <a:lvl7pPr>
              <a:buNone/>
              <a:defRPr sz="1500">
                <a:solidFill>
                  <a:srgbClr val="20242A"/>
                </a:solidFill>
                <a:latin typeface="Arial"/>
                <a:ea typeface="Arial"/>
                <a:cs typeface="Arial"/>
              </a:defRPr>
            </a:lvl7pPr>
            <a:lvl8pPr>
              <a:buNone/>
              <a:defRPr sz="1500">
                <a:solidFill>
                  <a:srgbClr val="20242A"/>
                </a:solidFill>
                <a:latin typeface="Arial"/>
                <a:ea typeface="Arial"/>
                <a:cs typeface="Arial"/>
              </a:defRPr>
            </a:lvl8pPr>
            <a:lvl9pPr>
              <a:buNone/>
              <a:defRPr sz="1500">
                <a:solidFill>
                  <a:srgbClr val="20242A"/>
                </a:solidFill>
                <a:latin typeface="Arial"/>
                <a:ea typeface="Arial"/>
                <a:cs typeface="Arial"/>
              </a:defRPr>
            </a:lvl9pPr>
          </a:lstStyle>
          <a:p xmlns:a="http://schemas.openxmlformats.org/drawingml/2006/main">
            <a:pPr>
              <a:lnSpc>
                <a:spcPct val="150000"/>
              </a:lnSpc>
              <a:buNone/>
              <a:defRPr sz="1500">
                <a:solidFill>
                  <a:srgbClr val="20242A"/>
                </a:solidFill>
                <a:latin typeface="Arial"/>
                <a:ea typeface="Arial"/>
                <a:cs typeface="Arial"/>
              </a:defRPr>
            </a:pPr>
            <a:r>
              <a:rPr sz="1600">
                <a:solidFill>
                  <a:srgbClr val="20242A"/>
                </a:solidFill>
                <a:latin typeface="Arial"/>
                <a:ea typeface="Arial"/>
                <a:cs typeface="Arial"/>
              </a:rPr>
              <a:t>Siyuan</a:t>
            </a:r>
            <a:r>
              <a:rPr sz="1600">
                <a:solidFill>
                  <a:srgbClr val="20242A"/>
                </a:solidFill>
                <a:latin typeface="Arial"/>
                <a:ea typeface="Arial"/>
                <a:cs typeface="Arial"/>
              </a:rPr>
              <a:t> Song, Zhiheng Qian, </a:t>
            </a:r>
            <a:r>
              <a:rPr sz="1600">
                <a:solidFill>
                  <a:srgbClr val="20242A"/>
                </a:solidFill>
                <a:latin typeface="Arial"/>
                <a:ea typeface="Arial"/>
                <a:cs typeface="Arial"/>
              </a:rPr>
              <a:t>Yunhao</a:t>
            </a:r>
            <a:r>
              <a:rPr sz="1600">
                <a:solidFill>
                  <a:srgbClr val="20242A"/>
                </a:solidFill>
                <a:latin typeface="Arial"/>
                <a:ea typeface="Arial"/>
                <a:cs typeface="Arial"/>
              </a:rPr>
              <a:t> Zhang, </a:t>
            </a:r>
            <a:r>
              <a:rPr sz="1600">
                <a:solidFill>
                  <a:srgbClr val="20242A"/>
                </a:solidFill>
                <a:latin typeface="Arial"/>
                <a:ea typeface="Arial"/>
                <a:cs typeface="Arial"/>
              </a:rPr>
              <a:t>Linyang</a:t>
            </a:r>
            <a:r>
              <a:rPr sz="1600">
                <a:solidFill>
                  <a:srgbClr val="20242A"/>
                </a:solidFill>
                <a:latin typeface="Arial"/>
                <a:ea typeface="Arial"/>
                <a:cs typeface="Arial"/>
              </a:rPr>
              <a:t> He, </a:t>
            </a:r>
            <a:r>
              <a:rPr sz="1600">
                <a:solidFill>
                  <a:srgbClr val="20242A"/>
                </a:solidFill>
                <a:latin typeface="Arial"/>
                <a:ea typeface="Arial"/>
                <a:cs typeface="Arial"/>
              </a:rPr>
              <a:t>Xiaozhe</a:t>
            </a:r>
            <a:r>
              <a:rPr sz="1600">
                <a:solidFill>
                  <a:srgbClr val="20242A"/>
                </a:solidFill>
                <a:latin typeface="Arial"/>
                <a:ea typeface="Arial"/>
                <a:cs typeface="Arial"/>
              </a:rPr>
              <a:t> Ji, </a:t>
            </a:r>
            <a:r>
              <a:rPr sz="1600"/>
              <a:t>Yingxin</a:t>
            </a:r>
            <a:r>
              <a:rPr sz="1600"/>
              <a:t> Lin, </a:t>
            </a:r>
            <a:r>
              <a:rPr sz="1600"/>
              <a:t>Hongao</a:t>
            </a:r>
            <a:r>
              <a:rPr sz="1600"/>
              <a:t> Zhu, </a:t>
            </a:r>
            <a:r>
              <a:rPr sz="1600"/>
              <a:t>Chongtian</a:t>
            </a:r>
            <a:r>
              <a:rPr sz="1600"/>
              <a:t> Shao, </a:t>
            </a:r>
            <a:r>
              <a:rPr sz="1600"/>
              <a:t>Chuhan</a:t>
            </a:r>
            <a:r>
              <a:rPr sz="1600"/>
              <a:t> Lang, Luan Li, Rui Wang, </a:t>
            </a:r>
            <a:r>
              <a:rPr sz="1600"/>
              <a:t>Renfen</a:t>
            </a:r>
            <a:r>
              <a:rPr sz="1600"/>
              <a:t> Hu, </a:t>
            </a:r>
            <a:r>
              <a:rPr sz="1600"/>
              <a:t>Shaonan</a:t>
            </a:r>
            <a:r>
              <a:rPr sz="1600"/>
              <a:t> Wang, Hai Hu</a:t>
            </a:r>
            <a:endParaRPr sz="1600">
              <a:solidFill>
                <a:srgbClr val="20242A"/>
              </a:solidFill>
              <a:latin typeface="Arial"/>
              <a:ea typeface="Arial"/>
              <a:cs typeface="Arial"/>
            </a:endParaRPr>
          </a:p>
        </p:txBody>
      </p:sp>
      <p:sp>
        <p:nvSpPr>
          <p:cNvPr id="8" name="cover-venue">
            <a:extLst xmlns:a="http://schemas.openxmlformats.org/drawingml/2006/main">
              <a:ext uri="{FF2B5EF4-FFF2-40B4-BE49-F238E27FC236}">
                <a16:creationId xmlns:a16="http://schemas.microsoft.com/office/drawing/2014/main" id="{8D4349A4-54BE-4B33-892C-FD4E6F15D6F4}"/>
              </a:ext>
            </a:extLst>
          </p:cNvPr>
          <p:cNvSpPr>
            <a:spLocks xmlns:a="http://schemas.openxmlformats.org/drawingml/2006/main" noGrp="1"/>
          </p:cNvSpPr>
          <p:nvPr/>
        </p:nvSpPr>
        <p:spPr>
          <a:xfrm xmlns:a="http://schemas.openxmlformats.org/drawingml/2006/main">
            <a:off x="723900" y="59245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9E1B32"/>
                </a:solidFill>
                <a:latin typeface="Arial"/>
                <a:ea typeface="Arial"/>
                <a:cs typeface="Arial"/>
              </a:defRPr>
            </a:defPPr>
            <a:lvl1pPr>
              <a:buNone/>
              <a:defRPr sz="1500" b="1">
                <a:solidFill>
                  <a:srgbClr val="9E1B32"/>
                </a:solidFill>
                <a:latin typeface="Arial"/>
                <a:ea typeface="Arial"/>
                <a:cs typeface="Arial"/>
              </a:defRPr>
            </a:lvl1pPr>
            <a:lvl2pPr>
              <a:buNone/>
              <a:defRPr sz="1500" b="1">
                <a:solidFill>
                  <a:srgbClr val="9E1B32"/>
                </a:solidFill>
                <a:latin typeface="Arial"/>
                <a:ea typeface="Arial"/>
                <a:cs typeface="Arial"/>
              </a:defRPr>
            </a:lvl2pPr>
            <a:lvl3pPr>
              <a:buNone/>
              <a:defRPr sz="1500" b="1">
                <a:solidFill>
                  <a:srgbClr val="9E1B32"/>
                </a:solidFill>
                <a:latin typeface="Arial"/>
                <a:ea typeface="Arial"/>
                <a:cs typeface="Arial"/>
              </a:defRPr>
            </a:lvl3pPr>
            <a:lvl4pPr>
              <a:buNone/>
              <a:defRPr sz="1500" b="1">
                <a:solidFill>
                  <a:srgbClr val="9E1B32"/>
                </a:solidFill>
                <a:latin typeface="Arial"/>
                <a:ea typeface="Arial"/>
                <a:cs typeface="Arial"/>
              </a:defRPr>
            </a:lvl4pPr>
            <a:lvl5pPr>
              <a:buNone/>
              <a:defRPr sz="1500" b="1">
                <a:solidFill>
                  <a:srgbClr val="9E1B32"/>
                </a:solidFill>
                <a:latin typeface="Arial"/>
                <a:ea typeface="Arial"/>
                <a:cs typeface="Arial"/>
              </a:defRPr>
            </a:lvl5pPr>
            <a:lvl6pPr>
              <a:buNone/>
              <a:defRPr sz="1500" b="1">
                <a:solidFill>
                  <a:srgbClr val="9E1B32"/>
                </a:solidFill>
                <a:latin typeface="Arial"/>
                <a:ea typeface="Arial"/>
                <a:cs typeface="Arial"/>
              </a:defRPr>
            </a:lvl6pPr>
            <a:lvl7pPr>
              <a:buNone/>
              <a:defRPr sz="1500" b="1">
                <a:solidFill>
                  <a:srgbClr val="9E1B32"/>
                </a:solidFill>
                <a:latin typeface="Arial"/>
                <a:ea typeface="Arial"/>
                <a:cs typeface="Arial"/>
              </a:defRPr>
            </a:lvl7pPr>
            <a:lvl8pPr>
              <a:buNone/>
              <a:defRPr sz="1500" b="1">
                <a:solidFill>
                  <a:srgbClr val="9E1B32"/>
                </a:solidFill>
                <a:latin typeface="Arial"/>
                <a:ea typeface="Arial"/>
                <a:cs typeface="Arial"/>
              </a:defRPr>
            </a:lvl8pPr>
            <a:lvl9pPr>
              <a:buNone/>
              <a:defRPr sz="1500" b="1">
                <a:solidFill>
                  <a:srgbClr val="9E1B32"/>
                </a:solidFill>
                <a:latin typeface="Arial"/>
                <a:ea typeface="Arial"/>
                <a:cs typeface="Arial"/>
              </a:defRPr>
            </a:lvl9pPr>
          </a:lstStyle>
          <a:p xmlns:a="http://schemas.openxmlformats.org/drawingml/2006/main">
            <a:pPr>
              <a:buNone/>
              <a:defRPr sz="1500" b="1">
                <a:solidFill>
                  <a:srgbClr val="9E1B32"/>
                </a:solidFill>
                <a:latin typeface="Arial"/>
                <a:ea typeface="Arial"/>
                <a:cs typeface="Arial"/>
              </a:defRPr>
            </a:pPr>
            <a:r>
              <a:rPr sz="1500" b="1">
                <a:solidFill>
                  <a:srgbClr val="9E1B32"/>
                </a:solidFill>
                <a:latin typeface="Arial"/>
                <a:ea typeface="Arial"/>
                <a:cs typeface="Arial"/>
              </a:rPr>
              <a:t>NLPCC 202</a:t>
            </a:r>
            <a:r>
              <a:rPr sz="1500" b="1">
                <a:solidFill>
                  <a:srgbClr val="9E1B32"/>
                </a:solidFill>
                <a:latin typeface="Arial"/>
                <a:ea typeface="Arial"/>
                <a:cs typeface="Arial"/>
              </a:rPr>
              <a:t>6</a:t>
            </a:r>
            <a:r>
              <a:rPr sz="1500" b="1">
                <a:solidFill>
                  <a:srgbClr val="9E1B32"/>
                </a:solidFill>
                <a:latin typeface="Arial"/>
                <a:ea typeface="Arial"/>
                <a:cs typeface="Arial"/>
              </a:rPr>
              <a:t> Shared Task</a:t>
            </a:r>
          </a:p>
        </p:txBody>
      </p:sp>
    </p:spTree>
    <p:extLst>
      <p:ext uri="{BB962C8B-B14F-4D97-AF65-F5344CB8AC3E}">
        <p14:creationId xmlns:p14="http://schemas.microsoft.com/office/powerpoint/2010/main" val="18788713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2-top-rule">
            <a:extLst xmlns:a="http://schemas.openxmlformats.org/drawingml/2006/main">
              <a:ext uri="{FF2B5EF4-FFF2-40B4-BE49-F238E27FC236}">
                <a16:creationId xmlns:a16="http://schemas.microsoft.com/office/drawing/2014/main" id="{8C5DD9AC-D089-446D-85C8-1DE250BDE53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4" name="research-question">
            <a:extLst xmlns:a="http://schemas.openxmlformats.org/drawingml/2006/main">
              <a:ext uri="{FF2B5EF4-FFF2-40B4-BE49-F238E27FC236}">
                <a16:creationId xmlns:a16="http://schemas.microsoft.com/office/drawing/2014/main" id="{C700A8C2-98D5-40EA-8A13-C399CBC3B8C8}"/>
              </a:ext>
            </a:extLst>
          </p:cNvPr>
          <p:cNvSpPr>
            <a:spLocks xmlns:a="http://schemas.openxmlformats.org/drawingml/2006/main" noGrp="1"/>
          </p:cNvSpPr>
          <p:nvPr/>
        </p:nvSpPr>
        <p:spPr>
          <a:xfrm xmlns:a="http://schemas.openxmlformats.org/drawingml/2006/main">
            <a:off x="685800" y="1493250"/>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a:solidFill>
                  <a:srgbClr val="20242A"/>
                </a:solidFill>
                <a:latin typeface="Arial"/>
                <a:ea typeface="Arial"/>
                <a:cs typeface="Arial"/>
              </a:defRPr>
            </a:defPPr>
            <a:lvl1pPr>
              <a:buNone/>
              <a:defRPr sz="2550">
                <a:solidFill>
                  <a:srgbClr val="20242A"/>
                </a:solidFill>
                <a:latin typeface="Arial"/>
                <a:ea typeface="Arial"/>
                <a:cs typeface="Arial"/>
              </a:defRPr>
            </a:lvl1pPr>
            <a:lvl2pPr>
              <a:buNone/>
              <a:defRPr sz="2550">
                <a:solidFill>
                  <a:srgbClr val="20242A"/>
                </a:solidFill>
                <a:latin typeface="Arial"/>
                <a:ea typeface="Arial"/>
                <a:cs typeface="Arial"/>
              </a:defRPr>
            </a:lvl2pPr>
            <a:lvl3pPr>
              <a:buNone/>
              <a:defRPr sz="2550">
                <a:solidFill>
                  <a:srgbClr val="20242A"/>
                </a:solidFill>
                <a:latin typeface="Arial"/>
                <a:ea typeface="Arial"/>
                <a:cs typeface="Arial"/>
              </a:defRPr>
            </a:lvl3pPr>
            <a:lvl4pPr>
              <a:buNone/>
              <a:defRPr sz="2550">
                <a:solidFill>
                  <a:srgbClr val="20242A"/>
                </a:solidFill>
                <a:latin typeface="Arial"/>
                <a:ea typeface="Arial"/>
                <a:cs typeface="Arial"/>
              </a:defRPr>
            </a:lvl4pPr>
            <a:lvl5pPr>
              <a:buNone/>
              <a:defRPr sz="2550">
                <a:solidFill>
                  <a:srgbClr val="20242A"/>
                </a:solidFill>
                <a:latin typeface="Arial"/>
                <a:ea typeface="Arial"/>
                <a:cs typeface="Arial"/>
              </a:defRPr>
            </a:lvl5pPr>
            <a:lvl6pPr>
              <a:buNone/>
              <a:defRPr sz="2550">
                <a:solidFill>
                  <a:srgbClr val="20242A"/>
                </a:solidFill>
                <a:latin typeface="Arial"/>
                <a:ea typeface="Arial"/>
                <a:cs typeface="Arial"/>
              </a:defRPr>
            </a:lvl6pPr>
            <a:lvl7pPr>
              <a:buNone/>
              <a:defRPr sz="2550">
                <a:solidFill>
                  <a:srgbClr val="20242A"/>
                </a:solidFill>
                <a:latin typeface="Arial"/>
                <a:ea typeface="Arial"/>
                <a:cs typeface="Arial"/>
              </a:defRPr>
            </a:lvl7pPr>
            <a:lvl8pPr>
              <a:buNone/>
              <a:defRPr sz="2550">
                <a:solidFill>
                  <a:srgbClr val="20242A"/>
                </a:solidFill>
                <a:latin typeface="Arial"/>
                <a:ea typeface="Arial"/>
                <a:cs typeface="Arial"/>
              </a:defRPr>
            </a:lvl8pPr>
            <a:lvl9pPr>
              <a:buNone/>
              <a:defRPr sz="2550">
                <a:solidFill>
                  <a:srgbClr val="20242A"/>
                </a:solidFill>
                <a:latin typeface="Arial"/>
                <a:ea typeface="Arial"/>
                <a:cs typeface="Arial"/>
              </a:defRPr>
            </a:lvl9pPr>
          </a:lstStyle>
          <a:p xmlns:a="http://schemas.openxmlformats.org/drawingml/2006/main">
            <a:pPr>
              <a:buNone/>
              <a:defRPr sz="2550">
                <a:solidFill>
                  <a:srgbClr val="20242A"/>
                </a:solidFill>
                <a:latin typeface="Arial"/>
                <a:ea typeface="Arial"/>
                <a:cs typeface="Arial"/>
              </a:defRPr>
            </a:pPr>
            <a:r>
              <a:rPr sz="2600" b="1"/>
              <a:t>D</a:t>
            </a:r>
            <a:r>
              <a:rPr sz="2600" b="1">
                <a:solidFill>
                  <a:srgbClr val="20242A"/>
                </a:solidFill>
                <a:latin typeface="Arial"/>
                <a:ea typeface="Arial"/>
                <a:cs typeface="Arial"/>
              </a:rPr>
              <a:t>ata-efficient and cognitively plausible language model</a:t>
            </a:r>
          </a:p>
          <a:p xmlns:a="http://schemas.openxmlformats.org/drawingml/2006/main">
            <a:pPr>
              <a:buNone/>
              <a:defRPr sz="2550">
                <a:solidFill>
                  <a:srgbClr val="20242A"/>
                </a:solidFill>
                <a:latin typeface="Arial"/>
                <a:ea typeface="Arial"/>
                <a:cs typeface="Arial"/>
              </a:defRPr>
            </a:pPr>
            <a:endParaRPr sz="2600" b="1">
              <a:solidFill>
                <a:srgbClr val="20242A"/>
              </a:solidFill>
              <a:latin typeface="Arial"/>
              <a:ea typeface="Arial"/>
              <a:cs typeface="Arial"/>
            </a:endParaRPr>
          </a:p>
          <a:p xmlns:a="http://schemas.openxmlformats.org/drawingml/2006/main">
            <a:pPr>
              <a:buNone/>
              <a:defRPr sz="2550">
                <a:solidFill>
                  <a:srgbClr val="20242A"/>
                </a:solidFill>
                <a:latin typeface="Arial"/>
                <a:ea typeface="Arial"/>
                <a:cs typeface="Arial"/>
              </a:defRPr>
            </a:pPr>
            <a:r>
              <a:rPr sz="2600" b="1">
                <a:latin typeface="Arial"/>
                <a:ea typeface="Arial"/>
                <a:cs typeface="Arial"/>
              </a:rPr>
              <a:t>How well can models l</a:t>
            </a:r>
            <a:r>
              <a:rPr sz="2600" b="1">
                <a:latin typeface="Arial"/>
                <a:ea typeface="Arial"/>
                <a:cs typeface="Arial"/>
              </a:rPr>
              <a:t>earn </a:t>
            </a:r>
            <a:r>
              <a:rPr sz="2600" b="1">
                <a:solidFill>
                  <a:srgbClr val="9E1B32"/>
                </a:solidFill>
                <a:latin typeface="Arial"/>
                <a:ea typeface="Arial"/>
                <a:cs typeface="Arial"/>
              </a:rPr>
              <a:t>Chinese</a:t>
            </a:r>
            <a:r>
              <a:rPr sz="2600" b="1">
                <a:latin typeface="Arial"/>
                <a:ea typeface="Arial"/>
                <a:cs typeface="Arial"/>
              </a:rPr>
              <a:t> with no more than 102M words?</a:t>
            </a:r>
            <a:endParaRPr sz="2600" b="1">
              <a:latin typeface="Arial"/>
              <a:ea typeface="Arial"/>
              <a:cs typeface="Arial"/>
            </a:endParaRPr>
          </a:p>
          <a:p xmlns:a="http://schemas.openxmlformats.org/drawingml/2006/main">
            <a:pPr>
              <a:buNone/>
              <a:defRPr sz="2550">
                <a:solidFill>
                  <a:srgbClr val="20242A"/>
                </a:solidFill>
                <a:latin typeface="Arial"/>
                <a:ea typeface="Arial"/>
                <a:cs typeface="Arial"/>
              </a:defRPr>
            </a:pPr>
            <a:endParaRPr sz="2600" b="1"/>
          </a:p>
        </p:txBody>
      </p:sp>
      <p:sp>
        <p:nvSpPr>
          <p:cNvPr id="18" name="slide-2-footer-label">
            <a:extLst xmlns:a="http://schemas.openxmlformats.org/drawingml/2006/main">
              <a:ext uri="{FF2B5EF4-FFF2-40B4-BE49-F238E27FC236}">
                <a16:creationId xmlns:a16="http://schemas.microsoft.com/office/drawing/2014/main" id="{17649B93-E0F3-4E56-90EE-586E00D61B60}"/>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19" name="slide-2-footer-number">
            <a:extLst xmlns:a="http://schemas.openxmlformats.org/drawingml/2006/main">
              <a:ext uri="{FF2B5EF4-FFF2-40B4-BE49-F238E27FC236}">
                <a16:creationId xmlns:a16="http://schemas.microsoft.com/office/drawing/2014/main" id="{11C0774D-F1DA-4A78-AA96-21E26FE86905}"/>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02</a:t>
            </a:r>
          </a:p>
        </p:txBody>
      </p:sp>
      <p:sp>
        <p:nvSpPr>
          <p:cNvPr id="21" name="矩形 20">
            <a:extLst xmlns:a="http://schemas.openxmlformats.org/drawingml/2006/main">
              <a:ext uri="{FF2B5EF4-FFF2-40B4-BE49-F238E27FC236}">
                <a16:creationId xmlns:a16="http://schemas.microsoft.com/office/drawing/2014/main" id="{E174A264-46DB-4DB8-BEF3-6A70F491C526}"/>
              </a:ext>
            </a:extLst>
          </p:cNvPr>
          <p:cNvSpPr>
            <a:spLocks xmlns:a="http://schemas.openxmlformats.org/drawingml/2006/main" noGrp="1"/>
          </p:cNvSpPr>
          <p:nvPr/>
        </p:nvSpPr>
        <p:spPr>
          <a:xfrm xmlns:a="http://schemas.openxmlformats.org/drawingml/2006/main">
            <a:off x="685799" y="3105154"/>
            <a:ext cx="10315575" cy="2929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a:solidFill>
                  <a:srgbClr val="686E75"/>
                </a:solidFill>
                <a:latin typeface="Arial"/>
                <a:ea typeface="Arial"/>
                <a:cs typeface="Arial"/>
              </a:defRPr>
            </a:defPPr>
            <a:lvl1pPr>
              <a:buNone/>
              <a:defRPr sz="1575">
                <a:solidFill>
                  <a:srgbClr val="686E75"/>
                </a:solidFill>
                <a:latin typeface="Arial"/>
                <a:ea typeface="Arial"/>
                <a:cs typeface="Arial"/>
              </a:defRPr>
            </a:lvl1pPr>
            <a:lvl2pPr>
              <a:buNone/>
              <a:defRPr sz="1575">
                <a:solidFill>
                  <a:srgbClr val="686E75"/>
                </a:solidFill>
                <a:latin typeface="Arial"/>
                <a:ea typeface="Arial"/>
                <a:cs typeface="Arial"/>
              </a:defRPr>
            </a:lvl2pPr>
            <a:lvl3pPr>
              <a:buNone/>
              <a:defRPr sz="1575">
                <a:solidFill>
                  <a:srgbClr val="686E75"/>
                </a:solidFill>
                <a:latin typeface="Arial"/>
                <a:ea typeface="Arial"/>
                <a:cs typeface="Arial"/>
              </a:defRPr>
            </a:lvl3pPr>
            <a:lvl4pPr>
              <a:buNone/>
              <a:defRPr sz="1575">
                <a:solidFill>
                  <a:srgbClr val="686E75"/>
                </a:solidFill>
                <a:latin typeface="Arial"/>
                <a:ea typeface="Arial"/>
                <a:cs typeface="Arial"/>
              </a:defRPr>
            </a:lvl4pPr>
            <a:lvl5pPr>
              <a:buNone/>
              <a:defRPr sz="1575">
                <a:solidFill>
                  <a:srgbClr val="686E75"/>
                </a:solidFill>
                <a:latin typeface="Arial"/>
                <a:ea typeface="Arial"/>
                <a:cs typeface="Arial"/>
              </a:defRPr>
            </a:lvl5pPr>
            <a:lvl6pPr>
              <a:buNone/>
              <a:defRPr sz="1575">
                <a:solidFill>
                  <a:srgbClr val="686E75"/>
                </a:solidFill>
                <a:latin typeface="Arial"/>
                <a:ea typeface="Arial"/>
                <a:cs typeface="Arial"/>
              </a:defRPr>
            </a:lvl6pPr>
            <a:lvl7pPr>
              <a:buNone/>
              <a:defRPr sz="1575">
                <a:solidFill>
                  <a:srgbClr val="686E75"/>
                </a:solidFill>
                <a:latin typeface="Arial"/>
                <a:ea typeface="Arial"/>
                <a:cs typeface="Arial"/>
              </a:defRPr>
            </a:lvl7pPr>
            <a:lvl8pPr>
              <a:buNone/>
              <a:defRPr sz="1575">
                <a:solidFill>
                  <a:srgbClr val="686E75"/>
                </a:solidFill>
                <a:latin typeface="Arial"/>
                <a:ea typeface="Arial"/>
                <a:cs typeface="Arial"/>
              </a:defRPr>
            </a:lvl8pPr>
            <a:lvl9pPr>
              <a:buNone/>
              <a:defRPr sz="1575">
                <a:solidFill>
                  <a:srgbClr val="686E75"/>
                </a:solidFill>
                <a:latin typeface="Arial"/>
                <a:ea typeface="Arial"/>
                <a:cs typeface="Arial"/>
              </a:defRPr>
            </a:lvl9pPr>
          </a:lstStyle>
          <a:p xmlns:a="http://schemas.openxmlformats.org/drawingml/2006/main">
            <a:pPr>
              <a:lnSpc>
                <a:spcPct val="112000"/>
              </a:lnSpc>
              <a:buNone/>
              <a:defRPr sz="1575">
                <a:solidFill>
                  <a:srgbClr val="686E75"/>
                </a:solidFill>
                <a:latin typeface="Arial"/>
                <a:ea typeface="Arial"/>
                <a:cs typeface="Arial"/>
              </a:defRPr>
            </a:pPr>
            <a:r>
              <a:rPr sz="2000" b="1">
                <a:solidFill>
                  <a:srgbClr val="20242A"/>
                </a:solidFill>
                <a:latin typeface="Arial"/>
                <a:ea typeface="Arial"/>
                <a:cs typeface="Arial"/>
              </a:rPr>
              <a:t>BabyLM</a:t>
            </a:r>
            <a:r>
              <a:rPr sz="2000" b="1">
                <a:solidFill>
                  <a:srgbClr val="20242A"/>
                </a:solidFill>
                <a:latin typeface="Arial"/>
                <a:ea typeface="Arial"/>
                <a:cs typeface="Arial"/>
              </a:rPr>
              <a:t> Community: </a:t>
            </a:r>
            <a:r>
              <a:rPr sz="2000">
                <a:solidFill>
                  <a:srgbClr val="20242A"/>
                </a:solidFill>
                <a:latin typeface="Arial"/>
                <a:ea typeface="Arial"/>
                <a:cs typeface="Arial"/>
              </a:rPr>
              <a:t>BabyLM</a:t>
            </a:r>
            <a:r>
              <a:rPr sz="2000">
                <a:solidFill>
                  <a:srgbClr val="20242A"/>
                </a:solidFill>
              </a:rPr>
              <a:t>, </a:t>
            </a:r>
            <a:r>
              <a:rPr sz="2000">
                <a:solidFill>
                  <a:srgbClr val="20242A"/>
                </a:solidFill>
              </a:rPr>
              <a:t>BabyBabelLM</a:t>
            </a:r>
            <a:r>
              <a:rPr sz="2000">
                <a:solidFill>
                  <a:srgbClr val="20242A"/>
                </a:solidFill>
              </a:rPr>
              <a:t>, …</a:t>
            </a:r>
          </a:p>
          <a:p xmlns:a="http://schemas.openxmlformats.org/drawingml/2006/main">
            <a:pPr>
              <a:lnSpc>
                <a:spcPct val="112000"/>
              </a:lnSpc>
              <a:buNone/>
              <a:defRPr sz="1575">
                <a:solidFill>
                  <a:srgbClr val="686E75"/>
                </a:solidFill>
                <a:latin typeface="Arial"/>
                <a:ea typeface="Arial"/>
                <a:cs typeface="Arial"/>
              </a:defRPr>
            </a:pPr>
            <a:endParaRPr sz="2000">
              <a:solidFill>
                <a:srgbClr val="686E75"/>
              </a:solidFill>
              <a:latin typeface="Arial"/>
              <a:ea typeface="Arial"/>
              <a:cs typeface="Arial"/>
            </a:endParaRPr>
          </a:p>
          <a:p xmlns:a="http://schemas.openxmlformats.org/drawingml/2006/main">
            <a:pPr>
              <a:lnSpc>
                <a:spcPct val="112000"/>
              </a:lnSpc>
              <a:buNone/>
              <a:defRPr sz="1575">
                <a:solidFill>
                  <a:srgbClr val="686E75"/>
                </a:solidFill>
                <a:latin typeface="Arial"/>
                <a:ea typeface="Arial"/>
                <a:cs typeface="Arial"/>
              </a:defRPr>
            </a:pPr>
            <a:r>
              <a:rPr sz="2000" b="1">
                <a:solidFill>
                  <a:srgbClr val="20242A"/>
                </a:solidFill>
                <a:latin typeface="Arial"/>
                <a:ea typeface="Arial"/>
                <a:cs typeface="Arial"/>
              </a:rPr>
              <a:t>Properties of Chinese language: </a:t>
            </a:r>
            <a:r>
              <a:rPr sz="2000">
                <a:solidFill>
                  <a:srgbClr val="20242A"/>
                </a:solidFill>
                <a:latin typeface="Arial"/>
                <a:ea typeface="Arial"/>
                <a:cs typeface="Arial"/>
              </a:rPr>
              <a:t>no explicit word boundaries, extensive use of </a:t>
            </a:r>
            <a:r>
              <a:rPr sz="2000">
                <a:solidFill>
                  <a:srgbClr val="20242A"/>
                </a:solidFill>
              </a:rPr>
              <a:t>compounding, logographic writing system, …</a:t>
            </a:r>
          </a:p>
          <a:p xmlns:a="http://schemas.openxmlformats.org/drawingml/2006/main">
            <a:pPr>
              <a:lnSpc>
                <a:spcPct val="112000"/>
              </a:lnSpc>
              <a:buNone/>
              <a:defRPr sz="1575">
                <a:solidFill>
                  <a:srgbClr val="686E75"/>
                </a:solidFill>
                <a:latin typeface="Arial"/>
                <a:ea typeface="Arial"/>
                <a:cs typeface="Arial"/>
              </a:defRPr>
            </a:pPr>
            <a:endParaRPr sz="2000">
              <a:solidFill>
                <a:srgbClr val="20242A"/>
              </a:solidFill>
              <a:latin typeface="Arial"/>
              <a:ea typeface="Arial"/>
              <a:cs typeface="Arial"/>
            </a:endParaRPr>
          </a:p>
          <a:p xmlns:a="http://schemas.openxmlformats.org/drawingml/2006/main">
            <a:pPr>
              <a:lnSpc>
                <a:spcPct val="112000"/>
              </a:lnSpc>
              <a:buNone/>
              <a:defRPr sz="1575">
                <a:solidFill>
                  <a:srgbClr val="686E75"/>
                </a:solidFill>
                <a:latin typeface="Arial"/>
                <a:ea typeface="Arial"/>
                <a:cs typeface="Arial"/>
              </a:defRPr>
            </a:pPr>
            <a:r>
              <a:rPr sz="2000" b="1">
                <a:solidFill>
                  <a:srgbClr val="9E1B32"/>
                </a:solidFill>
              </a:rPr>
              <a:t>ChineseBabyLM</a:t>
            </a:r>
            <a:r>
              <a:rPr sz="2000" b="1">
                <a:solidFill>
                  <a:srgbClr val="9E1B32"/>
                </a:solidFill>
              </a:rPr>
              <a:t>: </a:t>
            </a:r>
            <a:r>
              <a:rPr sz="2000" b="1">
                <a:solidFill>
                  <a:srgbClr val="9E1B32"/>
                </a:solidFill>
              </a:rPr>
              <a:t>a shared task with controlled training data and evaluation across multiple tracks.</a:t>
            </a:r>
          </a:p>
          <a:p xmlns:a="http://schemas.openxmlformats.org/drawingml/2006/main">
            <a:pPr>
              <a:lnSpc>
                <a:spcPct val="112000"/>
              </a:lnSpc>
              <a:buNone/>
              <a:defRPr sz="1575">
                <a:solidFill>
                  <a:srgbClr val="686E75"/>
                </a:solidFill>
                <a:latin typeface="Arial"/>
                <a:ea typeface="Arial"/>
                <a:cs typeface="Arial"/>
              </a:defRPr>
            </a:pPr>
            <a:endParaRPr sz="2000" b="1">
              <a:solidFill>
                <a:srgbClr val="9E1B32"/>
              </a:solidFill>
              <a:latin typeface="Arial"/>
              <a:ea typeface="Arial"/>
              <a:cs typeface="Arial"/>
            </a:endParaRPr>
          </a:p>
          <a:p xmlns:a="http://schemas.openxmlformats.org/drawingml/2006/main">
            <a:pPr>
              <a:lnSpc>
                <a:spcPct val="112000"/>
              </a:lnSpc>
              <a:buNone/>
              <a:defRPr sz="1575">
                <a:solidFill>
                  <a:srgbClr val="686E75"/>
                </a:solidFill>
                <a:latin typeface="Arial"/>
                <a:ea typeface="Arial"/>
                <a:cs typeface="Arial"/>
              </a:defRPr>
            </a:pPr>
            <a:endParaRPr sz="2000">
              <a:solidFill>
                <a:srgbClr val="686E75"/>
              </a:solidFill>
              <a:latin typeface="Arial"/>
              <a:ea typeface="Arial"/>
              <a:cs typeface="Arial"/>
            </a:endParaRPr>
          </a:p>
        </p:txBody>
      </p:sp>
      <p:sp>
        <p:nvSpPr>
          <p:cNvPr id="22" name="slide-4-title">
            <a:extLst xmlns:a="http://schemas.openxmlformats.org/drawingml/2006/main">
              <a:ext uri="{FF2B5EF4-FFF2-40B4-BE49-F238E27FC236}">
                <a16:creationId xmlns:a16="http://schemas.microsoft.com/office/drawing/2014/main" id="{88758CCE-862B-4D5D-A742-448DD3D6B29B}"/>
              </a:ext>
            </a:extLst>
          </p:cNvPr>
          <p:cNvSpPr>
            <a:spLocks xmlns:a="http://schemas.openxmlformats.org/drawingml/2006/main" noGrp="1"/>
          </p:cNvSpPr>
          <p:nvPr/>
        </p:nvSpPr>
        <p:spPr>
          <a:xfrm xmlns:a="http://schemas.openxmlformats.org/drawingml/2006/main">
            <a:off x="685800" y="345831"/>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Motivation</a:t>
            </a:r>
            <a:endParaRPr sz="4000" b="1">
              <a:solidFill>
                <a:srgbClr val="9E1B32"/>
              </a:solidFill>
              <a:latin typeface="Arial"/>
              <a:ea typeface="Arial"/>
              <a:cs typeface="Arial"/>
            </a:endParaRPr>
          </a:p>
        </p:txBody>
      </p:sp>
    </p:spTree>
    <p:extLst>
      <p:ext uri="{BB962C8B-B14F-4D97-AF65-F5344CB8AC3E}">
        <p14:creationId xmlns:p14="http://schemas.microsoft.com/office/powerpoint/2010/main" val="184914469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7" name="slide-4-title">
            <a:extLst xmlns:a="http://schemas.openxmlformats.org/drawingml/2006/main">
              <a:ext uri="{FF2B5EF4-FFF2-40B4-BE49-F238E27FC236}">
                <a16:creationId xmlns:a16="http://schemas.microsoft.com/office/drawing/2014/main" id="{ED4EF037-91C8-4FEA-AA2C-D87C9FEEBDAF}"/>
              </a:ext>
            </a:extLst>
          </p:cNvPr>
          <p:cNvSpPr>
            <a:spLocks xmlns:a="http://schemas.openxmlformats.org/drawingml/2006/main" noGrp="1"/>
          </p:cNvSpPr>
          <p:nvPr/>
        </p:nvSpPr>
        <p:spPr>
          <a:xfrm xmlns:a="http://schemas.openxmlformats.org/drawingml/2006/main">
            <a:off x="672737" y="331197"/>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3150" b="1">
                <a:solidFill>
                  <a:srgbClr val="20242A"/>
                </a:solidFill>
                <a:latin typeface="Arial"/>
                <a:ea typeface="Arial"/>
                <a:cs typeface="Arial"/>
              </a:defRPr>
            </a:pPr>
            <a:r>
              <a:rPr sz="4000" b="1">
                <a:solidFill>
                  <a:srgbClr val="20242A"/>
                </a:solidFill>
                <a:latin typeface="Arial"/>
                <a:ea typeface="Arial"/>
                <a:cs typeface="Arial"/>
              </a:rPr>
              <a:t>Evaluation </a:t>
            </a:r>
            <a:r>
              <a:rPr sz="4000" b="1">
                <a:solidFill>
                  <a:srgbClr val="20242A"/>
                </a:solidFill>
                <a:latin typeface="Arial"/>
                <a:ea typeface="Arial"/>
                <a:cs typeface="Arial"/>
              </a:rPr>
              <a:t>Tracks</a:t>
            </a:r>
            <a:endParaRPr sz="4000" b="1">
              <a:solidFill>
                <a:srgbClr val="20242A"/>
              </a:solidFill>
              <a:latin typeface="Arial"/>
              <a:ea typeface="Arial"/>
              <a:cs typeface="Arial"/>
            </a:endParaRPr>
          </a:p>
        </p:txBody>
      </p:sp>
      <p:sp>
        <p:nvSpPr>
          <p:cNvPr id="2" name="slide-4-top-rule">
            <a:extLst xmlns:a="http://schemas.openxmlformats.org/drawingml/2006/main">
              <a:ext uri="{FF2B5EF4-FFF2-40B4-BE49-F238E27FC236}">
                <a16:creationId xmlns:a16="http://schemas.microsoft.com/office/drawing/2014/main" id="{31C64AA6-A017-40C0-B692-B8AE66CA2B3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矩形 2">
            <a:extLst xmlns:a="http://schemas.openxmlformats.org/drawingml/2006/main">
              <a:ext uri="{FF2B5EF4-FFF2-40B4-BE49-F238E27FC236}">
                <a16:creationId xmlns:a16="http://schemas.microsoft.com/office/drawing/2014/main" id="{93DDBE9E-E15F-4293-B32E-E33A69941438}"/>
              </a:ext>
            </a:extLst>
          </p:cNvPr>
          <p:cNvSpPr>
            <a:spLocks xmlns:a="http://schemas.openxmlformats.org/drawingml/2006/main" noGrp="1"/>
          </p:cNvSpPr>
          <p:nvPr/>
        </p:nvSpPr>
        <p:spPr>
          <a:xfrm xmlns:a="http://schemas.openxmlformats.org/drawingml/2006/main">
            <a:off x="685800" y="1304925"/>
            <a:ext cx="542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125" b="1">
                <a:solidFill>
                  <a:srgbClr val="C49A2C"/>
                </a:solidFill>
                <a:latin typeface="Arial"/>
                <a:ea typeface="Arial"/>
                <a:cs typeface="Arial"/>
              </a:defRPr>
            </a:defPPr>
            <a:lvl1pPr>
              <a:buNone/>
              <a:defRPr sz="1125" b="1">
                <a:solidFill>
                  <a:srgbClr val="C49A2C"/>
                </a:solidFill>
                <a:latin typeface="Arial"/>
                <a:ea typeface="Arial"/>
                <a:cs typeface="Arial"/>
              </a:defRPr>
            </a:lvl1pPr>
            <a:lvl2pPr>
              <a:buNone/>
              <a:defRPr sz="1125" b="1">
                <a:solidFill>
                  <a:srgbClr val="C49A2C"/>
                </a:solidFill>
                <a:latin typeface="Arial"/>
                <a:ea typeface="Arial"/>
                <a:cs typeface="Arial"/>
              </a:defRPr>
            </a:lvl2pPr>
            <a:lvl3pPr>
              <a:buNone/>
              <a:defRPr sz="1125" b="1">
                <a:solidFill>
                  <a:srgbClr val="C49A2C"/>
                </a:solidFill>
                <a:latin typeface="Arial"/>
                <a:ea typeface="Arial"/>
                <a:cs typeface="Arial"/>
              </a:defRPr>
            </a:lvl3pPr>
            <a:lvl4pPr>
              <a:buNone/>
              <a:defRPr sz="1125" b="1">
                <a:solidFill>
                  <a:srgbClr val="C49A2C"/>
                </a:solidFill>
                <a:latin typeface="Arial"/>
                <a:ea typeface="Arial"/>
                <a:cs typeface="Arial"/>
              </a:defRPr>
            </a:lvl4pPr>
            <a:lvl5pPr>
              <a:buNone/>
              <a:defRPr sz="1125" b="1">
                <a:solidFill>
                  <a:srgbClr val="C49A2C"/>
                </a:solidFill>
                <a:latin typeface="Arial"/>
                <a:ea typeface="Arial"/>
                <a:cs typeface="Arial"/>
              </a:defRPr>
            </a:lvl5pPr>
            <a:lvl6pPr>
              <a:buNone/>
              <a:defRPr sz="1125" b="1">
                <a:solidFill>
                  <a:srgbClr val="C49A2C"/>
                </a:solidFill>
                <a:latin typeface="Arial"/>
                <a:ea typeface="Arial"/>
                <a:cs typeface="Arial"/>
              </a:defRPr>
            </a:lvl6pPr>
            <a:lvl7pPr>
              <a:buNone/>
              <a:defRPr sz="1125" b="1">
                <a:solidFill>
                  <a:srgbClr val="C49A2C"/>
                </a:solidFill>
                <a:latin typeface="Arial"/>
                <a:ea typeface="Arial"/>
                <a:cs typeface="Arial"/>
              </a:defRPr>
            </a:lvl7pPr>
            <a:lvl8pPr>
              <a:buNone/>
              <a:defRPr sz="1125" b="1">
                <a:solidFill>
                  <a:srgbClr val="C49A2C"/>
                </a:solidFill>
                <a:latin typeface="Arial"/>
                <a:ea typeface="Arial"/>
                <a:cs typeface="Arial"/>
              </a:defRPr>
            </a:lvl8pPr>
            <a:lvl9pPr>
              <a:buNone/>
              <a:defRPr sz="1125" b="1">
                <a:solidFill>
                  <a:srgbClr val="C49A2C"/>
                </a:solidFill>
                <a:latin typeface="Arial"/>
                <a:ea typeface="Arial"/>
                <a:cs typeface="Arial"/>
              </a:defRPr>
            </a:lvl9pPr>
          </a:lstStyle>
          <a:p xmlns:a="http://schemas.openxmlformats.org/drawingml/2006/main">
            <a:pPr>
              <a:buNone/>
              <a:defRPr sz="1125" b="1">
                <a:solidFill>
                  <a:srgbClr val="C49A2C"/>
                </a:solidFill>
                <a:latin typeface="Arial"/>
                <a:ea typeface="Arial"/>
                <a:cs typeface="Arial"/>
              </a:defRPr>
            </a:pPr>
            <a:r>
              <a:rPr sz="1125" b="1">
                <a:solidFill>
                  <a:srgbClr val="C49A2C"/>
                </a:solidFill>
                <a:latin typeface="Arial"/>
                <a:ea typeface="Arial"/>
                <a:cs typeface="Arial"/>
              </a:rPr>
              <a:t>14 TASKS IN THREE COMPLEMENTARY TRACKS</a:t>
            </a:r>
          </a:p>
        </p:txBody>
      </p:sp>
      <p:sp>
        <p:nvSpPr>
          <p:cNvPr id="4" name="矩形 3">
            <a:extLst xmlns:a="http://schemas.openxmlformats.org/drawingml/2006/main">
              <a:ext uri="{FF2B5EF4-FFF2-40B4-BE49-F238E27FC236}">
                <a16:creationId xmlns:a16="http://schemas.microsoft.com/office/drawing/2014/main" id="{4A649897-7383-4A89-90B8-790AEFE0E312}"/>
              </a:ext>
            </a:extLst>
          </p:cNvPr>
          <p:cNvSpPr>
            <a:spLocks xmlns:a="http://schemas.openxmlformats.org/drawingml/2006/main" noGrp="1"/>
          </p:cNvSpPr>
          <p:nvPr/>
        </p:nvSpPr>
        <p:spPr>
          <a:xfrm xmlns:a="http://schemas.openxmlformats.org/drawingml/2006/main">
            <a:off x="685800" y="169545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950" b="1">
                <a:solidFill>
                  <a:srgbClr val="9E1B32"/>
                </a:solidFill>
                <a:latin typeface="Arial"/>
                <a:ea typeface="Arial"/>
                <a:cs typeface="Arial"/>
              </a:defRPr>
            </a:defPPr>
            <a:lvl1pPr>
              <a:buNone/>
              <a:defRPr sz="4950" b="1">
                <a:solidFill>
                  <a:srgbClr val="9E1B32"/>
                </a:solidFill>
                <a:latin typeface="Arial"/>
                <a:ea typeface="Arial"/>
                <a:cs typeface="Arial"/>
              </a:defRPr>
            </a:lvl1pPr>
            <a:lvl2pPr>
              <a:buNone/>
              <a:defRPr sz="4950" b="1">
                <a:solidFill>
                  <a:srgbClr val="9E1B32"/>
                </a:solidFill>
                <a:latin typeface="Arial"/>
                <a:ea typeface="Arial"/>
                <a:cs typeface="Arial"/>
              </a:defRPr>
            </a:lvl2pPr>
            <a:lvl3pPr>
              <a:buNone/>
              <a:defRPr sz="4950" b="1">
                <a:solidFill>
                  <a:srgbClr val="9E1B32"/>
                </a:solidFill>
                <a:latin typeface="Arial"/>
                <a:ea typeface="Arial"/>
                <a:cs typeface="Arial"/>
              </a:defRPr>
            </a:lvl3pPr>
            <a:lvl4pPr>
              <a:buNone/>
              <a:defRPr sz="4950" b="1">
                <a:solidFill>
                  <a:srgbClr val="9E1B32"/>
                </a:solidFill>
                <a:latin typeface="Arial"/>
                <a:ea typeface="Arial"/>
                <a:cs typeface="Arial"/>
              </a:defRPr>
            </a:lvl4pPr>
            <a:lvl5pPr>
              <a:buNone/>
              <a:defRPr sz="4950" b="1">
                <a:solidFill>
                  <a:srgbClr val="9E1B32"/>
                </a:solidFill>
                <a:latin typeface="Arial"/>
                <a:ea typeface="Arial"/>
                <a:cs typeface="Arial"/>
              </a:defRPr>
            </a:lvl5pPr>
            <a:lvl6pPr>
              <a:buNone/>
              <a:defRPr sz="4950" b="1">
                <a:solidFill>
                  <a:srgbClr val="9E1B32"/>
                </a:solidFill>
                <a:latin typeface="Arial"/>
                <a:ea typeface="Arial"/>
                <a:cs typeface="Arial"/>
              </a:defRPr>
            </a:lvl6pPr>
            <a:lvl7pPr>
              <a:buNone/>
              <a:defRPr sz="4950" b="1">
                <a:solidFill>
                  <a:srgbClr val="9E1B32"/>
                </a:solidFill>
                <a:latin typeface="Arial"/>
                <a:ea typeface="Arial"/>
                <a:cs typeface="Arial"/>
              </a:defRPr>
            </a:lvl7pPr>
            <a:lvl8pPr>
              <a:buNone/>
              <a:defRPr sz="4950" b="1">
                <a:solidFill>
                  <a:srgbClr val="9E1B32"/>
                </a:solidFill>
                <a:latin typeface="Arial"/>
                <a:ea typeface="Arial"/>
                <a:cs typeface="Arial"/>
              </a:defRPr>
            </a:lvl8pPr>
            <a:lvl9pPr>
              <a:buNone/>
              <a:defRPr sz="4950" b="1">
                <a:solidFill>
                  <a:srgbClr val="9E1B32"/>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NLU </a:t>
            </a:r>
            <a:endParaRPr sz="4000" b="1">
              <a:solidFill>
                <a:srgbClr val="9E1B32"/>
              </a:solidFill>
              <a:latin typeface="Arial"/>
              <a:ea typeface="Arial"/>
              <a:cs typeface="Arial"/>
            </a:endParaRPr>
          </a:p>
        </p:txBody>
      </p:sp>
      <p:sp>
        <p:nvSpPr>
          <p:cNvPr id="5" name="矩形 4">
            <a:extLst xmlns:a="http://schemas.openxmlformats.org/drawingml/2006/main">
              <a:ext uri="{FF2B5EF4-FFF2-40B4-BE49-F238E27FC236}">
                <a16:creationId xmlns:a16="http://schemas.microsoft.com/office/drawing/2014/main" id="{477AAA3E-F043-4D63-929C-A4D782AAD594}"/>
              </a:ext>
            </a:extLst>
          </p:cNvPr>
          <p:cNvSpPr>
            <a:spLocks xmlns:a="http://schemas.openxmlformats.org/drawingml/2006/main" noGrp="1"/>
          </p:cNvSpPr>
          <p:nvPr/>
        </p:nvSpPr>
        <p:spPr>
          <a:xfrm xmlns:a="http://schemas.openxmlformats.org/drawingml/2006/main">
            <a:off x="685799" y="2878315"/>
            <a:ext cx="34385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2400"/>
              <a:t>Syntactic and semantic understanding</a:t>
            </a:r>
            <a:endParaRPr sz="2400" b="1">
              <a:solidFill>
                <a:srgbClr val="20242A"/>
              </a:solidFill>
              <a:latin typeface="Arial"/>
              <a:ea typeface="Arial"/>
              <a:cs typeface="Arial"/>
            </a:endParaRPr>
          </a:p>
        </p:txBody>
      </p:sp>
      <p:sp>
        <p:nvSpPr>
          <p:cNvPr id="7" name="矩形 6">
            <a:extLst xmlns:a="http://schemas.openxmlformats.org/drawingml/2006/main">
              <a:ext uri="{FF2B5EF4-FFF2-40B4-BE49-F238E27FC236}">
                <a16:creationId xmlns:a16="http://schemas.microsoft.com/office/drawing/2014/main" id="{AC4678A9-EA1B-465C-8CAD-CE7AC135647A}"/>
              </a:ext>
            </a:extLst>
          </p:cNvPr>
          <p:cNvSpPr>
            <a:spLocks xmlns:a="http://schemas.openxmlformats.org/drawingml/2006/main" noGrp="1"/>
          </p:cNvSpPr>
          <p:nvPr/>
        </p:nvSpPr>
        <p:spPr>
          <a:xfrm xmlns:a="http://schemas.openxmlformats.org/drawingml/2006/main">
            <a:off x="685800" y="4686929"/>
            <a:ext cx="295275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9" name="矩形 8">
            <a:extLst xmlns:a="http://schemas.openxmlformats.org/drawingml/2006/main">
              <a:ext uri="{FF2B5EF4-FFF2-40B4-BE49-F238E27FC236}">
                <a16:creationId xmlns:a16="http://schemas.microsoft.com/office/drawing/2014/main" id="{10EF365B-CFFE-4C14-BD8B-B49DF9D48000}"/>
              </a:ext>
            </a:extLst>
          </p:cNvPr>
          <p:cNvSpPr>
            <a:spLocks xmlns:a="http://schemas.openxmlformats.org/drawingml/2006/main" noGrp="1"/>
          </p:cNvSpPr>
          <p:nvPr/>
        </p:nvSpPr>
        <p:spPr>
          <a:xfrm xmlns:a="http://schemas.openxmlformats.org/drawingml/2006/main">
            <a:off x="4346396" y="1809750"/>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3A1B5F54-9DEA-45BB-BBC6-D13CD0B2A6CF}"/>
              </a:ext>
            </a:extLst>
          </p:cNvPr>
          <p:cNvSpPr>
            <a:spLocks xmlns:a="http://schemas.openxmlformats.org/drawingml/2006/main" noGrp="1"/>
          </p:cNvSpPr>
          <p:nvPr/>
        </p:nvSpPr>
        <p:spPr>
          <a:xfrm xmlns:a="http://schemas.openxmlformats.org/drawingml/2006/main">
            <a:off x="4584521" y="169545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950" b="1">
                <a:solidFill>
                  <a:srgbClr val="9E1B32"/>
                </a:solidFill>
                <a:latin typeface="Arial"/>
                <a:ea typeface="Arial"/>
                <a:cs typeface="Arial"/>
              </a:defRPr>
            </a:defPPr>
            <a:lvl1pPr>
              <a:buNone/>
              <a:defRPr sz="4950" b="1">
                <a:solidFill>
                  <a:srgbClr val="9E1B32"/>
                </a:solidFill>
                <a:latin typeface="Arial"/>
                <a:ea typeface="Arial"/>
                <a:cs typeface="Arial"/>
              </a:defRPr>
            </a:lvl1pPr>
            <a:lvl2pPr>
              <a:buNone/>
              <a:defRPr sz="4950" b="1">
                <a:solidFill>
                  <a:srgbClr val="9E1B32"/>
                </a:solidFill>
                <a:latin typeface="Arial"/>
                <a:ea typeface="Arial"/>
                <a:cs typeface="Arial"/>
              </a:defRPr>
            </a:lvl2pPr>
            <a:lvl3pPr>
              <a:buNone/>
              <a:defRPr sz="4950" b="1">
                <a:solidFill>
                  <a:srgbClr val="9E1B32"/>
                </a:solidFill>
                <a:latin typeface="Arial"/>
                <a:ea typeface="Arial"/>
                <a:cs typeface="Arial"/>
              </a:defRPr>
            </a:lvl3pPr>
            <a:lvl4pPr>
              <a:buNone/>
              <a:defRPr sz="4950" b="1">
                <a:solidFill>
                  <a:srgbClr val="9E1B32"/>
                </a:solidFill>
                <a:latin typeface="Arial"/>
                <a:ea typeface="Arial"/>
                <a:cs typeface="Arial"/>
              </a:defRPr>
            </a:lvl4pPr>
            <a:lvl5pPr>
              <a:buNone/>
              <a:defRPr sz="4950" b="1">
                <a:solidFill>
                  <a:srgbClr val="9E1B32"/>
                </a:solidFill>
                <a:latin typeface="Arial"/>
                <a:ea typeface="Arial"/>
                <a:cs typeface="Arial"/>
              </a:defRPr>
            </a:lvl5pPr>
            <a:lvl6pPr>
              <a:buNone/>
              <a:defRPr sz="4950" b="1">
                <a:solidFill>
                  <a:srgbClr val="9E1B32"/>
                </a:solidFill>
                <a:latin typeface="Arial"/>
                <a:ea typeface="Arial"/>
                <a:cs typeface="Arial"/>
              </a:defRPr>
            </a:lvl6pPr>
            <a:lvl7pPr>
              <a:buNone/>
              <a:defRPr sz="4950" b="1">
                <a:solidFill>
                  <a:srgbClr val="9E1B32"/>
                </a:solidFill>
                <a:latin typeface="Arial"/>
                <a:ea typeface="Arial"/>
                <a:cs typeface="Arial"/>
              </a:defRPr>
            </a:lvl7pPr>
            <a:lvl8pPr>
              <a:buNone/>
              <a:defRPr sz="4950" b="1">
                <a:solidFill>
                  <a:srgbClr val="9E1B32"/>
                </a:solidFill>
                <a:latin typeface="Arial"/>
                <a:ea typeface="Arial"/>
                <a:cs typeface="Arial"/>
              </a:defRPr>
            </a:lvl8pPr>
            <a:lvl9pPr>
              <a:buNone/>
              <a:defRPr sz="4950" b="1">
                <a:solidFill>
                  <a:srgbClr val="9E1B32"/>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2800"/>
              <a:t>Cognitive Modeling Track</a:t>
            </a:r>
          </a:p>
          <a:p xmlns:a="http://schemas.openxmlformats.org/drawingml/2006/main">
            <a:pPr>
              <a:buNone/>
              <a:defRPr sz="4950" b="1">
                <a:solidFill>
                  <a:srgbClr val="9E1B32"/>
                </a:solidFill>
                <a:latin typeface="Arial"/>
                <a:ea typeface="Arial"/>
                <a:cs typeface="Arial"/>
              </a:defRPr>
            </a:pPr>
            <a:endParaRPr sz="2800" b="1">
              <a:solidFill>
                <a:srgbClr val="9E1B32"/>
              </a:solidFill>
              <a:latin typeface="Arial"/>
              <a:ea typeface="Arial"/>
              <a:cs typeface="Arial"/>
            </a:endParaRPr>
          </a:p>
        </p:txBody>
      </p:sp>
      <p:sp>
        <p:nvSpPr>
          <p:cNvPr id="11" name="矩形 10">
            <a:extLst xmlns:a="http://schemas.openxmlformats.org/drawingml/2006/main">
              <a:ext uri="{FF2B5EF4-FFF2-40B4-BE49-F238E27FC236}">
                <a16:creationId xmlns:a16="http://schemas.microsoft.com/office/drawing/2014/main" id="{6DBB9FCE-9A4D-4EED-92AE-45C6843DAB40}"/>
              </a:ext>
            </a:extLst>
          </p:cNvPr>
          <p:cNvSpPr>
            <a:spLocks xmlns:a="http://schemas.openxmlformats.org/drawingml/2006/main" noGrp="1"/>
          </p:cNvSpPr>
          <p:nvPr/>
        </p:nvSpPr>
        <p:spPr>
          <a:xfrm xmlns:a="http://schemas.openxmlformats.org/drawingml/2006/main">
            <a:off x="4584521" y="2878315"/>
            <a:ext cx="3376206"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2400"/>
              <a:t>Alignment between human language representation and model representation</a:t>
            </a:r>
            <a:endParaRPr sz="2400">
              <a:solidFill>
                <a:srgbClr val="20242A"/>
              </a:solidFill>
              <a:latin typeface="Arial"/>
              <a:ea typeface="Arial"/>
              <a:cs typeface="Arial"/>
            </a:endParaRPr>
          </a:p>
        </p:txBody>
      </p:sp>
      <p:sp>
        <p:nvSpPr>
          <p:cNvPr id="13" name="矩形 12">
            <a:extLst xmlns:a="http://schemas.openxmlformats.org/drawingml/2006/main">
              <a:ext uri="{FF2B5EF4-FFF2-40B4-BE49-F238E27FC236}">
                <a16:creationId xmlns:a16="http://schemas.microsoft.com/office/drawing/2014/main" id="{0ED1CD89-1E9A-4159-A88A-1F1A8714F805}"/>
              </a:ext>
            </a:extLst>
          </p:cNvPr>
          <p:cNvSpPr>
            <a:spLocks xmlns:a="http://schemas.openxmlformats.org/drawingml/2006/main" noGrp="1"/>
          </p:cNvSpPr>
          <p:nvPr/>
        </p:nvSpPr>
        <p:spPr>
          <a:xfrm xmlns:a="http://schemas.openxmlformats.org/drawingml/2006/main">
            <a:off x="4584521" y="4713052"/>
            <a:ext cx="295275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5" name="矩形 14">
            <a:extLst xmlns:a="http://schemas.openxmlformats.org/drawingml/2006/main">
              <a:ext uri="{FF2B5EF4-FFF2-40B4-BE49-F238E27FC236}">
                <a16:creationId xmlns:a16="http://schemas.microsoft.com/office/drawing/2014/main" id="{7E69D42E-FCB0-4E63-A65F-14387A15D38F}"/>
              </a:ext>
            </a:extLst>
          </p:cNvPr>
          <p:cNvSpPr>
            <a:spLocks xmlns:a="http://schemas.openxmlformats.org/drawingml/2006/main" noGrp="1"/>
          </p:cNvSpPr>
          <p:nvPr/>
        </p:nvSpPr>
        <p:spPr>
          <a:xfrm xmlns:a="http://schemas.openxmlformats.org/drawingml/2006/main">
            <a:off x="8179802" y="1809750"/>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609D740C-ADC1-4F14-8A44-C5C63A054B76}"/>
              </a:ext>
            </a:extLst>
          </p:cNvPr>
          <p:cNvSpPr>
            <a:spLocks xmlns:a="http://schemas.openxmlformats.org/drawingml/2006/main" noGrp="1"/>
          </p:cNvSpPr>
          <p:nvPr/>
        </p:nvSpPr>
        <p:spPr>
          <a:xfrm xmlns:a="http://schemas.openxmlformats.org/drawingml/2006/main">
            <a:off x="8417927" y="169545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950" b="1">
                <a:solidFill>
                  <a:srgbClr val="9E1B32"/>
                </a:solidFill>
                <a:latin typeface="Arial"/>
                <a:ea typeface="Arial"/>
                <a:cs typeface="Arial"/>
              </a:defRPr>
            </a:defPPr>
            <a:lvl1pPr>
              <a:buNone/>
              <a:defRPr sz="4950" b="1">
                <a:solidFill>
                  <a:srgbClr val="9E1B32"/>
                </a:solidFill>
                <a:latin typeface="Arial"/>
                <a:ea typeface="Arial"/>
                <a:cs typeface="Arial"/>
              </a:defRPr>
            </a:lvl1pPr>
            <a:lvl2pPr>
              <a:buNone/>
              <a:defRPr sz="4950" b="1">
                <a:solidFill>
                  <a:srgbClr val="9E1B32"/>
                </a:solidFill>
                <a:latin typeface="Arial"/>
                <a:ea typeface="Arial"/>
                <a:cs typeface="Arial"/>
              </a:defRPr>
            </a:lvl2pPr>
            <a:lvl3pPr>
              <a:buNone/>
              <a:defRPr sz="4950" b="1">
                <a:solidFill>
                  <a:srgbClr val="9E1B32"/>
                </a:solidFill>
                <a:latin typeface="Arial"/>
                <a:ea typeface="Arial"/>
                <a:cs typeface="Arial"/>
              </a:defRPr>
            </a:lvl3pPr>
            <a:lvl4pPr>
              <a:buNone/>
              <a:defRPr sz="4950" b="1">
                <a:solidFill>
                  <a:srgbClr val="9E1B32"/>
                </a:solidFill>
                <a:latin typeface="Arial"/>
                <a:ea typeface="Arial"/>
                <a:cs typeface="Arial"/>
              </a:defRPr>
            </a:lvl4pPr>
            <a:lvl5pPr>
              <a:buNone/>
              <a:defRPr sz="4950" b="1">
                <a:solidFill>
                  <a:srgbClr val="9E1B32"/>
                </a:solidFill>
                <a:latin typeface="Arial"/>
                <a:ea typeface="Arial"/>
                <a:cs typeface="Arial"/>
              </a:defRPr>
            </a:lvl5pPr>
            <a:lvl6pPr>
              <a:buNone/>
              <a:defRPr sz="4950" b="1">
                <a:solidFill>
                  <a:srgbClr val="9E1B32"/>
                </a:solidFill>
                <a:latin typeface="Arial"/>
                <a:ea typeface="Arial"/>
                <a:cs typeface="Arial"/>
              </a:defRPr>
            </a:lvl6pPr>
            <a:lvl7pPr>
              <a:buNone/>
              <a:defRPr sz="4950" b="1">
                <a:solidFill>
                  <a:srgbClr val="9E1B32"/>
                </a:solidFill>
                <a:latin typeface="Arial"/>
                <a:ea typeface="Arial"/>
                <a:cs typeface="Arial"/>
              </a:defRPr>
            </a:lvl7pPr>
            <a:lvl8pPr>
              <a:buNone/>
              <a:defRPr sz="4950" b="1">
                <a:solidFill>
                  <a:srgbClr val="9E1B32"/>
                </a:solidFill>
                <a:latin typeface="Arial"/>
                <a:ea typeface="Arial"/>
                <a:cs typeface="Arial"/>
              </a:defRPr>
            </a:lvl8pPr>
            <a:lvl9pPr>
              <a:buNone/>
              <a:defRPr sz="4950" b="1">
                <a:solidFill>
                  <a:srgbClr val="9E1B32"/>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HANZI </a:t>
            </a:r>
          </a:p>
          <a:p xmlns:a="http://schemas.openxmlformats.org/drawingml/2006/main">
            <a:pPr>
              <a:buNone/>
              <a:defRPr sz="4950" b="1">
                <a:solidFill>
                  <a:srgbClr val="9E1B32"/>
                </a:solidFill>
                <a:latin typeface="Arial"/>
                <a:ea typeface="Arial"/>
                <a:cs typeface="Arial"/>
              </a:defRPr>
            </a:pPr>
            <a:endParaRPr sz="4000" b="1">
              <a:solidFill>
                <a:srgbClr val="9E1B32"/>
              </a:solidFill>
              <a:latin typeface="Arial"/>
              <a:ea typeface="Arial"/>
              <a:cs typeface="Arial"/>
            </a:endParaRPr>
          </a:p>
        </p:txBody>
      </p:sp>
      <p:sp>
        <p:nvSpPr>
          <p:cNvPr id="17" name="矩形 16">
            <a:extLst xmlns:a="http://schemas.openxmlformats.org/drawingml/2006/main">
              <a:ext uri="{FF2B5EF4-FFF2-40B4-BE49-F238E27FC236}">
                <a16:creationId xmlns:a16="http://schemas.microsoft.com/office/drawing/2014/main" id="{8F35418C-2353-4F63-8FD3-B2F2111F4F7E}"/>
              </a:ext>
            </a:extLst>
          </p:cNvPr>
          <p:cNvSpPr>
            <a:spLocks xmlns:a="http://schemas.openxmlformats.org/drawingml/2006/main" noGrp="1"/>
          </p:cNvSpPr>
          <p:nvPr/>
        </p:nvSpPr>
        <p:spPr>
          <a:xfrm xmlns:a="http://schemas.openxmlformats.org/drawingml/2006/main">
            <a:off x="8417927" y="287831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2400" b="1">
                <a:solidFill>
                  <a:srgbClr val="20242A"/>
                </a:solidFill>
                <a:latin typeface="Arial"/>
                <a:ea typeface="Arial"/>
                <a:cs typeface="Arial"/>
              </a:rPr>
              <a:t>Chinese writing system knowledge</a:t>
            </a:r>
            <a:endParaRPr sz="2400" b="1">
              <a:solidFill>
                <a:srgbClr val="20242A"/>
              </a:solidFill>
              <a:latin typeface="Arial"/>
              <a:ea typeface="Arial"/>
              <a:cs typeface="Arial"/>
            </a:endParaRPr>
          </a:p>
        </p:txBody>
      </p:sp>
      <p:sp>
        <p:nvSpPr>
          <p:cNvPr id="19" name="矩形 18">
            <a:extLst xmlns:a="http://schemas.openxmlformats.org/drawingml/2006/main">
              <a:ext uri="{FF2B5EF4-FFF2-40B4-BE49-F238E27FC236}">
                <a16:creationId xmlns:a16="http://schemas.microsoft.com/office/drawing/2014/main" id="{DBD03E9C-CA00-4CF3-B503-4B47624B91F4}"/>
              </a:ext>
            </a:extLst>
          </p:cNvPr>
          <p:cNvSpPr>
            <a:spLocks xmlns:a="http://schemas.openxmlformats.org/drawingml/2006/main" noGrp="1"/>
          </p:cNvSpPr>
          <p:nvPr/>
        </p:nvSpPr>
        <p:spPr>
          <a:xfrm xmlns:a="http://schemas.openxmlformats.org/drawingml/2006/main">
            <a:off x="8417927" y="4732505"/>
            <a:ext cx="295275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25" name="slide-4-footer-label">
            <a:extLst xmlns:a="http://schemas.openxmlformats.org/drawingml/2006/main">
              <a:ext uri="{FF2B5EF4-FFF2-40B4-BE49-F238E27FC236}">
                <a16:creationId xmlns:a16="http://schemas.microsoft.com/office/drawing/2014/main" id="{4C13F1E4-67A4-4B01-8698-631EE193F524}"/>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6" name="slide-4-footer-number">
            <a:extLst xmlns:a="http://schemas.openxmlformats.org/drawingml/2006/main">
              <a:ext uri="{FF2B5EF4-FFF2-40B4-BE49-F238E27FC236}">
                <a16:creationId xmlns:a16="http://schemas.microsoft.com/office/drawing/2014/main" id="{F99695F2-4C5C-4675-B114-4511F4DF668C}"/>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t>3</a:t>
            </a:r>
            <a:endParaRPr sz="1050" b="1">
              <a:solidFill>
                <a:srgbClr val="9E1B32"/>
              </a:solidFill>
              <a:latin typeface="Arial"/>
              <a:ea typeface="Arial"/>
              <a:cs typeface="Arial"/>
            </a:endParaRPr>
          </a:p>
        </p:txBody>
      </p:sp>
      <p:sp>
        <p:nvSpPr>
          <p:cNvPr id="33" name="evaluation-protocol-strip">
            <a:extLst xmlns:a="http://schemas.openxmlformats.org/drawingml/2006/main">
              <a:ext uri="{FF2B5EF4-FFF2-40B4-BE49-F238E27FC236}">
                <a16:creationId xmlns:a16="http://schemas.microsoft.com/office/drawing/2014/main" id="{1AF6C084-069F-48B0-85EB-683C9603B75C}"/>
              </a:ext>
            </a:extLst>
          </p:cNvPr>
          <p:cNvSpPr>
            <a:spLocks xmlns:a="http://schemas.openxmlformats.org/drawingml/2006/main" noGrp="1"/>
          </p:cNvSpPr>
          <p:nvPr/>
        </p:nvSpPr>
        <p:spPr>
          <a:xfrm xmlns:a="http://schemas.openxmlformats.org/drawingml/2006/main">
            <a:off x="685800" y="5457825"/>
            <a:ext cx="10820400" cy="685800"/>
          </a:xfrm>
          <a:prstGeom xmlns:a="http://schemas.openxmlformats.org/drawingml/2006/main" prst="rect">
            <a:avLst/>
          </a:prstGeom>
          <a:solidFill xmlns:a="http://schemas.openxmlformats.org/drawingml/2006/main">
            <a:srgbClr val="F4F3F0"/>
          </a:solidFill>
          <a:ln xmlns:a="http://schemas.openxmlformats.org/drawingml/2006/main" w="0">
            <a:noFill/>
            <a:prstDash val="solid"/>
          </a:ln>
        </p:spPr>
      </p:sp>
      <p:sp>
        <p:nvSpPr>
          <p:cNvPr id="34" name="矩形 33">
            <a:extLst xmlns:a="http://schemas.openxmlformats.org/drawingml/2006/main">
              <a:ext uri="{FF2B5EF4-FFF2-40B4-BE49-F238E27FC236}">
                <a16:creationId xmlns:a16="http://schemas.microsoft.com/office/drawing/2014/main" id="{F80FCF59-FF9D-47F3-8DC3-4469BD203BF5}"/>
              </a:ext>
            </a:extLst>
          </p:cNvPr>
          <p:cNvSpPr>
            <a:spLocks xmlns:a="http://schemas.openxmlformats.org/drawingml/2006/main" noGrp="1"/>
          </p:cNvSpPr>
          <p:nvPr/>
        </p:nvSpPr>
        <p:spPr>
          <a:xfrm xmlns:a="http://schemas.openxmlformats.org/drawingml/2006/main">
            <a:off x="971550" y="56197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233342"/>
                </a:solidFill>
                <a:latin typeface="Arial"/>
                <a:ea typeface="Arial"/>
                <a:cs typeface="Arial"/>
              </a:defRPr>
            </a:defPPr>
            <a:lvl1pPr algn="ctr">
              <a:buNone/>
              <a:defRPr sz="1425" b="1">
                <a:solidFill>
                  <a:srgbClr val="233342"/>
                </a:solidFill>
                <a:latin typeface="Arial"/>
                <a:ea typeface="Arial"/>
                <a:cs typeface="Arial"/>
              </a:defRPr>
            </a:lvl1pPr>
            <a:lvl2pPr algn="ctr">
              <a:buNone/>
              <a:defRPr sz="1425" b="1">
                <a:solidFill>
                  <a:srgbClr val="233342"/>
                </a:solidFill>
                <a:latin typeface="Arial"/>
                <a:ea typeface="Arial"/>
                <a:cs typeface="Arial"/>
              </a:defRPr>
            </a:lvl2pPr>
            <a:lvl3pPr algn="ctr">
              <a:buNone/>
              <a:defRPr sz="1425" b="1">
                <a:solidFill>
                  <a:srgbClr val="233342"/>
                </a:solidFill>
                <a:latin typeface="Arial"/>
                <a:ea typeface="Arial"/>
                <a:cs typeface="Arial"/>
              </a:defRPr>
            </a:lvl3pPr>
            <a:lvl4pPr algn="ctr">
              <a:buNone/>
              <a:defRPr sz="1425" b="1">
                <a:solidFill>
                  <a:srgbClr val="233342"/>
                </a:solidFill>
                <a:latin typeface="Arial"/>
                <a:ea typeface="Arial"/>
                <a:cs typeface="Arial"/>
              </a:defRPr>
            </a:lvl4pPr>
            <a:lvl5pPr algn="ctr">
              <a:buNone/>
              <a:defRPr sz="1425" b="1">
                <a:solidFill>
                  <a:srgbClr val="233342"/>
                </a:solidFill>
                <a:latin typeface="Arial"/>
                <a:ea typeface="Arial"/>
                <a:cs typeface="Arial"/>
              </a:defRPr>
            </a:lvl5pPr>
            <a:lvl6pPr algn="ctr">
              <a:buNone/>
              <a:defRPr sz="1425" b="1">
                <a:solidFill>
                  <a:srgbClr val="233342"/>
                </a:solidFill>
                <a:latin typeface="Arial"/>
                <a:ea typeface="Arial"/>
                <a:cs typeface="Arial"/>
              </a:defRPr>
            </a:lvl6pPr>
            <a:lvl7pPr algn="ctr">
              <a:buNone/>
              <a:defRPr sz="1425" b="1">
                <a:solidFill>
                  <a:srgbClr val="233342"/>
                </a:solidFill>
                <a:latin typeface="Arial"/>
                <a:ea typeface="Arial"/>
                <a:cs typeface="Arial"/>
              </a:defRPr>
            </a:lvl7pPr>
            <a:lvl8pPr algn="ctr">
              <a:buNone/>
              <a:defRPr sz="1425" b="1">
                <a:solidFill>
                  <a:srgbClr val="233342"/>
                </a:solidFill>
                <a:latin typeface="Arial"/>
                <a:ea typeface="Arial"/>
                <a:cs typeface="Arial"/>
              </a:defRPr>
            </a:lvl8pPr>
            <a:lvl9pPr algn="ctr">
              <a:buNone/>
              <a:defRPr sz="1425" b="1">
                <a:solidFill>
                  <a:srgbClr val="233342"/>
                </a:solidFill>
                <a:latin typeface="Arial"/>
                <a:ea typeface="Arial"/>
                <a:cs typeface="Arial"/>
              </a:defRPr>
            </a:lvl9pPr>
          </a:lstStyle>
          <a:p xmlns:a="http://schemas.openxmlformats.org/drawingml/2006/main">
            <a:pPr algn="ctr">
              <a:buNone/>
              <a:defRPr sz="1425" b="1">
                <a:solidFill>
                  <a:srgbClr val="233342"/>
                </a:solidFill>
                <a:latin typeface="Arial"/>
                <a:ea typeface="Arial"/>
                <a:cs typeface="Arial"/>
              </a:defRPr>
            </a:pPr>
            <a:r>
              <a:rPr sz="1600" b="1">
                <a:solidFill>
                  <a:srgbClr val="233342"/>
                </a:solidFill>
                <a:latin typeface="Arial"/>
                <a:ea typeface="Arial"/>
                <a:cs typeface="Arial"/>
              </a:rPr>
              <a:t>OPEN DEVELOPMENT TASKS</a:t>
            </a:r>
          </a:p>
        </p:txBody>
      </p:sp>
      <p:sp>
        <p:nvSpPr>
          <p:cNvPr id="35" name="矩形 34">
            <a:extLst xmlns:a="http://schemas.openxmlformats.org/drawingml/2006/main">
              <a:ext uri="{FF2B5EF4-FFF2-40B4-BE49-F238E27FC236}">
                <a16:creationId xmlns:a16="http://schemas.microsoft.com/office/drawing/2014/main" id="{01B01869-0B50-4A70-B9FB-55936CB93057}"/>
              </a:ext>
            </a:extLst>
          </p:cNvPr>
          <p:cNvSpPr>
            <a:spLocks xmlns:a="http://schemas.openxmlformats.org/drawingml/2006/main" noGrp="1"/>
          </p:cNvSpPr>
          <p:nvPr/>
        </p:nvSpPr>
        <p:spPr>
          <a:xfrm xmlns:a="http://schemas.openxmlformats.org/drawingml/2006/main">
            <a:off x="5810250" y="56197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800" b="1">
                <a:solidFill>
                  <a:srgbClr val="C49A2C"/>
                </a:solidFill>
                <a:latin typeface="Arial"/>
                <a:ea typeface="Arial"/>
                <a:cs typeface="Arial"/>
              </a:defRPr>
            </a:defPPr>
            <a:lvl1pPr algn="ctr">
              <a:buNone/>
              <a:defRPr sz="1800" b="1">
                <a:solidFill>
                  <a:srgbClr val="C49A2C"/>
                </a:solidFill>
                <a:latin typeface="Arial"/>
                <a:ea typeface="Arial"/>
                <a:cs typeface="Arial"/>
              </a:defRPr>
            </a:lvl1pPr>
            <a:lvl2pPr algn="ctr">
              <a:buNone/>
              <a:defRPr sz="1800" b="1">
                <a:solidFill>
                  <a:srgbClr val="C49A2C"/>
                </a:solidFill>
                <a:latin typeface="Arial"/>
                <a:ea typeface="Arial"/>
                <a:cs typeface="Arial"/>
              </a:defRPr>
            </a:lvl2pPr>
            <a:lvl3pPr algn="ctr">
              <a:buNone/>
              <a:defRPr sz="1800" b="1">
                <a:solidFill>
                  <a:srgbClr val="C49A2C"/>
                </a:solidFill>
                <a:latin typeface="Arial"/>
                <a:ea typeface="Arial"/>
                <a:cs typeface="Arial"/>
              </a:defRPr>
            </a:lvl3pPr>
            <a:lvl4pPr algn="ctr">
              <a:buNone/>
              <a:defRPr sz="1800" b="1">
                <a:solidFill>
                  <a:srgbClr val="C49A2C"/>
                </a:solidFill>
                <a:latin typeface="Arial"/>
                <a:ea typeface="Arial"/>
                <a:cs typeface="Arial"/>
              </a:defRPr>
            </a:lvl4pPr>
            <a:lvl5pPr algn="ctr">
              <a:buNone/>
              <a:defRPr sz="1800" b="1">
                <a:solidFill>
                  <a:srgbClr val="C49A2C"/>
                </a:solidFill>
                <a:latin typeface="Arial"/>
                <a:ea typeface="Arial"/>
                <a:cs typeface="Arial"/>
              </a:defRPr>
            </a:lvl5pPr>
            <a:lvl6pPr algn="ctr">
              <a:buNone/>
              <a:defRPr sz="1800" b="1">
                <a:solidFill>
                  <a:srgbClr val="C49A2C"/>
                </a:solidFill>
                <a:latin typeface="Arial"/>
                <a:ea typeface="Arial"/>
                <a:cs typeface="Arial"/>
              </a:defRPr>
            </a:lvl6pPr>
            <a:lvl7pPr algn="ctr">
              <a:buNone/>
              <a:defRPr sz="1800" b="1">
                <a:solidFill>
                  <a:srgbClr val="C49A2C"/>
                </a:solidFill>
                <a:latin typeface="Arial"/>
                <a:ea typeface="Arial"/>
                <a:cs typeface="Arial"/>
              </a:defRPr>
            </a:lvl7pPr>
            <a:lvl8pPr algn="ctr">
              <a:buNone/>
              <a:defRPr sz="1800" b="1">
                <a:solidFill>
                  <a:srgbClr val="C49A2C"/>
                </a:solidFill>
                <a:latin typeface="Arial"/>
                <a:ea typeface="Arial"/>
                <a:cs typeface="Arial"/>
              </a:defRPr>
            </a:lvl8pPr>
            <a:lvl9pPr algn="ctr">
              <a:buNone/>
              <a:defRPr sz="1800" b="1">
                <a:solidFill>
                  <a:srgbClr val="C49A2C"/>
                </a:solidFill>
                <a:latin typeface="Arial"/>
                <a:ea typeface="Arial"/>
                <a:cs typeface="Arial"/>
              </a:defRPr>
            </a:lvl9pPr>
          </a:lstStyle>
          <a:p xmlns:a="http://schemas.openxmlformats.org/drawingml/2006/main">
            <a:pPr algn="ctr">
              <a:buNone/>
              <a:defRPr sz="1800" b="1">
                <a:solidFill>
                  <a:srgbClr val="C49A2C"/>
                </a:solidFill>
                <a:latin typeface="Arial"/>
                <a:ea typeface="Arial"/>
                <a:cs typeface="Arial"/>
              </a:defRPr>
            </a:pPr>
            <a:r>
              <a:rPr sz="1800" b="1">
                <a:solidFill>
                  <a:srgbClr val="C49A2C"/>
                </a:solidFill>
                <a:latin typeface="Arial"/>
                <a:ea typeface="Arial"/>
                <a:cs typeface="Arial"/>
              </a:rPr>
              <a:t>+</a:t>
            </a:r>
          </a:p>
        </p:txBody>
      </p:sp>
      <p:sp>
        <p:nvSpPr>
          <p:cNvPr id="36" name="矩形 35">
            <a:extLst xmlns:a="http://schemas.openxmlformats.org/drawingml/2006/main">
              <a:ext uri="{FF2B5EF4-FFF2-40B4-BE49-F238E27FC236}">
                <a16:creationId xmlns:a16="http://schemas.microsoft.com/office/drawing/2014/main" id="{3BFB9DFA-FDCA-484C-BE86-1DA98C49718A}"/>
              </a:ext>
            </a:extLst>
          </p:cNvPr>
          <p:cNvSpPr>
            <a:spLocks xmlns:a="http://schemas.openxmlformats.org/drawingml/2006/main" noGrp="1"/>
          </p:cNvSpPr>
          <p:nvPr/>
        </p:nvSpPr>
        <p:spPr>
          <a:xfrm xmlns:a="http://schemas.openxmlformats.org/drawingml/2006/main">
            <a:off x="7162800" y="5619750"/>
            <a:ext cx="3390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9E1B32"/>
                </a:solidFill>
                <a:latin typeface="Arial"/>
                <a:ea typeface="Arial"/>
                <a:cs typeface="Arial"/>
              </a:defRPr>
            </a:defPPr>
            <a:lvl1pPr algn="ctr">
              <a:buNone/>
              <a:defRPr sz="1425" b="1">
                <a:solidFill>
                  <a:srgbClr val="9E1B32"/>
                </a:solidFill>
                <a:latin typeface="Arial"/>
                <a:ea typeface="Arial"/>
                <a:cs typeface="Arial"/>
              </a:defRPr>
            </a:lvl1pPr>
            <a:lvl2pPr algn="ctr">
              <a:buNone/>
              <a:defRPr sz="1425" b="1">
                <a:solidFill>
                  <a:srgbClr val="9E1B32"/>
                </a:solidFill>
                <a:latin typeface="Arial"/>
                <a:ea typeface="Arial"/>
                <a:cs typeface="Arial"/>
              </a:defRPr>
            </a:lvl2pPr>
            <a:lvl3pPr algn="ctr">
              <a:buNone/>
              <a:defRPr sz="1425" b="1">
                <a:solidFill>
                  <a:srgbClr val="9E1B32"/>
                </a:solidFill>
                <a:latin typeface="Arial"/>
                <a:ea typeface="Arial"/>
                <a:cs typeface="Arial"/>
              </a:defRPr>
            </a:lvl3pPr>
            <a:lvl4pPr algn="ctr">
              <a:buNone/>
              <a:defRPr sz="1425" b="1">
                <a:solidFill>
                  <a:srgbClr val="9E1B32"/>
                </a:solidFill>
                <a:latin typeface="Arial"/>
                <a:ea typeface="Arial"/>
                <a:cs typeface="Arial"/>
              </a:defRPr>
            </a:lvl4pPr>
            <a:lvl5pPr algn="ctr">
              <a:buNone/>
              <a:defRPr sz="1425" b="1">
                <a:solidFill>
                  <a:srgbClr val="9E1B32"/>
                </a:solidFill>
                <a:latin typeface="Arial"/>
                <a:ea typeface="Arial"/>
                <a:cs typeface="Arial"/>
              </a:defRPr>
            </a:lvl5pPr>
            <a:lvl6pPr algn="ctr">
              <a:buNone/>
              <a:defRPr sz="1425" b="1">
                <a:solidFill>
                  <a:srgbClr val="9E1B32"/>
                </a:solidFill>
                <a:latin typeface="Arial"/>
                <a:ea typeface="Arial"/>
                <a:cs typeface="Arial"/>
              </a:defRPr>
            </a:lvl6pPr>
            <a:lvl7pPr algn="ctr">
              <a:buNone/>
              <a:defRPr sz="1425" b="1">
                <a:solidFill>
                  <a:srgbClr val="9E1B32"/>
                </a:solidFill>
                <a:latin typeface="Arial"/>
                <a:ea typeface="Arial"/>
                <a:cs typeface="Arial"/>
              </a:defRPr>
            </a:lvl7pPr>
            <a:lvl8pPr algn="ctr">
              <a:buNone/>
              <a:defRPr sz="1425" b="1">
                <a:solidFill>
                  <a:srgbClr val="9E1B32"/>
                </a:solidFill>
                <a:latin typeface="Arial"/>
                <a:ea typeface="Arial"/>
                <a:cs typeface="Arial"/>
              </a:defRPr>
            </a:lvl8pPr>
            <a:lvl9pPr algn="ctr">
              <a:buNone/>
              <a:defRPr sz="1425" b="1">
                <a:solidFill>
                  <a:srgbClr val="9E1B32"/>
                </a:solidFill>
                <a:latin typeface="Arial"/>
                <a:ea typeface="Arial"/>
                <a:cs typeface="Arial"/>
              </a:defRPr>
            </a:lvl9pPr>
          </a:lstStyle>
          <a:p xmlns:a="http://schemas.openxmlformats.org/drawingml/2006/main">
            <a:pPr algn="ctr">
              <a:buNone/>
              <a:defRPr sz="1425" b="1">
                <a:solidFill>
                  <a:srgbClr val="9E1B32"/>
                </a:solidFill>
                <a:latin typeface="Arial"/>
                <a:ea typeface="Arial"/>
                <a:cs typeface="Arial"/>
              </a:defRPr>
            </a:pPr>
            <a:r>
              <a:rPr sz="1600" b="1">
                <a:solidFill>
                  <a:srgbClr val="9E1B32"/>
                </a:solidFill>
                <a:latin typeface="Arial"/>
                <a:ea typeface="Arial"/>
                <a:cs typeface="Arial"/>
              </a:rPr>
              <a:t>HIDDEN TASKS</a:t>
            </a:r>
          </a:p>
        </p:txBody>
      </p:sp>
    </p:spTree>
    <p:extLst>
      <p:ext uri="{BB962C8B-B14F-4D97-AF65-F5344CB8AC3E}">
        <p14:creationId xmlns:p14="http://schemas.microsoft.com/office/powerpoint/2010/main" val="13470058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lide-4-title">
            <a:extLst xmlns:a="http://schemas.openxmlformats.org/drawingml/2006/main">
              <a:ext uri="{FF2B5EF4-FFF2-40B4-BE49-F238E27FC236}">
                <a16:creationId xmlns:a16="http://schemas.microsoft.com/office/drawing/2014/main" id="{ED4EF037-91C8-4FEA-AA2C-D87C9FEEBDAF}"/>
              </a:ext>
            </a:extLst>
          </p:cNvPr>
          <p:cNvSpPr>
            <a:spLocks xmlns:a="http://schemas.openxmlformats.org/drawingml/2006/main" noGrp="1"/>
          </p:cNvSpPr>
          <p:nvPr/>
        </p:nvSpPr>
        <p:spPr>
          <a:xfrm xmlns:a="http://schemas.openxmlformats.org/drawingml/2006/main">
            <a:off x="685800" y="345831"/>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NLU Track</a:t>
            </a:r>
            <a:endParaRPr sz="4000" b="1">
              <a:solidFill>
                <a:srgbClr val="9E1B32"/>
              </a:solidFill>
              <a:latin typeface="Arial"/>
              <a:ea typeface="Arial"/>
              <a:cs typeface="Arial"/>
            </a:endParaRPr>
          </a:p>
        </p:txBody>
      </p:sp>
      <p:sp>
        <p:nvSpPr>
          <p:cNvPr id="2" name="slide-4-top-rule">
            <a:extLst xmlns:a="http://schemas.openxmlformats.org/drawingml/2006/main">
              <a:ext uri="{FF2B5EF4-FFF2-40B4-BE49-F238E27FC236}">
                <a16:creationId xmlns:a16="http://schemas.microsoft.com/office/drawing/2014/main" id="{31C64AA6-A017-40C0-B692-B8AE66CA2B3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477AAA3E-F043-4D63-929C-A4D782AAD594}"/>
              </a:ext>
            </a:extLst>
          </p:cNvPr>
          <p:cNvSpPr>
            <a:spLocks xmlns:a="http://schemas.openxmlformats.org/drawingml/2006/main" noGrp="1"/>
          </p:cNvSpPr>
          <p:nvPr/>
        </p:nvSpPr>
        <p:spPr>
          <a:xfrm xmlns:a="http://schemas.openxmlformats.org/drawingml/2006/main">
            <a:off x="685800" y="1287041"/>
            <a:ext cx="4095206" cy="4607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3200"/>
              <a:t>Zero-shot</a:t>
            </a:r>
            <a:endParaRPr sz="3200" b="1">
              <a:solidFill>
                <a:srgbClr val="20242A"/>
              </a:solidFill>
              <a:latin typeface="Arial"/>
              <a:ea typeface="Arial"/>
              <a:cs typeface="Arial"/>
            </a:endParaRPr>
          </a:p>
        </p:txBody>
      </p:sp>
      <p:sp>
        <p:nvSpPr>
          <p:cNvPr id="8" name="矩形 7">
            <a:extLst xmlns:a="http://schemas.openxmlformats.org/drawingml/2006/main">
              <a:ext uri="{FF2B5EF4-FFF2-40B4-BE49-F238E27FC236}">
                <a16:creationId xmlns:a16="http://schemas.microsoft.com/office/drawing/2014/main" id="{9CF8B493-8A10-4448-A3B5-DA6493B69CA1}"/>
              </a:ext>
            </a:extLst>
          </p:cNvPr>
          <p:cNvSpPr>
            <a:spLocks xmlns:a="http://schemas.openxmlformats.org/drawingml/2006/main" noGrp="1"/>
          </p:cNvSpPr>
          <p:nvPr/>
        </p:nvSpPr>
        <p:spPr>
          <a:xfrm xmlns:a="http://schemas.openxmlformats.org/drawingml/2006/main">
            <a:off x="733424" y="2115224"/>
            <a:ext cx="4295775" cy="119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a:t>OPEN TASKS</a:t>
            </a:r>
          </a:p>
          <a:p xmlns:a="http://schemas.openxmlformats.org/drawingml/2006/main">
            <a:pPr>
              <a:lnSpc>
                <a:spcPct val="150000"/>
              </a:lnSpc>
              <a:buNone/>
              <a:defRPr sz="1200" b="1">
                <a:solidFill>
                  <a:srgbClr val="233342"/>
                </a:solidFill>
                <a:latin typeface="Arial"/>
                <a:ea typeface="Arial"/>
                <a:cs typeface="Arial"/>
              </a:defRPr>
            </a:pPr>
            <a:r>
              <a:rPr sz="2000" b="0"/>
              <a:t>ZhoBLiMP</a:t>
            </a:r>
            <a:r>
              <a:rPr sz="2000" b="0"/>
              <a:t> (semantic acceptability)</a:t>
            </a:r>
          </a:p>
          <a:p xmlns:a="http://schemas.openxmlformats.org/drawingml/2006/main">
            <a:pPr>
              <a:lnSpc>
                <a:spcPct val="150000"/>
              </a:lnSpc>
              <a:buNone/>
              <a:defRPr sz="1200" b="1">
                <a:solidFill>
                  <a:srgbClr val="233342"/>
                </a:solidFill>
                <a:latin typeface="Arial"/>
                <a:ea typeface="Arial"/>
                <a:cs typeface="Arial"/>
              </a:defRPr>
            </a:pPr>
            <a:endParaRPr sz="2000"/>
          </a:p>
          <a:p xmlns:a="http://schemas.openxmlformats.org/drawingml/2006/main">
            <a:pPr>
              <a:lnSpc>
                <a:spcPct val="150000"/>
              </a:lnSpc>
              <a:buNone/>
              <a:defRPr sz="1200" b="1">
                <a:solidFill>
                  <a:srgbClr val="233342"/>
                </a:solidFill>
                <a:latin typeface="Arial"/>
                <a:ea typeface="Arial"/>
                <a:cs typeface="Arial"/>
              </a:defRPr>
            </a:pPr>
            <a:endParaRPr sz="2000"/>
          </a:p>
          <a:p xmlns:a="http://schemas.openxmlformats.org/drawingml/2006/main">
            <a:pPr>
              <a:lnSpc>
                <a:spcPct val="150000"/>
              </a:lnSpc>
              <a:buNone/>
              <a:defRPr sz="1200" b="1">
                <a:solidFill>
                  <a:srgbClr val="233342"/>
                </a:solidFill>
                <a:latin typeface="Arial"/>
                <a:ea typeface="Arial"/>
                <a:cs typeface="Arial"/>
              </a:defRPr>
            </a:pPr>
            <a:r>
              <a:rPr sz="2000" b="1">
                <a:solidFill>
                  <a:srgbClr val="9E1B32"/>
                </a:solidFill>
                <a:latin typeface="Arial"/>
                <a:ea typeface="Arial"/>
                <a:cs typeface="Arial"/>
              </a:rPr>
              <a:t>HIDDEN TA</a:t>
            </a:r>
            <a:r>
              <a:rPr sz="2000">
                <a:solidFill>
                  <a:srgbClr val="9E1B32"/>
                </a:solidFill>
              </a:rPr>
              <a:t>SKS</a:t>
            </a:r>
          </a:p>
          <a:p xmlns:a="http://schemas.openxmlformats.org/drawingml/2006/main">
            <a:pPr>
              <a:lnSpc>
                <a:spcPct val="150000"/>
              </a:lnSpc>
              <a:buNone/>
              <a:defRPr sz="1200" b="1">
                <a:solidFill>
                  <a:srgbClr val="233342"/>
                </a:solidFill>
                <a:latin typeface="Arial"/>
                <a:ea typeface="Arial"/>
                <a:cs typeface="Arial"/>
              </a:defRPr>
            </a:pPr>
            <a:r>
              <a:rPr sz="2000" b="0"/>
              <a:t>XCOMPS-ZH (concept-property compatibility)</a:t>
            </a:r>
            <a:endParaRPr sz="2000" b="0">
              <a:solidFill>
                <a:srgbClr val="233342"/>
              </a:solidFill>
              <a:latin typeface="Arial"/>
              <a:ea typeface="Arial"/>
              <a:cs typeface="Arial"/>
            </a:endParaRPr>
          </a:p>
        </p:txBody>
      </p:sp>
      <p:sp>
        <p:nvSpPr>
          <p:cNvPr id="25" name="slide-4-footer-label">
            <a:extLst xmlns:a="http://schemas.openxmlformats.org/drawingml/2006/main">
              <a:ext uri="{FF2B5EF4-FFF2-40B4-BE49-F238E27FC236}">
                <a16:creationId xmlns:a16="http://schemas.microsoft.com/office/drawing/2014/main" id="{4C13F1E4-67A4-4B01-8698-631EE193F524}"/>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6" name="slide-4-footer-number">
            <a:extLst xmlns:a="http://schemas.openxmlformats.org/drawingml/2006/main">
              <a:ext uri="{FF2B5EF4-FFF2-40B4-BE49-F238E27FC236}">
                <a16:creationId xmlns:a16="http://schemas.microsoft.com/office/drawing/2014/main" id="{F99695F2-4C5C-4675-B114-4511F4DF668C}"/>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04</a:t>
            </a:r>
          </a:p>
        </p:txBody>
      </p:sp>
      <p:sp>
        <p:nvSpPr>
          <p:cNvPr id="24" name="矩形 23">
            <a:extLst xmlns:a="http://schemas.openxmlformats.org/drawingml/2006/main">
              <a:ext uri="{FF2B5EF4-FFF2-40B4-BE49-F238E27FC236}">
                <a16:creationId xmlns:a16="http://schemas.microsoft.com/office/drawing/2014/main" id="{7C0C4154-C971-4A1E-A3E9-F761BCFE7869}"/>
              </a:ext>
            </a:extLst>
          </p:cNvPr>
          <p:cNvSpPr>
            <a:spLocks xmlns:a="http://schemas.openxmlformats.org/drawingml/2006/main" noGrp="1"/>
          </p:cNvSpPr>
          <p:nvPr/>
        </p:nvSpPr>
        <p:spPr>
          <a:xfrm xmlns:a="http://schemas.openxmlformats.org/drawingml/2006/main">
            <a:off x="5861685" y="1808256"/>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0" name="矩形 29">
            <a:extLst xmlns:a="http://schemas.openxmlformats.org/drawingml/2006/main">
              <a:ext uri="{FF2B5EF4-FFF2-40B4-BE49-F238E27FC236}">
                <a16:creationId xmlns:a16="http://schemas.microsoft.com/office/drawing/2014/main" id="{44818583-B4E6-41D6-9531-1B5D3F05EC00}"/>
              </a:ext>
            </a:extLst>
          </p:cNvPr>
          <p:cNvSpPr>
            <a:spLocks xmlns:a="http://schemas.openxmlformats.org/drawingml/2006/main" noGrp="1"/>
          </p:cNvSpPr>
          <p:nvPr/>
        </p:nvSpPr>
        <p:spPr>
          <a:xfrm xmlns:a="http://schemas.openxmlformats.org/drawingml/2006/main">
            <a:off x="6484620" y="1262067"/>
            <a:ext cx="4095206" cy="4607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3200"/>
              <a:t>Fine-tuning</a:t>
            </a:r>
            <a:endParaRPr sz="3200" b="1">
              <a:solidFill>
                <a:srgbClr val="20242A"/>
              </a:solidFill>
              <a:latin typeface="Arial"/>
              <a:ea typeface="Arial"/>
              <a:cs typeface="Arial"/>
            </a:endParaRPr>
          </a:p>
        </p:txBody>
      </p:sp>
      <p:sp>
        <p:nvSpPr>
          <p:cNvPr id="31" name="矩形 30">
            <a:extLst xmlns:a="http://schemas.openxmlformats.org/drawingml/2006/main">
              <a:ext uri="{FF2B5EF4-FFF2-40B4-BE49-F238E27FC236}">
                <a16:creationId xmlns:a16="http://schemas.microsoft.com/office/drawing/2014/main" id="{F7EC252F-E6C2-4844-89AA-A1483DCE1591}"/>
              </a:ext>
            </a:extLst>
          </p:cNvPr>
          <p:cNvSpPr>
            <a:spLocks xmlns:a="http://schemas.openxmlformats.org/drawingml/2006/main" noGrp="1"/>
          </p:cNvSpPr>
          <p:nvPr/>
        </p:nvSpPr>
        <p:spPr>
          <a:xfrm xmlns:a="http://schemas.openxmlformats.org/drawingml/2006/main">
            <a:off x="6510745" y="2042009"/>
            <a:ext cx="5128261" cy="4006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a:t>OPEN TASKS</a:t>
            </a:r>
          </a:p>
          <a:p xmlns:a="http://schemas.openxmlformats.org/drawingml/2006/main">
            <a:pPr>
              <a:lnSpc>
                <a:spcPct val="150000"/>
              </a:lnSpc>
              <a:buNone/>
              <a:defRPr sz="1200" b="1">
                <a:solidFill>
                  <a:srgbClr val="233342"/>
                </a:solidFill>
                <a:latin typeface="Arial"/>
                <a:ea typeface="Arial"/>
                <a:cs typeface="Arial"/>
              </a:defRPr>
            </a:pPr>
            <a:r>
              <a:rPr sz="2000" b="0"/>
              <a:t>AFQMC (semantic matching)</a:t>
            </a:r>
          </a:p>
          <a:p xmlns:a="http://schemas.openxmlformats.org/drawingml/2006/main">
            <a:pPr>
              <a:lnSpc>
                <a:spcPct val="150000"/>
              </a:lnSpc>
              <a:buNone/>
              <a:defRPr sz="1200" b="1">
                <a:solidFill>
                  <a:srgbClr val="233342"/>
                </a:solidFill>
                <a:latin typeface="Arial"/>
                <a:ea typeface="Arial"/>
                <a:cs typeface="Arial"/>
              </a:defRPr>
            </a:pPr>
            <a:r>
              <a:rPr sz="2000" b="0"/>
              <a:t>OCNLI (natural language inference)</a:t>
            </a:r>
          </a:p>
          <a:p xmlns:a="http://schemas.openxmlformats.org/drawingml/2006/main">
            <a:pPr>
              <a:lnSpc>
                <a:spcPct val="150000"/>
              </a:lnSpc>
              <a:buNone/>
              <a:defRPr sz="1200" b="1">
                <a:solidFill>
                  <a:srgbClr val="233342"/>
                </a:solidFill>
                <a:latin typeface="Arial"/>
                <a:ea typeface="Arial"/>
                <a:cs typeface="Arial"/>
              </a:defRPr>
            </a:pPr>
            <a:r>
              <a:rPr sz="2000" b="0"/>
              <a:t>TNEWS (news classification)</a:t>
            </a:r>
          </a:p>
          <a:p xmlns:a="http://schemas.openxmlformats.org/drawingml/2006/main">
            <a:pPr>
              <a:lnSpc>
                <a:spcPct val="150000"/>
              </a:lnSpc>
              <a:buNone/>
              <a:defRPr sz="1200" b="1">
                <a:solidFill>
                  <a:srgbClr val="233342"/>
                </a:solidFill>
                <a:latin typeface="Arial"/>
                <a:ea typeface="Arial"/>
                <a:cs typeface="Arial"/>
              </a:defRPr>
            </a:pPr>
            <a:r>
              <a:rPr sz="2000" b="0"/>
              <a:t>CLUEWSC2020 (coreference resolution)</a:t>
            </a:r>
          </a:p>
          <a:p xmlns:a="http://schemas.openxmlformats.org/drawingml/2006/main">
            <a:pPr>
              <a:lnSpc>
                <a:spcPct val="150000"/>
              </a:lnSpc>
              <a:buNone/>
              <a:defRPr sz="1200" b="1">
                <a:solidFill>
                  <a:srgbClr val="233342"/>
                </a:solidFill>
                <a:latin typeface="Arial"/>
                <a:ea typeface="Arial"/>
                <a:cs typeface="Arial"/>
              </a:defRPr>
            </a:pPr>
            <a:endParaRPr sz="2000"/>
          </a:p>
          <a:p xmlns:a="http://schemas.openxmlformats.org/drawingml/2006/main">
            <a:pPr>
              <a:lnSpc>
                <a:spcPct val="150000"/>
              </a:lnSpc>
              <a:buNone/>
              <a:defRPr sz="1200" b="1">
                <a:solidFill>
                  <a:srgbClr val="233342"/>
                </a:solidFill>
                <a:latin typeface="Arial"/>
                <a:ea typeface="Arial"/>
                <a:cs typeface="Arial"/>
              </a:defRPr>
            </a:pPr>
            <a:r>
              <a:rPr sz="2000" b="1">
                <a:solidFill>
                  <a:srgbClr val="9E1B32"/>
                </a:solidFill>
                <a:latin typeface="Arial"/>
                <a:ea typeface="Arial"/>
                <a:cs typeface="Arial"/>
              </a:rPr>
              <a:t>HIDDEN TA</a:t>
            </a:r>
            <a:r>
              <a:rPr sz="2000">
                <a:solidFill>
                  <a:srgbClr val="9E1B32"/>
                </a:solidFill>
              </a:rPr>
              <a:t>SKS</a:t>
            </a:r>
          </a:p>
          <a:p xmlns:a="http://schemas.openxmlformats.org/drawingml/2006/main">
            <a:pPr>
              <a:lnSpc>
                <a:spcPct val="150000"/>
              </a:lnSpc>
              <a:buNone/>
              <a:defRPr sz="1200" b="1">
                <a:solidFill>
                  <a:srgbClr val="233342"/>
                </a:solidFill>
                <a:latin typeface="Arial"/>
                <a:ea typeface="Arial"/>
                <a:cs typeface="Arial"/>
              </a:defRPr>
            </a:pPr>
            <a:r>
              <a:rPr sz="2000" b="0"/>
              <a:t>C3 (reading comprehension)</a:t>
            </a:r>
          </a:p>
          <a:p xmlns:a="http://schemas.openxmlformats.org/drawingml/2006/main">
            <a:pPr>
              <a:lnSpc>
                <a:spcPct val="150000"/>
              </a:lnSpc>
              <a:buNone/>
              <a:defRPr sz="1200" b="1">
                <a:solidFill>
                  <a:srgbClr val="233342"/>
                </a:solidFill>
                <a:latin typeface="Arial"/>
                <a:ea typeface="Arial"/>
                <a:cs typeface="Arial"/>
              </a:defRPr>
            </a:pPr>
            <a:r>
              <a:rPr sz="2000" b="0"/>
              <a:t>Diagnostic NLI (natural language inference)</a:t>
            </a:r>
            <a:endParaRPr sz="2000" b="0">
              <a:solidFill>
                <a:srgbClr val="233342"/>
              </a:solidFill>
              <a:latin typeface="Arial"/>
              <a:ea typeface="Arial"/>
              <a:cs typeface="Arial"/>
            </a:endParaRPr>
          </a:p>
        </p:txBody>
      </p:sp>
    </p:spTree>
    <p:extLst>
      <p:ext uri="{BB962C8B-B14F-4D97-AF65-F5344CB8AC3E}">
        <p14:creationId xmlns:p14="http://schemas.microsoft.com/office/powerpoint/2010/main" val="9907755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7" name="slide-4-title">
            <a:extLst xmlns:a="http://schemas.openxmlformats.org/drawingml/2006/main">
              <a:ext uri="{FF2B5EF4-FFF2-40B4-BE49-F238E27FC236}">
                <a16:creationId xmlns:a16="http://schemas.microsoft.com/office/drawing/2014/main" id="{ED4EF037-91C8-4FEA-AA2C-D87C9FEEBDAF}"/>
              </a:ext>
            </a:extLst>
          </p:cNvPr>
          <p:cNvSpPr>
            <a:spLocks xmlns:a="http://schemas.openxmlformats.org/drawingml/2006/main" noGrp="1"/>
          </p:cNvSpPr>
          <p:nvPr/>
        </p:nvSpPr>
        <p:spPr>
          <a:xfrm xmlns:a="http://schemas.openxmlformats.org/drawingml/2006/main">
            <a:off x="685800" y="345831"/>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Cognitive Modeling Track</a:t>
            </a:r>
          </a:p>
        </p:txBody>
      </p:sp>
      <p:sp>
        <p:nvSpPr>
          <p:cNvPr id="2" name="slide-4-top-rule">
            <a:extLst xmlns:a="http://schemas.openxmlformats.org/drawingml/2006/main">
              <a:ext uri="{FF2B5EF4-FFF2-40B4-BE49-F238E27FC236}">
                <a16:creationId xmlns:a16="http://schemas.microsoft.com/office/drawing/2014/main" id="{31C64AA6-A017-40C0-B692-B8AE66CA2B3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477AAA3E-F043-4D63-929C-A4D782AAD594}"/>
              </a:ext>
            </a:extLst>
          </p:cNvPr>
          <p:cNvSpPr>
            <a:spLocks xmlns:a="http://schemas.openxmlformats.org/drawingml/2006/main" noGrp="1"/>
          </p:cNvSpPr>
          <p:nvPr/>
        </p:nvSpPr>
        <p:spPr>
          <a:xfrm xmlns:a="http://schemas.openxmlformats.org/drawingml/2006/main">
            <a:off x="685799" y="1287041"/>
            <a:ext cx="10182498" cy="11034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lnSpc>
                <a:spcPct val="150000"/>
              </a:lnSpc>
              <a:buNone/>
              <a:defRPr sz="1725" b="1">
                <a:solidFill>
                  <a:srgbClr val="20242A"/>
                </a:solidFill>
                <a:latin typeface="Arial"/>
                <a:ea typeface="Arial"/>
                <a:cs typeface="Arial"/>
              </a:defRPr>
            </a:pPr>
            <a:r>
              <a:rPr sz="2400"/>
              <a:t>MulCogBench</a:t>
            </a:r>
            <a:endParaRPr sz="2400"/>
          </a:p>
          <a:p xmlns:a="http://schemas.openxmlformats.org/drawingml/2006/main">
            <a:pPr>
              <a:lnSpc>
                <a:spcPct val="150000"/>
              </a:lnSpc>
              <a:buNone/>
              <a:defRPr sz="1725" b="1">
                <a:solidFill>
                  <a:srgbClr val="20242A"/>
                </a:solidFill>
                <a:latin typeface="Arial"/>
                <a:ea typeface="Arial"/>
                <a:cs typeface="Arial"/>
              </a:defRPr>
            </a:pPr>
            <a:r>
              <a:rPr sz="1800" b="0">
                <a:solidFill>
                  <a:srgbClr val="20242A"/>
                </a:solidFill>
                <a:latin typeface="Arial"/>
                <a:ea typeface="Arial"/>
                <a:cs typeface="Arial"/>
              </a:rPr>
              <a:t>fit a ridge-regression from model representations to fMRI responses to evaluate the correlation between model representation and brain signal</a:t>
            </a:r>
            <a:endParaRPr sz="1800" b="0">
              <a:solidFill>
                <a:srgbClr val="20242A"/>
              </a:solidFill>
              <a:latin typeface="Arial"/>
              <a:ea typeface="Arial"/>
              <a:cs typeface="Arial"/>
            </a:endParaRPr>
          </a:p>
        </p:txBody>
      </p:sp>
      <p:sp>
        <p:nvSpPr>
          <p:cNvPr id="25" name="slide-4-footer-label">
            <a:extLst xmlns:a="http://schemas.openxmlformats.org/drawingml/2006/main">
              <a:ext uri="{FF2B5EF4-FFF2-40B4-BE49-F238E27FC236}">
                <a16:creationId xmlns:a16="http://schemas.microsoft.com/office/drawing/2014/main" id="{4C13F1E4-67A4-4B01-8698-631EE193F524}"/>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6" name="slide-4-footer-number">
            <a:extLst xmlns:a="http://schemas.openxmlformats.org/drawingml/2006/main">
              <a:ext uri="{FF2B5EF4-FFF2-40B4-BE49-F238E27FC236}">
                <a16:creationId xmlns:a16="http://schemas.microsoft.com/office/drawing/2014/main" id="{F99695F2-4C5C-4675-B114-4511F4DF668C}"/>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rPr sz="1050" b="1">
                <a:solidFill>
                  <a:srgbClr val="9E1B32"/>
                </a:solidFill>
                <a:latin typeface="Arial"/>
                <a:ea typeface="Arial"/>
                <a:cs typeface="Arial"/>
              </a:rPr>
              <a:t>5</a:t>
            </a:r>
            <a:endParaRPr sz="1050" b="1">
              <a:solidFill>
                <a:srgbClr val="9E1B32"/>
              </a:solidFill>
              <a:latin typeface="Arial"/>
              <a:ea typeface="Arial"/>
              <a:cs typeface="Arial"/>
            </a:endParaRPr>
          </a:p>
        </p:txBody>
      </p:sp>
      <p:sp>
        <p:nvSpPr>
          <p:cNvPr id="11" name="矩形 10">
            <a:extLst xmlns:a="http://schemas.openxmlformats.org/drawingml/2006/main">
              <a:ext uri="{FF2B5EF4-FFF2-40B4-BE49-F238E27FC236}">
                <a16:creationId xmlns:a16="http://schemas.microsoft.com/office/drawing/2014/main" id="{67075863-2884-4066-84D9-0EAE00ED62EF}"/>
              </a:ext>
            </a:extLst>
          </p:cNvPr>
          <p:cNvSpPr>
            <a:spLocks xmlns:a="http://schemas.openxmlformats.org/drawingml/2006/main" noGrp="1"/>
          </p:cNvSpPr>
          <p:nvPr/>
        </p:nvSpPr>
        <p:spPr>
          <a:xfrm xmlns:a="http://schemas.openxmlformats.org/drawingml/2006/main">
            <a:off x="733424" y="2929554"/>
            <a:ext cx="5020632" cy="9320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a:t>Word fMRI</a:t>
            </a:r>
          </a:p>
          <a:p xmlns:a="http://schemas.openxmlformats.org/drawingml/2006/main">
            <a:pPr>
              <a:lnSpc>
                <a:spcPct val="150000"/>
              </a:lnSpc>
              <a:buNone/>
              <a:defRPr sz="1200" b="1">
                <a:solidFill>
                  <a:srgbClr val="233342"/>
                </a:solidFill>
                <a:latin typeface="Arial"/>
                <a:ea typeface="Arial"/>
                <a:cs typeface="Arial"/>
              </a:defRPr>
            </a:pPr>
            <a:r>
              <a:rPr sz="2000" b="0"/>
              <a:t>11 participants reading 672 isolated words</a:t>
            </a:r>
          </a:p>
          <a:p xmlns:a="http://schemas.openxmlformats.org/drawingml/2006/main">
            <a:pPr>
              <a:lnSpc>
                <a:spcPct val="150000"/>
              </a:lnSpc>
              <a:buNone/>
              <a:defRPr sz="1200" b="1">
                <a:solidFill>
                  <a:srgbClr val="233342"/>
                </a:solidFill>
                <a:latin typeface="Arial"/>
                <a:ea typeface="Arial"/>
                <a:cs typeface="Arial"/>
              </a:defRPr>
            </a:pPr>
            <a:endParaRPr sz="2000" b="0"/>
          </a:p>
          <a:p xmlns:a="http://schemas.openxmlformats.org/drawingml/2006/main">
            <a:pPr>
              <a:lnSpc>
                <a:spcPct val="150000"/>
              </a:lnSpc>
              <a:buNone/>
              <a:defRPr sz="1200" b="1">
                <a:solidFill>
                  <a:srgbClr val="233342"/>
                </a:solidFill>
                <a:latin typeface="Arial"/>
                <a:ea typeface="Arial"/>
                <a:cs typeface="Arial"/>
              </a:defRPr>
            </a:pPr>
            <a:r>
              <a:rPr sz="2000"/>
              <a:t>55% OPEN </a:t>
            </a:r>
          </a:p>
          <a:p xmlns:a="http://schemas.openxmlformats.org/drawingml/2006/main">
            <a:pPr>
              <a:lnSpc>
                <a:spcPct val="150000"/>
              </a:lnSpc>
              <a:buNone/>
              <a:defRPr sz="1200" b="1">
                <a:solidFill>
                  <a:srgbClr val="233342"/>
                </a:solidFill>
                <a:latin typeface="Arial"/>
                <a:ea typeface="Arial"/>
                <a:cs typeface="Arial"/>
              </a:defRPr>
            </a:pPr>
            <a:r>
              <a:rPr sz="2000"/>
              <a:t>45% </a:t>
            </a:r>
            <a:r>
              <a:rPr sz="2000"/>
              <a:t>HIDDEN</a:t>
            </a:r>
            <a:endParaRPr sz="2000"/>
          </a:p>
        </p:txBody>
      </p:sp>
      <p:sp>
        <p:nvSpPr>
          <p:cNvPr id="13" name="矩形 12">
            <a:extLst xmlns:a="http://schemas.openxmlformats.org/drawingml/2006/main">
              <a:ext uri="{FF2B5EF4-FFF2-40B4-BE49-F238E27FC236}">
                <a16:creationId xmlns:a16="http://schemas.microsoft.com/office/drawing/2014/main" id="{11882E92-52EB-48C0-89AE-D91C6CE59C9E}"/>
              </a:ext>
            </a:extLst>
          </p:cNvPr>
          <p:cNvSpPr>
            <a:spLocks xmlns:a="http://schemas.openxmlformats.org/drawingml/2006/main" noGrp="1"/>
          </p:cNvSpPr>
          <p:nvPr/>
        </p:nvSpPr>
        <p:spPr>
          <a:xfrm xmlns:a="http://schemas.openxmlformats.org/drawingml/2006/main">
            <a:off x="6106757" y="2951997"/>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5" name="矩形 14">
            <a:extLst xmlns:a="http://schemas.openxmlformats.org/drawingml/2006/main">
              <a:ext uri="{FF2B5EF4-FFF2-40B4-BE49-F238E27FC236}">
                <a16:creationId xmlns:a16="http://schemas.microsoft.com/office/drawing/2014/main" id="{A908B6B3-57A3-4AFD-8D00-6FD11339679D}"/>
              </a:ext>
            </a:extLst>
          </p:cNvPr>
          <p:cNvSpPr>
            <a:spLocks xmlns:a="http://schemas.openxmlformats.org/drawingml/2006/main" noGrp="1"/>
          </p:cNvSpPr>
          <p:nvPr/>
        </p:nvSpPr>
        <p:spPr>
          <a:xfrm xmlns:a="http://schemas.openxmlformats.org/drawingml/2006/main">
            <a:off x="6755682" y="2880949"/>
            <a:ext cx="4702085" cy="9320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a:t>Discourse fMRI</a:t>
            </a:r>
          </a:p>
          <a:p xmlns:a="http://schemas.openxmlformats.org/drawingml/2006/main">
            <a:pPr>
              <a:lnSpc>
                <a:spcPct val="150000"/>
              </a:lnSpc>
              <a:buNone/>
              <a:defRPr sz="1200" b="1">
                <a:solidFill>
                  <a:srgbClr val="233342"/>
                </a:solidFill>
                <a:latin typeface="Arial"/>
                <a:ea typeface="Arial"/>
                <a:cs typeface="Arial"/>
              </a:defRPr>
            </a:pPr>
            <a:r>
              <a:rPr sz="2000" b="0"/>
              <a:t>12 participants listening to 60 stories</a:t>
            </a:r>
          </a:p>
          <a:p xmlns:a="http://schemas.openxmlformats.org/drawingml/2006/main">
            <a:pPr>
              <a:lnSpc>
                <a:spcPct val="150000"/>
              </a:lnSpc>
              <a:buNone/>
              <a:defRPr sz="1200" b="1">
                <a:solidFill>
                  <a:srgbClr val="233342"/>
                </a:solidFill>
                <a:latin typeface="Arial"/>
                <a:ea typeface="Arial"/>
                <a:cs typeface="Arial"/>
              </a:defRPr>
            </a:pPr>
            <a:r>
              <a:rPr sz="2000" b="0"/>
              <a:t> </a:t>
            </a:r>
          </a:p>
          <a:p xmlns:a="http://schemas.openxmlformats.org/drawingml/2006/main">
            <a:pPr>
              <a:lnSpc>
                <a:spcPct val="150000"/>
              </a:lnSpc>
              <a:buNone/>
              <a:defRPr sz="1200" b="1">
                <a:solidFill>
                  <a:srgbClr val="233342"/>
                </a:solidFill>
                <a:latin typeface="Arial"/>
                <a:ea typeface="Arial"/>
                <a:cs typeface="Arial"/>
              </a:defRPr>
            </a:pPr>
            <a:r>
              <a:rPr sz="2000"/>
              <a:t>50% OPEN</a:t>
            </a:r>
          </a:p>
          <a:p xmlns:a="http://schemas.openxmlformats.org/drawingml/2006/main">
            <a:pPr>
              <a:lnSpc>
                <a:spcPct val="150000"/>
              </a:lnSpc>
              <a:buNone/>
              <a:defRPr sz="1200" b="1">
                <a:solidFill>
                  <a:srgbClr val="233342"/>
                </a:solidFill>
                <a:latin typeface="Arial"/>
                <a:ea typeface="Arial"/>
                <a:cs typeface="Arial"/>
              </a:defRPr>
            </a:pPr>
            <a:r>
              <a:rPr sz="2000"/>
              <a:t>50% HIDDEN</a:t>
            </a:r>
          </a:p>
        </p:txBody>
      </p:sp>
    </p:spTree>
    <p:extLst>
      <p:ext uri="{BB962C8B-B14F-4D97-AF65-F5344CB8AC3E}">
        <p14:creationId xmlns:p14="http://schemas.microsoft.com/office/powerpoint/2010/main" val="277702368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7" name="slide-4-title">
            <a:extLst xmlns:a="http://schemas.openxmlformats.org/drawingml/2006/main">
              <a:ext uri="{FF2B5EF4-FFF2-40B4-BE49-F238E27FC236}">
                <a16:creationId xmlns:a16="http://schemas.microsoft.com/office/drawing/2014/main" id="{ED4EF037-91C8-4FEA-AA2C-D87C9FEEBDAF}"/>
              </a:ext>
            </a:extLst>
          </p:cNvPr>
          <p:cNvSpPr>
            <a:spLocks xmlns:a="http://schemas.openxmlformats.org/drawingml/2006/main" noGrp="1"/>
          </p:cNvSpPr>
          <p:nvPr/>
        </p:nvSpPr>
        <p:spPr>
          <a:xfrm xmlns:a="http://schemas.openxmlformats.org/drawingml/2006/main">
            <a:off x="685800" y="345831"/>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HANZI Track</a:t>
            </a:r>
            <a:endParaRPr sz="4000" b="1">
              <a:solidFill>
                <a:srgbClr val="9E1B32"/>
              </a:solidFill>
              <a:latin typeface="Arial"/>
              <a:ea typeface="Arial"/>
              <a:cs typeface="Arial"/>
            </a:endParaRPr>
          </a:p>
        </p:txBody>
      </p:sp>
      <p:sp>
        <p:nvSpPr>
          <p:cNvPr id="2" name="slide-4-top-rule">
            <a:extLst xmlns:a="http://schemas.openxmlformats.org/drawingml/2006/main">
              <a:ext uri="{FF2B5EF4-FFF2-40B4-BE49-F238E27FC236}">
                <a16:creationId xmlns:a16="http://schemas.microsoft.com/office/drawing/2014/main" id="{31C64AA6-A017-40C0-B692-B8AE66CA2B3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477AAA3E-F043-4D63-929C-A4D782AAD594}"/>
              </a:ext>
            </a:extLst>
          </p:cNvPr>
          <p:cNvSpPr>
            <a:spLocks xmlns:a="http://schemas.openxmlformats.org/drawingml/2006/main" noGrp="1"/>
          </p:cNvSpPr>
          <p:nvPr/>
        </p:nvSpPr>
        <p:spPr>
          <a:xfrm xmlns:a="http://schemas.openxmlformats.org/drawingml/2006/main">
            <a:off x="685800" y="1522175"/>
            <a:ext cx="4095206" cy="4607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3200"/>
              <a:t>Structure</a:t>
            </a:r>
          </a:p>
        </p:txBody>
      </p:sp>
      <p:sp>
        <p:nvSpPr>
          <p:cNvPr id="8" name="矩形 7">
            <a:extLst xmlns:a="http://schemas.openxmlformats.org/drawingml/2006/main">
              <a:ext uri="{FF2B5EF4-FFF2-40B4-BE49-F238E27FC236}">
                <a16:creationId xmlns:a16="http://schemas.microsoft.com/office/drawing/2014/main" id="{9CF8B493-8A10-4448-A3B5-DA6493B69CA1}"/>
              </a:ext>
            </a:extLst>
          </p:cNvPr>
          <p:cNvSpPr>
            <a:spLocks xmlns:a="http://schemas.openxmlformats.org/drawingml/2006/main" noGrp="1"/>
          </p:cNvSpPr>
          <p:nvPr/>
        </p:nvSpPr>
        <p:spPr>
          <a:xfrm xmlns:a="http://schemas.openxmlformats.org/drawingml/2006/main">
            <a:off x="733424" y="2350355"/>
            <a:ext cx="4609285" cy="119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b="0"/>
              <a:t>Chinese character and its components</a:t>
            </a:r>
          </a:p>
          <a:p xmlns:a="http://schemas.openxmlformats.org/drawingml/2006/main">
            <a:pPr>
              <a:lnSpc>
                <a:spcPct val="150000"/>
              </a:lnSpc>
              <a:buNone/>
              <a:defRPr sz="1200" b="1">
                <a:solidFill>
                  <a:srgbClr val="233342"/>
                </a:solidFill>
                <a:latin typeface="Arial"/>
                <a:ea typeface="Arial"/>
                <a:cs typeface="Arial"/>
              </a:defRPr>
            </a:pPr>
            <a:endParaRPr sz="2000" b="0"/>
          </a:p>
          <a:p xmlns:a="http://schemas.openxmlformats.org/drawingml/2006/main">
            <a:pPr>
              <a:lnSpc>
                <a:spcPct val="150000"/>
              </a:lnSpc>
              <a:buNone/>
              <a:defRPr sz="1200" b="1">
                <a:solidFill>
                  <a:srgbClr val="233342"/>
                </a:solidFill>
                <a:latin typeface="Arial"/>
                <a:ea typeface="Arial"/>
                <a:cs typeface="Arial"/>
              </a:defRPr>
            </a:pPr>
            <a:r>
              <a:rPr sz="2000" b="0"/>
              <a:t>4000 minimal pairs</a:t>
            </a:r>
          </a:p>
          <a:p xmlns:a="http://schemas.openxmlformats.org/drawingml/2006/main">
            <a:pPr>
              <a:lnSpc>
                <a:spcPct val="150000"/>
              </a:lnSpc>
              <a:buNone/>
              <a:defRPr sz="1200" b="1">
                <a:solidFill>
                  <a:srgbClr val="233342"/>
                </a:solidFill>
                <a:latin typeface="Arial"/>
                <a:ea typeface="Arial"/>
                <a:cs typeface="Arial"/>
              </a:defRPr>
            </a:pPr>
            <a:endParaRPr sz="2000" b="0"/>
          </a:p>
          <a:p xmlns:a="http://schemas.openxmlformats.org/drawingml/2006/main">
            <a:pPr>
              <a:lnSpc>
                <a:spcPct val="150000"/>
              </a:lnSpc>
              <a:buNone/>
              <a:defRPr sz="1200" b="1">
                <a:solidFill>
                  <a:srgbClr val="233342"/>
                </a:solidFill>
                <a:latin typeface="Arial"/>
                <a:ea typeface="Arial"/>
                <a:cs typeface="Arial"/>
              </a:defRPr>
            </a:pPr>
            <a:r>
              <a:rPr sz="2000"/>
              <a:t>50% OPEN</a:t>
            </a:r>
          </a:p>
          <a:p xmlns:a="http://schemas.openxmlformats.org/drawingml/2006/main">
            <a:pPr>
              <a:lnSpc>
                <a:spcPct val="150000"/>
              </a:lnSpc>
              <a:buNone/>
              <a:defRPr sz="1200" b="1">
                <a:solidFill>
                  <a:srgbClr val="233342"/>
                </a:solidFill>
                <a:latin typeface="Arial"/>
                <a:ea typeface="Arial"/>
                <a:cs typeface="Arial"/>
              </a:defRPr>
            </a:pPr>
            <a:r>
              <a:rPr sz="2000"/>
              <a:t>50% HIDDEN</a:t>
            </a:r>
          </a:p>
          <a:p xmlns:a="http://schemas.openxmlformats.org/drawingml/2006/main">
            <a:pPr>
              <a:lnSpc>
                <a:spcPct val="150000"/>
              </a:lnSpc>
              <a:buNone/>
              <a:defRPr sz="1200" b="1">
                <a:solidFill>
                  <a:srgbClr val="233342"/>
                </a:solidFill>
                <a:latin typeface="Arial"/>
                <a:ea typeface="Arial"/>
                <a:cs typeface="Arial"/>
              </a:defRPr>
            </a:pPr>
            <a:endParaRPr sz="2000" b="0"/>
          </a:p>
          <a:p xmlns:a="http://schemas.openxmlformats.org/drawingml/2006/main">
            <a:pPr>
              <a:lnSpc>
                <a:spcPct val="150000"/>
              </a:lnSpc>
              <a:buNone/>
              <a:defRPr sz="1200" b="1">
                <a:solidFill>
                  <a:srgbClr val="233342"/>
                </a:solidFill>
                <a:latin typeface="Arial"/>
                <a:ea typeface="Arial"/>
                <a:cs typeface="Arial"/>
              </a:defRPr>
            </a:pPr>
            <a:endParaRPr sz="2000"/>
          </a:p>
          <a:p xmlns:a="http://schemas.openxmlformats.org/drawingml/2006/main">
            <a:pPr>
              <a:lnSpc>
                <a:spcPct val="150000"/>
              </a:lnSpc>
              <a:buNone/>
              <a:defRPr sz="1200" b="1">
                <a:solidFill>
                  <a:srgbClr val="233342"/>
                </a:solidFill>
                <a:latin typeface="Arial"/>
                <a:ea typeface="Arial"/>
                <a:cs typeface="Arial"/>
              </a:defRPr>
            </a:pPr>
            <a:endParaRPr sz="2000"/>
          </a:p>
        </p:txBody>
      </p:sp>
      <p:sp>
        <p:nvSpPr>
          <p:cNvPr id="25" name="slide-4-footer-label">
            <a:extLst xmlns:a="http://schemas.openxmlformats.org/drawingml/2006/main">
              <a:ext uri="{FF2B5EF4-FFF2-40B4-BE49-F238E27FC236}">
                <a16:creationId xmlns:a16="http://schemas.microsoft.com/office/drawing/2014/main" id="{4C13F1E4-67A4-4B01-8698-631EE193F524}"/>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6" name="slide-4-footer-number">
            <a:extLst xmlns:a="http://schemas.openxmlformats.org/drawingml/2006/main">
              <a:ext uri="{FF2B5EF4-FFF2-40B4-BE49-F238E27FC236}">
                <a16:creationId xmlns:a16="http://schemas.microsoft.com/office/drawing/2014/main" id="{F99695F2-4C5C-4675-B114-4511F4DF668C}"/>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t>6</a:t>
            </a:r>
            <a:endParaRPr sz="1050" b="1">
              <a:solidFill>
                <a:srgbClr val="9E1B32"/>
              </a:solidFill>
              <a:latin typeface="Arial"/>
              <a:ea typeface="Arial"/>
              <a:cs typeface="Arial"/>
            </a:endParaRPr>
          </a:p>
        </p:txBody>
      </p:sp>
      <p:sp>
        <p:nvSpPr>
          <p:cNvPr id="24" name="矩形 23">
            <a:extLst xmlns:a="http://schemas.openxmlformats.org/drawingml/2006/main">
              <a:ext uri="{FF2B5EF4-FFF2-40B4-BE49-F238E27FC236}">
                <a16:creationId xmlns:a16="http://schemas.microsoft.com/office/drawing/2014/main" id="{7C0C4154-C971-4A1E-A3E9-F761BCFE7869}"/>
              </a:ext>
            </a:extLst>
          </p:cNvPr>
          <p:cNvSpPr>
            <a:spLocks xmlns:a="http://schemas.openxmlformats.org/drawingml/2006/main" noGrp="1"/>
          </p:cNvSpPr>
          <p:nvPr/>
        </p:nvSpPr>
        <p:spPr>
          <a:xfrm xmlns:a="http://schemas.openxmlformats.org/drawingml/2006/main">
            <a:off x="5861685" y="1808256"/>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0" name="矩形 29">
            <a:extLst xmlns:a="http://schemas.openxmlformats.org/drawingml/2006/main">
              <a:ext uri="{FF2B5EF4-FFF2-40B4-BE49-F238E27FC236}">
                <a16:creationId xmlns:a16="http://schemas.microsoft.com/office/drawing/2014/main" id="{44818583-B4E6-41D6-9531-1B5D3F05EC00}"/>
              </a:ext>
            </a:extLst>
          </p:cNvPr>
          <p:cNvSpPr>
            <a:spLocks xmlns:a="http://schemas.openxmlformats.org/drawingml/2006/main" noGrp="1"/>
          </p:cNvSpPr>
          <p:nvPr/>
        </p:nvSpPr>
        <p:spPr>
          <a:xfrm xmlns:a="http://schemas.openxmlformats.org/drawingml/2006/main">
            <a:off x="6484620" y="1497201"/>
            <a:ext cx="4095206" cy="4607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3200"/>
              <a:t>Pinyin</a:t>
            </a:r>
            <a:endParaRPr sz="3200" b="1">
              <a:solidFill>
                <a:srgbClr val="20242A"/>
              </a:solidFill>
              <a:latin typeface="Arial"/>
              <a:ea typeface="Arial"/>
              <a:cs typeface="Arial"/>
            </a:endParaRPr>
          </a:p>
        </p:txBody>
      </p:sp>
      <p:sp>
        <p:nvSpPr>
          <p:cNvPr id="31" name="矩形 30">
            <a:extLst xmlns:a="http://schemas.openxmlformats.org/drawingml/2006/main">
              <a:ext uri="{FF2B5EF4-FFF2-40B4-BE49-F238E27FC236}">
                <a16:creationId xmlns:a16="http://schemas.microsoft.com/office/drawing/2014/main" id="{F7EC252F-E6C2-4844-89AA-A1483DCE1591}"/>
              </a:ext>
            </a:extLst>
          </p:cNvPr>
          <p:cNvSpPr>
            <a:spLocks xmlns:a="http://schemas.openxmlformats.org/drawingml/2006/main" noGrp="1"/>
          </p:cNvSpPr>
          <p:nvPr/>
        </p:nvSpPr>
        <p:spPr>
          <a:xfrm xmlns:a="http://schemas.openxmlformats.org/drawingml/2006/main">
            <a:off x="6510745" y="2277140"/>
            <a:ext cx="5128261" cy="4006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b="0"/>
              <a:t>Pronunciation of Chinese character</a:t>
            </a:r>
          </a:p>
          <a:p xmlns:a="http://schemas.openxmlformats.org/drawingml/2006/main">
            <a:pPr>
              <a:lnSpc>
                <a:spcPct val="150000"/>
              </a:lnSpc>
              <a:buNone/>
              <a:defRPr sz="1200" b="1">
                <a:solidFill>
                  <a:srgbClr val="233342"/>
                </a:solidFill>
                <a:latin typeface="Arial"/>
                <a:ea typeface="Arial"/>
                <a:cs typeface="Arial"/>
              </a:defRPr>
            </a:pPr>
            <a:endParaRPr sz="2000" b="0"/>
          </a:p>
          <a:p xmlns:a="http://schemas.openxmlformats.org/drawingml/2006/main">
            <a:pPr>
              <a:lnSpc>
                <a:spcPct val="150000"/>
              </a:lnSpc>
              <a:buNone/>
              <a:defRPr sz="1200" b="1">
                <a:solidFill>
                  <a:srgbClr val="233342"/>
                </a:solidFill>
                <a:latin typeface="Arial"/>
                <a:ea typeface="Arial"/>
                <a:cs typeface="Arial"/>
              </a:defRPr>
            </a:pPr>
            <a:r>
              <a:rPr sz="2000" b="0"/>
              <a:t>4000 minimal pairs</a:t>
            </a:r>
          </a:p>
          <a:p xmlns:a="http://schemas.openxmlformats.org/drawingml/2006/main">
            <a:pPr>
              <a:lnSpc>
                <a:spcPct val="150000"/>
              </a:lnSpc>
              <a:buNone/>
              <a:defRPr sz="1200" b="1">
                <a:solidFill>
                  <a:srgbClr val="233342"/>
                </a:solidFill>
                <a:latin typeface="Arial"/>
                <a:ea typeface="Arial"/>
                <a:cs typeface="Arial"/>
              </a:defRPr>
            </a:pPr>
            <a:endParaRPr sz="2000"/>
          </a:p>
          <a:p xmlns:a="http://schemas.openxmlformats.org/drawingml/2006/main">
            <a:pPr>
              <a:lnSpc>
                <a:spcPct val="150000"/>
              </a:lnSpc>
              <a:buNone/>
              <a:defRPr sz="1200" b="1">
                <a:solidFill>
                  <a:srgbClr val="233342"/>
                </a:solidFill>
                <a:latin typeface="Arial"/>
                <a:ea typeface="Arial"/>
                <a:cs typeface="Arial"/>
              </a:defRPr>
            </a:pPr>
            <a:r>
              <a:rPr sz="2000"/>
              <a:t>50% OPEN</a:t>
            </a:r>
          </a:p>
          <a:p xmlns:a="http://schemas.openxmlformats.org/drawingml/2006/main">
            <a:pPr>
              <a:lnSpc>
                <a:spcPct val="150000"/>
              </a:lnSpc>
              <a:buNone/>
              <a:defRPr sz="1200" b="1">
                <a:solidFill>
                  <a:srgbClr val="233342"/>
                </a:solidFill>
                <a:latin typeface="Arial"/>
                <a:ea typeface="Arial"/>
                <a:cs typeface="Arial"/>
              </a:defRPr>
            </a:pPr>
            <a:r>
              <a:rPr sz="2000"/>
              <a:t>50% HIDDEN</a:t>
            </a:r>
          </a:p>
        </p:txBody>
      </p:sp>
    </p:spTree>
    <p:extLst>
      <p:ext uri="{BB962C8B-B14F-4D97-AF65-F5344CB8AC3E}">
        <p14:creationId xmlns:p14="http://schemas.microsoft.com/office/powerpoint/2010/main" val="35297616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3-title">
            <a:extLst xmlns:a="http://schemas.openxmlformats.org/drawingml/2006/main">
              <a:ext uri="{FF2B5EF4-FFF2-40B4-BE49-F238E27FC236}">
                <a16:creationId xmlns:a16="http://schemas.microsoft.com/office/drawing/2014/main" id="{9317D7BB-CA89-413C-AD7F-195EC208124A}"/>
              </a:ext>
            </a:extLst>
          </p:cNvPr>
          <p:cNvSpPr>
            <a:spLocks xmlns:a="http://schemas.openxmlformats.org/drawingml/2006/main" noGrp="1"/>
          </p:cNvSpPr>
          <p:nvPr/>
        </p:nvSpPr>
        <p:spPr>
          <a:xfrm xmlns:a="http://schemas.openxmlformats.org/drawingml/2006/main">
            <a:off x="698863" y="344260"/>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3150" b="1">
                <a:solidFill>
                  <a:srgbClr val="20242A"/>
                </a:solidFill>
                <a:latin typeface="Arial"/>
                <a:ea typeface="Arial"/>
                <a:cs typeface="Arial"/>
              </a:defRPr>
            </a:pPr>
            <a:r>
              <a:rPr sz="4000"/>
              <a:t>Rules for Model Training</a:t>
            </a:r>
            <a:endParaRPr sz="4000" b="1">
              <a:solidFill>
                <a:srgbClr val="20242A"/>
              </a:solidFill>
              <a:latin typeface="Arial"/>
              <a:ea typeface="Arial"/>
              <a:cs typeface="Arial"/>
            </a:endParaRPr>
          </a:p>
        </p:txBody>
      </p:sp>
      <p:sp>
        <p:nvSpPr>
          <p:cNvPr id="2" name="slide-3-top-rule">
            <a:extLst xmlns:a="http://schemas.openxmlformats.org/drawingml/2006/main">
              <a:ext uri="{FF2B5EF4-FFF2-40B4-BE49-F238E27FC236}">
                <a16:creationId xmlns:a16="http://schemas.microsoft.com/office/drawing/2014/main" id="{30296450-1637-48DD-B96F-38B25E025940}"/>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矩形 2">
            <a:extLst xmlns:a="http://schemas.openxmlformats.org/drawingml/2006/main">
              <a:ext uri="{FF2B5EF4-FFF2-40B4-BE49-F238E27FC236}">
                <a16:creationId xmlns:a16="http://schemas.microsoft.com/office/drawing/2014/main" id="{DFB1D367-A35B-4E40-92A7-850890FAFAFF}"/>
              </a:ext>
            </a:extLst>
          </p:cNvPr>
          <p:cNvSpPr>
            <a:spLocks xmlns:a="http://schemas.openxmlformats.org/drawingml/2006/main" noGrp="1"/>
          </p:cNvSpPr>
          <p:nvPr/>
        </p:nvSpPr>
        <p:spPr>
          <a:xfrm xmlns:a="http://schemas.openxmlformats.org/drawingml/2006/main">
            <a:off x="685799" y="1396731"/>
            <a:ext cx="4126039"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b="1">
                <a:solidFill>
                  <a:srgbClr val="C49A2C"/>
                </a:solidFill>
                <a:latin typeface="Arial"/>
                <a:ea typeface="Arial"/>
                <a:cs typeface="Arial"/>
              </a:defRPr>
            </a:defPPr>
            <a:lvl1pPr>
              <a:buNone/>
              <a:defRPr sz="1050" b="1">
                <a:solidFill>
                  <a:srgbClr val="C49A2C"/>
                </a:solidFill>
                <a:latin typeface="Arial"/>
                <a:ea typeface="Arial"/>
                <a:cs typeface="Arial"/>
              </a:defRPr>
            </a:lvl1pPr>
            <a:lvl2pPr>
              <a:buNone/>
              <a:defRPr sz="1050" b="1">
                <a:solidFill>
                  <a:srgbClr val="C49A2C"/>
                </a:solidFill>
                <a:latin typeface="Arial"/>
                <a:ea typeface="Arial"/>
                <a:cs typeface="Arial"/>
              </a:defRPr>
            </a:lvl2pPr>
            <a:lvl3pPr>
              <a:buNone/>
              <a:defRPr sz="1050" b="1">
                <a:solidFill>
                  <a:srgbClr val="C49A2C"/>
                </a:solidFill>
                <a:latin typeface="Arial"/>
                <a:ea typeface="Arial"/>
                <a:cs typeface="Arial"/>
              </a:defRPr>
            </a:lvl3pPr>
            <a:lvl4pPr>
              <a:buNone/>
              <a:defRPr sz="1050" b="1">
                <a:solidFill>
                  <a:srgbClr val="C49A2C"/>
                </a:solidFill>
                <a:latin typeface="Arial"/>
                <a:ea typeface="Arial"/>
                <a:cs typeface="Arial"/>
              </a:defRPr>
            </a:lvl4pPr>
            <a:lvl5pPr>
              <a:buNone/>
              <a:defRPr sz="1050" b="1">
                <a:solidFill>
                  <a:srgbClr val="C49A2C"/>
                </a:solidFill>
                <a:latin typeface="Arial"/>
                <a:ea typeface="Arial"/>
                <a:cs typeface="Arial"/>
              </a:defRPr>
            </a:lvl5pPr>
            <a:lvl6pPr>
              <a:buNone/>
              <a:defRPr sz="1050" b="1">
                <a:solidFill>
                  <a:srgbClr val="C49A2C"/>
                </a:solidFill>
                <a:latin typeface="Arial"/>
                <a:ea typeface="Arial"/>
                <a:cs typeface="Arial"/>
              </a:defRPr>
            </a:lvl6pPr>
            <a:lvl7pPr>
              <a:buNone/>
              <a:defRPr sz="1050" b="1">
                <a:solidFill>
                  <a:srgbClr val="C49A2C"/>
                </a:solidFill>
                <a:latin typeface="Arial"/>
                <a:ea typeface="Arial"/>
                <a:cs typeface="Arial"/>
              </a:defRPr>
            </a:lvl7pPr>
            <a:lvl8pPr>
              <a:buNone/>
              <a:defRPr sz="1050" b="1">
                <a:solidFill>
                  <a:srgbClr val="C49A2C"/>
                </a:solidFill>
                <a:latin typeface="Arial"/>
                <a:ea typeface="Arial"/>
                <a:cs typeface="Arial"/>
              </a:defRPr>
            </a:lvl8pPr>
            <a:lvl9pPr>
              <a:buNone/>
              <a:defRPr sz="1050" b="1">
                <a:solidFill>
                  <a:srgbClr val="C49A2C"/>
                </a:solidFill>
                <a:latin typeface="Arial"/>
                <a:ea typeface="Arial"/>
                <a:cs typeface="Arial"/>
              </a:defRPr>
            </a:lvl9pPr>
          </a:lstStyle>
          <a:p xmlns:a="http://schemas.openxmlformats.org/drawingml/2006/main">
            <a:pPr>
              <a:lnSpc>
                <a:spcPct val="150000"/>
              </a:lnSpc>
              <a:buNone/>
              <a:defRPr sz="1050" b="1">
                <a:solidFill>
                  <a:srgbClr val="C49A2C"/>
                </a:solidFill>
                <a:latin typeface="Arial"/>
                <a:ea typeface="Arial"/>
                <a:cs typeface="Arial"/>
              </a:defRPr>
            </a:pPr>
            <a:r>
              <a:rPr sz="2800" b="1">
                <a:solidFill>
                  <a:srgbClr val="9E1B32"/>
                </a:solidFill>
                <a:latin typeface="Arial"/>
                <a:ea typeface="Arial"/>
                <a:cs typeface="Arial"/>
              </a:rPr>
              <a:t>1. Pretrain from scratch</a:t>
            </a:r>
            <a:endParaRPr sz="2800" b="1">
              <a:solidFill>
                <a:srgbClr val="9E1B32"/>
              </a:solidFill>
              <a:latin typeface="Arial"/>
              <a:ea typeface="Arial"/>
              <a:cs typeface="Arial"/>
            </a:endParaRPr>
          </a:p>
          <a:p xmlns:a="http://schemas.openxmlformats.org/drawingml/2006/main">
            <a:pPr>
              <a:lnSpc>
                <a:spcPct val="150000"/>
              </a:lnSpc>
              <a:buNone/>
              <a:defRPr sz="1050" b="1">
                <a:solidFill>
                  <a:srgbClr val="C49A2C"/>
                </a:solidFill>
                <a:latin typeface="Arial"/>
                <a:ea typeface="Arial"/>
                <a:cs typeface="Arial"/>
              </a:defRPr>
            </a:pPr>
            <a:r>
              <a:rPr sz="2800">
                <a:solidFill>
                  <a:srgbClr val="9E1B32"/>
                </a:solidFill>
              </a:rPr>
              <a:t>2. Data Constraints</a:t>
            </a:r>
          </a:p>
          <a:p xmlns:a="http://schemas.openxmlformats.org/drawingml/2006/main">
            <a:pPr>
              <a:lnSpc>
                <a:spcPct val="150000"/>
              </a:lnSpc>
              <a:buNone/>
              <a:defRPr sz="1050" b="1">
                <a:solidFill>
                  <a:srgbClr val="C49A2C"/>
                </a:solidFill>
                <a:latin typeface="Arial"/>
                <a:ea typeface="Arial"/>
                <a:cs typeface="Arial"/>
              </a:defRPr>
            </a:pPr>
            <a:endParaRPr sz="2800" b="1">
              <a:solidFill>
                <a:srgbClr val="9E1B32"/>
              </a:solidFill>
              <a:latin typeface="Arial"/>
              <a:ea typeface="Arial"/>
              <a:cs typeface="Arial"/>
            </a:endParaRPr>
          </a:p>
        </p:txBody>
      </p:sp>
      <p:sp>
        <p:nvSpPr>
          <p:cNvPr id="8" name="矩形 7">
            <a:extLst xmlns:a="http://schemas.openxmlformats.org/drawingml/2006/main">
              <a:ext uri="{FF2B5EF4-FFF2-40B4-BE49-F238E27FC236}">
                <a16:creationId xmlns:a16="http://schemas.microsoft.com/office/drawing/2014/main" id="{69271C56-F842-4474-8D45-590CD39137A9}"/>
              </a:ext>
            </a:extLst>
          </p:cNvPr>
          <p:cNvSpPr>
            <a:spLocks xmlns:a="http://schemas.openxmlformats.org/drawingml/2006/main" noGrp="1"/>
          </p:cNvSpPr>
          <p:nvPr/>
        </p:nvSpPr>
        <p:spPr>
          <a:xfrm xmlns:a="http://schemas.openxmlformats.org/drawingml/2006/main">
            <a:off x="715081" y="2973173"/>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b="1">
                <a:solidFill>
                  <a:srgbClr val="C49A2C"/>
                </a:solidFill>
                <a:latin typeface="Arial"/>
                <a:ea typeface="Arial"/>
                <a:cs typeface="Arial"/>
              </a:defRPr>
            </a:defPPr>
            <a:lvl1pPr>
              <a:buNone/>
              <a:defRPr sz="1050" b="1">
                <a:solidFill>
                  <a:srgbClr val="C49A2C"/>
                </a:solidFill>
                <a:latin typeface="Arial"/>
                <a:ea typeface="Arial"/>
                <a:cs typeface="Arial"/>
              </a:defRPr>
            </a:lvl1pPr>
            <a:lvl2pPr>
              <a:buNone/>
              <a:defRPr sz="1050" b="1">
                <a:solidFill>
                  <a:srgbClr val="C49A2C"/>
                </a:solidFill>
                <a:latin typeface="Arial"/>
                <a:ea typeface="Arial"/>
                <a:cs typeface="Arial"/>
              </a:defRPr>
            </a:lvl2pPr>
            <a:lvl3pPr>
              <a:buNone/>
              <a:defRPr sz="1050" b="1">
                <a:solidFill>
                  <a:srgbClr val="C49A2C"/>
                </a:solidFill>
                <a:latin typeface="Arial"/>
                <a:ea typeface="Arial"/>
                <a:cs typeface="Arial"/>
              </a:defRPr>
            </a:lvl3pPr>
            <a:lvl4pPr>
              <a:buNone/>
              <a:defRPr sz="1050" b="1">
                <a:solidFill>
                  <a:srgbClr val="C49A2C"/>
                </a:solidFill>
                <a:latin typeface="Arial"/>
                <a:ea typeface="Arial"/>
                <a:cs typeface="Arial"/>
              </a:defRPr>
            </a:lvl4pPr>
            <a:lvl5pPr>
              <a:buNone/>
              <a:defRPr sz="1050" b="1">
                <a:solidFill>
                  <a:srgbClr val="C49A2C"/>
                </a:solidFill>
                <a:latin typeface="Arial"/>
                <a:ea typeface="Arial"/>
                <a:cs typeface="Arial"/>
              </a:defRPr>
            </a:lvl5pPr>
            <a:lvl6pPr>
              <a:buNone/>
              <a:defRPr sz="1050" b="1">
                <a:solidFill>
                  <a:srgbClr val="C49A2C"/>
                </a:solidFill>
                <a:latin typeface="Arial"/>
                <a:ea typeface="Arial"/>
                <a:cs typeface="Arial"/>
              </a:defRPr>
            </a:lvl6pPr>
            <a:lvl7pPr>
              <a:buNone/>
              <a:defRPr sz="1050" b="1">
                <a:solidFill>
                  <a:srgbClr val="C49A2C"/>
                </a:solidFill>
                <a:latin typeface="Arial"/>
                <a:ea typeface="Arial"/>
                <a:cs typeface="Arial"/>
              </a:defRPr>
            </a:lvl7pPr>
            <a:lvl8pPr>
              <a:buNone/>
              <a:defRPr sz="1050" b="1">
                <a:solidFill>
                  <a:srgbClr val="C49A2C"/>
                </a:solidFill>
                <a:latin typeface="Arial"/>
                <a:ea typeface="Arial"/>
                <a:cs typeface="Arial"/>
              </a:defRPr>
            </a:lvl8pPr>
            <a:lvl9pPr>
              <a:buNone/>
              <a:defRPr sz="1050" b="1">
                <a:solidFill>
                  <a:srgbClr val="C49A2C"/>
                </a:solidFill>
                <a:latin typeface="Arial"/>
                <a:ea typeface="Arial"/>
                <a:cs typeface="Arial"/>
              </a:defRPr>
            </a:lvl9pPr>
          </a:lstStyle>
          <a:p xmlns:a="http://schemas.openxmlformats.org/drawingml/2006/main">
            <a:pPr>
              <a:buNone/>
              <a:defRPr sz="1050" b="1">
                <a:solidFill>
                  <a:srgbClr val="C49A2C"/>
                </a:solidFill>
                <a:latin typeface="Arial"/>
                <a:ea typeface="Arial"/>
                <a:cs typeface="Arial"/>
              </a:defRPr>
            </a:pPr>
            <a:r>
              <a:rPr sz="2400"/>
              <a:t>Data Option 1</a:t>
            </a:r>
            <a:endParaRPr sz="2400" b="1">
              <a:solidFill>
                <a:srgbClr val="C49A2C"/>
              </a:solidFill>
              <a:latin typeface="Arial"/>
              <a:ea typeface="Arial"/>
              <a:cs typeface="Arial"/>
            </a:endParaRPr>
          </a:p>
        </p:txBody>
      </p:sp>
      <p:sp>
        <p:nvSpPr>
          <p:cNvPr id="11" name="矩形 10">
            <a:extLst xmlns:a="http://schemas.openxmlformats.org/drawingml/2006/main">
              <a:ext uri="{FF2B5EF4-FFF2-40B4-BE49-F238E27FC236}">
                <a16:creationId xmlns:a16="http://schemas.microsoft.com/office/drawing/2014/main" id="{575681C2-D55B-4D11-92AA-B58916CBB8B9}"/>
              </a:ext>
            </a:extLst>
          </p:cNvPr>
          <p:cNvSpPr>
            <a:spLocks xmlns:a="http://schemas.openxmlformats.org/drawingml/2006/main" noGrp="1"/>
          </p:cNvSpPr>
          <p:nvPr/>
        </p:nvSpPr>
        <p:spPr>
          <a:xfrm xmlns:a="http://schemas.openxmlformats.org/drawingml/2006/main">
            <a:off x="715081" y="3505730"/>
            <a:ext cx="273614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a:solidFill>
                  <a:srgbClr val="686E75"/>
                </a:solidFill>
                <a:latin typeface="Arial"/>
                <a:ea typeface="Arial"/>
                <a:cs typeface="Arial"/>
              </a:defRPr>
            </a:defPPr>
            <a:lvl1pPr>
              <a:buNone/>
              <a:defRPr sz="1500">
                <a:solidFill>
                  <a:srgbClr val="686E75"/>
                </a:solidFill>
                <a:latin typeface="Arial"/>
                <a:ea typeface="Arial"/>
                <a:cs typeface="Arial"/>
              </a:defRPr>
            </a:lvl1pPr>
            <a:lvl2pPr>
              <a:buNone/>
              <a:defRPr sz="1500">
                <a:solidFill>
                  <a:srgbClr val="686E75"/>
                </a:solidFill>
                <a:latin typeface="Arial"/>
                <a:ea typeface="Arial"/>
                <a:cs typeface="Arial"/>
              </a:defRPr>
            </a:lvl2pPr>
            <a:lvl3pPr>
              <a:buNone/>
              <a:defRPr sz="1500">
                <a:solidFill>
                  <a:srgbClr val="686E75"/>
                </a:solidFill>
                <a:latin typeface="Arial"/>
                <a:ea typeface="Arial"/>
                <a:cs typeface="Arial"/>
              </a:defRPr>
            </a:lvl3pPr>
            <a:lvl4pPr>
              <a:buNone/>
              <a:defRPr sz="1500">
                <a:solidFill>
                  <a:srgbClr val="686E75"/>
                </a:solidFill>
                <a:latin typeface="Arial"/>
                <a:ea typeface="Arial"/>
                <a:cs typeface="Arial"/>
              </a:defRPr>
            </a:lvl4pPr>
            <a:lvl5pPr>
              <a:buNone/>
              <a:defRPr sz="1500">
                <a:solidFill>
                  <a:srgbClr val="686E75"/>
                </a:solidFill>
                <a:latin typeface="Arial"/>
                <a:ea typeface="Arial"/>
                <a:cs typeface="Arial"/>
              </a:defRPr>
            </a:lvl5pPr>
            <a:lvl6pPr>
              <a:buNone/>
              <a:defRPr sz="1500">
                <a:solidFill>
                  <a:srgbClr val="686E75"/>
                </a:solidFill>
                <a:latin typeface="Arial"/>
                <a:ea typeface="Arial"/>
                <a:cs typeface="Arial"/>
              </a:defRPr>
            </a:lvl6pPr>
            <a:lvl7pPr>
              <a:buNone/>
              <a:defRPr sz="1500">
                <a:solidFill>
                  <a:srgbClr val="686E75"/>
                </a:solidFill>
                <a:latin typeface="Arial"/>
                <a:ea typeface="Arial"/>
                <a:cs typeface="Arial"/>
              </a:defRPr>
            </a:lvl7pPr>
            <a:lvl8pPr>
              <a:buNone/>
              <a:defRPr sz="1500">
                <a:solidFill>
                  <a:srgbClr val="686E75"/>
                </a:solidFill>
                <a:latin typeface="Arial"/>
                <a:ea typeface="Arial"/>
                <a:cs typeface="Arial"/>
              </a:defRPr>
            </a:lvl8pPr>
            <a:lvl9pPr>
              <a:buNone/>
              <a:defRPr sz="1500">
                <a:solidFill>
                  <a:srgbClr val="686E75"/>
                </a:solidFill>
                <a:latin typeface="Arial"/>
                <a:ea typeface="Arial"/>
                <a:cs typeface="Arial"/>
              </a:defRPr>
            </a:lvl9pPr>
          </a:lstStyle>
          <a:p xmlns:a="http://schemas.openxmlformats.org/drawingml/2006/main">
            <a:pPr>
              <a:lnSpc>
                <a:spcPct val="113000"/>
              </a:lnSpc>
              <a:buNone/>
              <a:defRPr sz="1500">
                <a:solidFill>
                  <a:srgbClr val="686E75"/>
                </a:solidFill>
                <a:latin typeface="Arial"/>
                <a:ea typeface="Arial"/>
                <a:cs typeface="Arial"/>
              </a:defRPr>
            </a:pPr>
            <a:r>
              <a:rPr sz="2000">
                <a:solidFill>
                  <a:srgbClr val="686E75"/>
                </a:solidFill>
                <a:latin typeface="Arial"/>
                <a:ea typeface="Arial"/>
                <a:cs typeface="Arial"/>
              </a:rPr>
              <a:t>Official </a:t>
            </a:r>
            <a:r>
              <a:rPr sz="2000">
                <a:solidFill>
                  <a:srgbClr val="686E75"/>
                </a:solidFill>
                <a:latin typeface="Arial"/>
                <a:ea typeface="Arial"/>
                <a:cs typeface="Arial"/>
              </a:rPr>
              <a:t>102M-word training corpus, sampled from </a:t>
            </a:r>
            <a:r>
              <a:rPr sz="2000"/>
              <a:t>the Chinese portion of </a:t>
            </a:r>
            <a:r>
              <a:rPr sz="2000">
                <a:solidFill>
                  <a:srgbClr val="686E75"/>
                </a:solidFill>
                <a:latin typeface="Arial"/>
                <a:ea typeface="Arial"/>
                <a:cs typeface="Arial"/>
              </a:rPr>
              <a:t>BabyBabelLM</a:t>
            </a:r>
            <a:endParaRPr sz="2000">
              <a:solidFill>
                <a:srgbClr val="686E75"/>
              </a:solidFill>
              <a:latin typeface="Arial"/>
              <a:ea typeface="Arial"/>
              <a:cs typeface="Arial"/>
            </a:endParaRPr>
          </a:p>
        </p:txBody>
      </p:sp>
      <p:sp>
        <p:nvSpPr>
          <p:cNvPr id="27" name="slide-3-footer-label">
            <a:extLst xmlns:a="http://schemas.openxmlformats.org/drawingml/2006/main">
              <a:ext uri="{FF2B5EF4-FFF2-40B4-BE49-F238E27FC236}">
                <a16:creationId xmlns:a16="http://schemas.microsoft.com/office/drawing/2014/main" id="{05780473-874D-43CA-BC67-8B40A2944E6D}"/>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8" name="slide-3-footer-number">
            <a:extLst xmlns:a="http://schemas.openxmlformats.org/drawingml/2006/main">
              <a:ext uri="{FF2B5EF4-FFF2-40B4-BE49-F238E27FC236}">
                <a16:creationId xmlns:a16="http://schemas.microsoft.com/office/drawing/2014/main" id="{5E589268-5E7D-43AE-A9E0-9A7BD01A2A97}"/>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rPr sz="1050" b="1">
                <a:solidFill>
                  <a:srgbClr val="9E1B32"/>
                </a:solidFill>
                <a:latin typeface="Arial"/>
                <a:ea typeface="Arial"/>
                <a:cs typeface="Arial"/>
              </a:rPr>
              <a:t>7</a:t>
            </a:r>
            <a:endParaRPr sz="1050" b="1">
              <a:solidFill>
                <a:srgbClr val="9E1B32"/>
              </a:solidFill>
              <a:latin typeface="Arial"/>
              <a:ea typeface="Arial"/>
              <a:cs typeface="Arial"/>
            </a:endParaRPr>
          </a:p>
        </p:txBody>
      </p:sp>
      <p:sp>
        <p:nvSpPr>
          <p:cNvPr id="32" name="矩形 31">
            <a:extLst xmlns:a="http://schemas.openxmlformats.org/drawingml/2006/main">
              <a:ext uri="{FF2B5EF4-FFF2-40B4-BE49-F238E27FC236}">
                <a16:creationId xmlns:a16="http://schemas.microsoft.com/office/drawing/2014/main" id="{A7A92F37-9D31-47CA-88AE-AD3A809D1B71}"/>
              </a:ext>
            </a:extLst>
          </p:cNvPr>
          <p:cNvSpPr>
            <a:spLocks xmlns:a="http://schemas.openxmlformats.org/drawingml/2006/main" noGrp="1"/>
          </p:cNvSpPr>
          <p:nvPr/>
        </p:nvSpPr>
        <p:spPr>
          <a:xfrm xmlns:a="http://schemas.openxmlformats.org/drawingml/2006/main">
            <a:off x="3900847" y="2960201"/>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b="1">
                <a:solidFill>
                  <a:srgbClr val="C49A2C"/>
                </a:solidFill>
                <a:latin typeface="Arial"/>
                <a:ea typeface="Arial"/>
                <a:cs typeface="Arial"/>
              </a:defRPr>
            </a:defPPr>
            <a:lvl1pPr>
              <a:buNone/>
              <a:defRPr sz="1050" b="1">
                <a:solidFill>
                  <a:srgbClr val="C49A2C"/>
                </a:solidFill>
                <a:latin typeface="Arial"/>
                <a:ea typeface="Arial"/>
                <a:cs typeface="Arial"/>
              </a:defRPr>
            </a:lvl1pPr>
            <a:lvl2pPr>
              <a:buNone/>
              <a:defRPr sz="1050" b="1">
                <a:solidFill>
                  <a:srgbClr val="C49A2C"/>
                </a:solidFill>
                <a:latin typeface="Arial"/>
                <a:ea typeface="Arial"/>
                <a:cs typeface="Arial"/>
              </a:defRPr>
            </a:lvl2pPr>
            <a:lvl3pPr>
              <a:buNone/>
              <a:defRPr sz="1050" b="1">
                <a:solidFill>
                  <a:srgbClr val="C49A2C"/>
                </a:solidFill>
                <a:latin typeface="Arial"/>
                <a:ea typeface="Arial"/>
                <a:cs typeface="Arial"/>
              </a:defRPr>
            </a:lvl3pPr>
            <a:lvl4pPr>
              <a:buNone/>
              <a:defRPr sz="1050" b="1">
                <a:solidFill>
                  <a:srgbClr val="C49A2C"/>
                </a:solidFill>
                <a:latin typeface="Arial"/>
                <a:ea typeface="Arial"/>
                <a:cs typeface="Arial"/>
              </a:defRPr>
            </a:lvl4pPr>
            <a:lvl5pPr>
              <a:buNone/>
              <a:defRPr sz="1050" b="1">
                <a:solidFill>
                  <a:srgbClr val="C49A2C"/>
                </a:solidFill>
                <a:latin typeface="Arial"/>
                <a:ea typeface="Arial"/>
                <a:cs typeface="Arial"/>
              </a:defRPr>
            </a:lvl5pPr>
            <a:lvl6pPr>
              <a:buNone/>
              <a:defRPr sz="1050" b="1">
                <a:solidFill>
                  <a:srgbClr val="C49A2C"/>
                </a:solidFill>
                <a:latin typeface="Arial"/>
                <a:ea typeface="Arial"/>
                <a:cs typeface="Arial"/>
              </a:defRPr>
            </a:lvl6pPr>
            <a:lvl7pPr>
              <a:buNone/>
              <a:defRPr sz="1050" b="1">
                <a:solidFill>
                  <a:srgbClr val="C49A2C"/>
                </a:solidFill>
                <a:latin typeface="Arial"/>
                <a:ea typeface="Arial"/>
                <a:cs typeface="Arial"/>
              </a:defRPr>
            </a:lvl7pPr>
            <a:lvl8pPr>
              <a:buNone/>
              <a:defRPr sz="1050" b="1">
                <a:solidFill>
                  <a:srgbClr val="C49A2C"/>
                </a:solidFill>
                <a:latin typeface="Arial"/>
                <a:ea typeface="Arial"/>
                <a:cs typeface="Arial"/>
              </a:defRPr>
            </a:lvl8pPr>
            <a:lvl9pPr>
              <a:buNone/>
              <a:defRPr sz="1050" b="1">
                <a:solidFill>
                  <a:srgbClr val="C49A2C"/>
                </a:solidFill>
                <a:latin typeface="Arial"/>
                <a:ea typeface="Arial"/>
                <a:cs typeface="Arial"/>
              </a:defRPr>
            </a:lvl9pPr>
          </a:lstStyle>
          <a:p xmlns:a="http://schemas.openxmlformats.org/drawingml/2006/main">
            <a:pPr>
              <a:buNone/>
              <a:defRPr sz="1050" b="1">
                <a:solidFill>
                  <a:srgbClr val="C49A2C"/>
                </a:solidFill>
                <a:latin typeface="Arial"/>
                <a:ea typeface="Arial"/>
                <a:cs typeface="Arial"/>
              </a:defRPr>
            </a:pPr>
            <a:r>
              <a:rPr sz="2400"/>
              <a:t>Data Option 2</a:t>
            </a:r>
            <a:endParaRPr sz="2400" b="1">
              <a:solidFill>
                <a:srgbClr val="C49A2C"/>
              </a:solidFill>
              <a:latin typeface="Arial"/>
              <a:ea typeface="Arial"/>
              <a:cs typeface="Arial"/>
            </a:endParaRPr>
          </a:p>
        </p:txBody>
      </p:sp>
      <p:sp>
        <p:nvSpPr>
          <p:cNvPr id="33" name="矩形 32">
            <a:extLst xmlns:a="http://schemas.openxmlformats.org/drawingml/2006/main">
              <a:ext uri="{FF2B5EF4-FFF2-40B4-BE49-F238E27FC236}">
                <a16:creationId xmlns:a16="http://schemas.microsoft.com/office/drawing/2014/main" id="{77F20882-DE28-4C59-82BB-CAE40AF03231}"/>
              </a:ext>
            </a:extLst>
          </p:cNvPr>
          <p:cNvSpPr>
            <a:spLocks xmlns:a="http://schemas.openxmlformats.org/drawingml/2006/main" noGrp="1"/>
          </p:cNvSpPr>
          <p:nvPr/>
        </p:nvSpPr>
        <p:spPr>
          <a:xfrm xmlns:a="http://schemas.openxmlformats.org/drawingml/2006/main">
            <a:off x="3916001" y="3492758"/>
            <a:ext cx="2725347"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a:solidFill>
                  <a:srgbClr val="686E75"/>
                </a:solidFill>
                <a:latin typeface="Arial"/>
                <a:ea typeface="Arial"/>
                <a:cs typeface="Arial"/>
              </a:defRPr>
            </a:defPPr>
            <a:lvl1pPr>
              <a:buNone/>
              <a:defRPr sz="1500">
                <a:solidFill>
                  <a:srgbClr val="686E75"/>
                </a:solidFill>
                <a:latin typeface="Arial"/>
                <a:ea typeface="Arial"/>
                <a:cs typeface="Arial"/>
              </a:defRPr>
            </a:lvl1pPr>
            <a:lvl2pPr>
              <a:buNone/>
              <a:defRPr sz="1500">
                <a:solidFill>
                  <a:srgbClr val="686E75"/>
                </a:solidFill>
                <a:latin typeface="Arial"/>
                <a:ea typeface="Arial"/>
                <a:cs typeface="Arial"/>
              </a:defRPr>
            </a:lvl2pPr>
            <a:lvl3pPr>
              <a:buNone/>
              <a:defRPr sz="1500">
                <a:solidFill>
                  <a:srgbClr val="686E75"/>
                </a:solidFill>
                <a:latin typeface="Arial"/>
                <a:ea typeface="Arial"/>
                <a:cs typeface="Arial"/>
              </a:defRPr>
            </a:lvl3pPr>
            <a:lvl4pPr>
              <a:buNone/>
              <a:defRPr sz="1500">
                <a:solidFill>
                  <a:srgbClr val="686E75"/>
                </a:solidFill>
                <a:latin typeface="Arial"/>
                <a:ea typeface="Arial"/>
                <a:cs typeface="Arial"/>
              </a:defRPr>
            </a:lvl4pPr>
            <a:lvl5pPr>
              <a:buNone/>
              <a:defRPr sz="1500">
                <a:solidFill>
                  <a:srgbClr val="686E75"/>
                </a:solidFill>
                <a:latin typeface="Arial"/>
                <a:ea typeface="Arial"/>
                <a:cs typeface="Arial"/>
              </a:defRPr>
            </a:lvl5pPr>
            <a:lvl6pPr>
              <a:buNone/>
              <a:defRPr sz="1500">
                <a:solidFill>
                  <a:srgbClr val="686E75"/>
                </a:solidFill>
                <a:latin typeface="Arial"/>
                <a:ea typeface="Arial"/>
                <a:cs typeface="Arial"/>
              </a:defRPr>
            </a:lvl6pPr>
            <a:lvl7pPr>
              <a:buNone/>
              <a:defRPr sz="1500">
                <a:solidFill>
                  <a:srgbClr val="686E75"/>
                </a:solidFill>
                <a:latin typeface="Arial"/>
                <a:ea typeface="Arial"/>
                <a:cs typeface="Arial"/>
              </a:defRPr>
            </a:lvl7pPr>
            <a:lvl8pPr>
              <a:buNone/>
              <a:defRPr sz="1500">
                <a:solidFill>
                  <a:srgbClr val="686E75"/>
                </a:solidFill>
                <a:latin typeface="Arial"/>
                <a:ea typeface="Arial"/>
                <a:cs typeface="Arial"/>
              </a:defRPr>
            </a:lvl8pPr>
            <a:lvl9pPr>
              <a:buNone/>
              <a:defRPr sz="1500">
                <a:solidFill>
                  <a:srgbClr val="686E75"/>
                </a:solidFill>
                <a:latin typeface="Arial"/>
                <a:ea typeface="Arial"/>
                <a:cs typeface="Arial"/>
              </a:defRPr>
            </a:lvl9pPr>
          </a:lstStyle>
          <a:p xmlns:a="http://schemas.openxmlformats.org/drawingml/2006/main">
            <a:pPr>
              <a:lnSpc>
                <a:spcPct val="113000"/>
              </a:lnSpc>
              <a:buNone/>
              <a:defRPr sz="1500">
                <a:solidFill>
                  <a:srgbClr val="686E75"/>
                </a:solidFill>
                <a:latin typeface="Arial"/>
                <a:ea typeface="Arial"/>
                <a:cs typeface="Arial"/>
              </a:defRPr>
            </a:pPr>
            <a:r>
              <a:rPr sz="2000">
                <a:solidFill>
                  <a:srgbClr val="686E75"/>
                </a:solidFill>
                <a:latin typeface="Arial"/>
                <a:ea typeface="Arial"/>
                <a:cs typeface="Arial"/>
              </a:rPr>
              <a:t>Self-compiled corpus. </a:t>
            </a:r>
            <a:r>
              <a:rPr sz="2000"/>
              <a:t>No more than 102M words calculated using  </a:t>
            </a:r>
            <a:r>
              <a:rPr sz="2000"/>
              <a:t>Jieba</a:t>
            </a:r>
            <a:r>
              <a:rPr sz="2000"/>
              <a:t> 0.42.1 (default mode)</a:t>
            </a:r>
            <a:endParaRPr sz="2000">
              <a:solidFill>
                <a:srgbClr val="686E75"/>
              </a:solidFill>
              <a:latin typeface="Arial"/>
              <a:ea typeface="Arial"/>
              <a:cs typeface="Arial"/>
            </a:endParaRPr>
          </a:p>
        </p:txBody>
      </p:sp>
      <p:sp>
        <p:nvSpPr>
          <p:cNvPr id="34" name="矩形 33">
            <a:extLst xmlns:a="http://schemas.openxmlformats.org/drawingml/2006/main">
              <a:ext uri="{FF2B5EF4-FFF2-40B4-BE49-F238E27FC236}">
                <a16:creationId xmlns:a16="http://schemas.microsoft.com/office/drawing/2014/main" id="{255F3852-3DFE-454E-A324-E726D3F289AE}"/>
              </a:ext>
            </a:extLst>
          </p:cNvPr>
          <p:cNvSpPr>
            <a:spLocks xmlns:a="http://schemas.openxmlformats.org/drawingml/2006/main" noGrp="1"/>
          </p:cNvSpPr>
          <p:nvPr/>
        </p:nvSpPr>
        <p:spPr>
          <a:xfrm xmlns:a="http://schemas.openxmlformats.org/drawingml/2006/main" flipH="1">
            <a:off x="6859171" y="1664546"/>
            <a:ext cx="10800" cy="432000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5" name="矩形 34">
            <a:extLst xmlns:a="http://schemas.openxmlformats.org/drawingml/2006/main">
              <a:ext uri="{FF2B5EF4-FFF2-40B4-BE49-F238E27FC236}">
                <a16:creationId xmlns:a16="http://schemas.microsoft.com/office/drawing/2014/main" id="{16E08FA9-A7E8-4CC7-952D-EEB154CDF1BE}"/>
              </a:ext>
            </a:extLst>
          </p:cNvPr>
          <p:cNvSpPr>
            <a:spLocks xmlns:a="http://schemas.openxmlformats.org/drawingml/2006/main" noGrp="1"/>
          </p:cNvSpPr>
          <p:nvPr/>
        </p:nvSpPr>
        <p:spPr>
          <a:xfrm xmlns:a="http://schemas.openxmlformats.org/drawingml/2006/main">
            <a:off x="7286625" y="1317486"/>
            <a:ext cx="4126039"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b="1">
                <a:solidFill>
                  <a:srgbClr val="C49A2C"/>
                </a:solidFill>
                <a:latin typeface="Arial"/>
                <a:ea typeface="Arial"/>
                <a:cs typeface="Arial"/>
              </a:defRPr>
            </a:defPPr>
            <a:lvl1pPr>
              <a:buNone/>
              <a:defRPr sz="1050" b="1">
                <a:solidFill>
                  <a:srgbClr val="C49A2C"/>
                </a:solidFill>
                <a:latin typeface="Arial"/>
                <a:ea typeface="Arial"/>
                <a:cs typeface="Arial"/>
              </a:defRPr>
            </a:lvl1pPr>
            <a:lvl2pPr>
              <a:buNone/>
              <a:defRPr sz="1050" b="1">
                <a:solidFill>
                  <a:srgbClr val="C49A2C"/>
                </a:solidFill>
                <a:latin typeface="Arial"/>
                <a:ea typeface="Arial"/>
                <a:cs typeface="Arial"/>
              </a:defRPr>
            </a:lvl2pPr>
            <a:lvl3pPr>
              <a:buNone/>
              <a:defRPr sz="1050" b="1">
                <a:solidFill>
                  <a:srgbClr val="C49A2C"/>
                </a:solidFill>
                <a:latin typeface="Arial"/>
                <a:ea typeface="Arial"/>
                <a:cs typeface="Arial"/>
              </a:defRPr>
            </a:lvl3pPr>
            <a:lvl4pPr>
              <a:buNone/>
              <a:defRPr sz="1050" b="1">
                <a:solidFill>
                  <a:srgbClr val="C49A2C"/>
                </a:solidFill>
                <a:latin typeface="Arial"/>
                <a:ea typeface="Arial"/>
                <a:cs typeface="Arial"/>
              </a:defRPr>
            </a:lvl4pPr>
            <a:lvl5pPr>
              <a:buNone/>
              <a:defRPr sz="1050" b="1">
                <a:solidFill>
                  <a:srgbClr val="C49A2C"/>
                </a:solidFill>
                <a:latin typeface="Arial"/>
                <a:ea typeface="Arial"/>
                <a:cs typeface="Arial"/>
              </a:defRPr>
            </a:lvl5pPr>
            <a:lvl6pPr>
              <a:buNone/>
              <a:defRPr sz="1050" b="1">
                <a:solidFill>
                  <a:srgbClr val="C49A2C"/>
                </a:solidFill>
                <a:latin typeface="Arial"/>
                <a:ea typeface="Arial"/>
                <a:cs typeface="Arial"/>
              </a:defRPr>
            </a:lvl6pPr>
            <a:lvl7pPr>
              <a:buNone/>
              <a:defRPr sz="1050" b="1">
                <a:solidFill>
                  <a:srgbClr val="C49A2C"/>
                </a:solidFill>
                <a:latin typeface="Arial"/>
                <a:ea typeface="Arial"/>
                <a:cs typeface="Arial"/>
              </a:defRPr>
            </a:lvl7pPr>
            <a:lvl8pPr>
              <a:buNone/>
              <a:defRPr sz="1050" b="1">
                <a:solidFill>
                  <a:srgbClr val="C49A2C"/>
                </a:solidFill>
                <a:latin typeface="Arial"/>
                <a:ea typeface="Arial"/>
                <a:cs typeface="Arial"/>
              </a:defRPr>
            </a:lvl8pPr>
            <a:lvl9pPr>
              <a:buNone/>
              <a:defRPr sz="1050" b="1">
                <a:solidFill>
                  <a:srgbClr val="C49A2C"/>
                </a:solidFill>
                <a:latin typeface="Arial"/>
                <a:ea typeface="Arial"/>
                <a:cs typeface="Arial"/>
              </a:defRPr>
            </a:lvl9pPr>
          </a:lstStyle>
          <a:p xmlns:a="http://schemas.openxmlformats.org/drawingml/2006/main">
            <a:pPr>
              <a:lnSpc>
                <a:spcPct val="150000"/>
              </a:lnSpc>
              <a:buNone/>
              <a:defRPr sz="1050" b="1">
                <a:solidFill>
                  <a:srgbClr val="C49A2C"/>
                </a:solidFill>
                <a:latin typeface="Arial"/>
                <a:ea typeface="Arial"/>
                <a:cs typeface="Arial"/>
              </a:defRPr>
            </a:pPr>
            <a:r>
              <a:rPr sz="2800" b="1">
                <a:solidFill>
                  <a:srgbClr val="9E1B32"/>
                </a:solidFill>
                <a:latin typeface="Arial"/>
                <a:ea typeface="Arial"/>
                <a:cs typeface="Arial"/>
              </a:rPr>
              <a:t>Open Design Space</a:t>
            </a:r>
            <a:endParaRPr sz="2400" b="1">
              <a:solidFill>
                <a:srgbClr val="9E1B32"/>
              </a:solidFill>
              <a:latin typeface="Arial"/>
              <a:ea typeface="Arial"/>
              <a:cs typeface="Arial"/>
            </a:endParaRPr>
          </a:p>
          <a:p xmlns:a="http://schemas.openxmlformats.org/drawingml/2006/main">
            <a:pPr>
              <a:lnSpc>
                <a:spcPct val="150000"/>
              </a:lnSpc>
              <a:buNone/>
              <a:defRPr sz="1050" b="1">
                <a:solidFill>
                  <a:srgbClr val="C49A2C"/>
                </a:solidFill>
                <a:latin typeface="Arial"/>
                <a:ea typeface="Arial"/>
                <a:cs typeface="Arial"/>
              </a:defRPr>
            </a:pPr>
            <a:r>
              <a:rPr sz="2400">
                <a:solidFill>
                  <a:srgbClr val="20242A"/>
                </a:solidFill>
              </a:rPr>
              <a:t>Tokenizer</a:t>
            </a:r>
          </a:p>
          <a:p xmlns:a="http://schemas.openxmlformats.org/drawingml/2006/main">
            <a:pPr>
              <a:lnSpc>
                <a:spcPct val="150000"/>
              </a:lnSpc>
              <a:buNone/>
              <a:defRPr sz="1050" b="1">
                <a:solidFill>
                  <a:srgbClr val="C49A2C"/>
                </a:solidFill>
                <a:latin typeface="Arial"/>
                <a:ea typeface="Arial"/>
                <a:cs typeface="Arial"/>
              </a:defRPr>
            </a:pPr>
            <a:r>
              <a:rPr sz="2400" b="1">
                <a:solidFill>
                  <a:srgbClr val="20242A"/>
                </a:solidFill>
                <a:latin typeface="Arial"/>
                <a:ea typeface="Arial"/>
                <a:cs typeface="Arial"/>
              </a:rPr>
              <a:t>Architecture</a:t>
            </a:r>
          </a:p>
          <a:p xmlns:a="http://schemas.openxmlformats.org/drawingml/2006/main">
            <a:pPr>
              <a:lnSpc>
                <a:spcPct val="150000"/>
              </a:lnSpc>
              <a:buNone/>
              <a:defRPr sz="1050" b="1">
                <a:solidFill>
                  <a:srgbClr val="C49A2C"/>
                </a:solidFill>
                <a:latin typeface="Arial"/>
                <a:ea typeface="Arial"/>
                <a:cs typeface="Arial"/>
              </a:defRPr>
            </a:pPr>
            <a:r>
              <a:rPr sz="2400">
                <a:solidFill>
                  <a:srgbClr val="20242A"/>
                </a:solidFill>
              </a:rPr>
              <a:t>Model Scale</a:t>
            </a:r>
          </a:p>
          <a:p xmlns:a="http://schemas.openxmlformats.org/drawingml/2006/main">
            <a:pPr>
              <a:lnSpc>
                <a:spcPct val="150000"/>
              </a:lnSpc>
              <a:buNone/>
              <a:defRPr sz="1050" b="1">
                <a:solidFill>
                  <a:srgbClr val="C49A2C"/>
                </a:solidFill>
                <a:latin typeface="Arial"/>
                <a:ea typeface="Arial"/>
                <a:cs typeface="Arial"/>
              </a:defRPr>
            </a:pPr>
            <a:r>
              <a:rPr sz="2400" b="1">
                <a:solidFill>
                  <a:srgbClr val="20242A"/>
                </a:solidFill>
                <a:latin typeface="Arial"/>
                <a:ea typeface="Arial"/>
                <a:cs typeface="Arial"/>
              </a:rPr>
              <a:t>Training Strategy</a:t>
            </a:r>
          </a:p>
          <a:p xmlns:a="http://schemas.openxmlformats.org/drawingml/2006/main">
            <a:pPr>
              <a:lnSpc>
                <a:spcPct val="150000"/>
              </a:lnSpc>
              <a:buNone/>
              <a:defRPr sz="1050" b="1">
                <a:solidFill>
                  <a:srgbClr val="C49A2C"/>
                </a:solidFill>
                <a:latin typeface="Arial"/>
                <a:ea typeface="Arial"/>
                <a:cs typeface="Arial"/>
              </a:defRPr>
            </a:pPr>
            <a:r>
              <a:rPr sz="2400">
                <a:solidFill>
                  <a:srgbClr val="20242A"/>
                </a:solidFill>
              </a:rPr>
              <a:t>…</a:t>
            </a:r>
            <a:endParaRPr sz="2400" b="1">
              <a:solidFill>
                <a:srgbClr val="20242A"/>
              </a:solidFill>
              <a:latin typeface="Arial"/>
              <a:ea typeface="Arial"/>
              <a:cs typeface="Arial"/>
            </a:endParaRPr>
          </a:p>
        </p:txBody>
      </p:sp>
    </p:spTree>
    <p:extLst>
      <p:ext uri="{BB962C8B-B14F-4D97-AF65-F5344CB8AC3E}">
        <p14:creationId xmlns:p14="http://schemas.microsoft.com/office/powerpoint/2010/main" val="10212122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5-title">
            <a:extLst xmlns:a="http://schemas.openxmlformats.org/drawingml/2006/main">
              <a:ext uri="{FF2B5EF4-FFF2-40B4-BE49-F238E27FC236}">
                <a16:creationId xmlns:a16="http://schemas.microsoft.com/office/drawing/2014/main" id="{78A583D8-32CC-4F33-B0B4-B24608150094}"/>
              </a:ext>
            </a:extLst>
          </p:cNvPr>
          <p:cNvSpPr>
            <a:spLocks xmlns:a="http://schemas.openxmlformats.org/drawingml/2006/main" noGrp="1"/>
          </p:cNvSpPr>
          <p:nvPr/>
        </p:nvSpPr>
        <p:spPr>
          <a:xfrm xmlns:a="http://schemas.openxmlformats.org/drawingml/2006/main">
            <a:off x="685800" y="40957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3150" b="1">
                <a:solidFill>
                  <a:srgbClr val="20242A"/>
                </a:solidFill>
                <a:latin typeface="Arial"/>
                <a:ea typeface="Arial"/>
                <a:cs typeface="Arial"/>
              </a:defRPr>
            </a:pPr>
            <a:r>
              <a:rPr sz="4000" b="1">
                <a:solidFill>
                  <a:srgbClr val="20242A"/>
                </a:solidFill>
                <a:latin typeface="Arial"/>
                <a:ea typeface="Arial"/>
                <a:cs typeface="Arial"/>
              </a:rPr>
              <a:t>Final Results</a:t>
            </a:r>
            <a:endParaRPr sz="4000" b="1">
              <a:solidFill>
                <a:srgbClr val="20242A"/>
              </a:solidFill>
              <a:latin typeface="Arial"/>
              <a:ea typeface="Arial"/>
              <a:cs typeface="Arial"/>
            </a:endParaRPr>
          </a:p>
        </p:txBody>
      </p:sp>
      <p:sp>
        <p:nvSpPr>
          <p:cNvPr id="2" name="slide-5-top-rule">
            <a:extLst xmlns:a="http://schemas.openxmlformats.org/drawingml/2006/main">
              <a:ext uri="{FF2B5EF4-FFF2-40B4-BE49-F238E27FC236}">
                <a16:creationId xmlns:a16="http://schemas.microsoft.com/office/drawing/2014/main" id="{F390E3A6-536F-44BF-8D35-E6B2786B4B10}"/>
              </a:ext>
            </a:extLst>
          </p:cNvPr>
          <p:cNvSpPr>
            <a:spLocks xmlns:a="http://schemas.openxmlformats.org/drawingml/2006/main" noGrp="1"/>
          </p:cNvSpPr>
          <p:nvPr/>
        </p:nvSpPr>
        <p:spPr>
          <a:xfrm xmlns:a="http://schemas.openxmlformats.org/drawingml/2006/main">
            <a:off x="7517695" y="743764"/>
            <a:ext cx="43200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矩形 2">
            <a:extLst xmlns:a="http://schemas.openxmlformats.org/drawingml/2006/main">
              <a:ext uri="{FF2B5EF4-FFF2-40B4-BE49-F238E27FC236}">
                <a16:creationId xmlns:a16="http://schemas.microsoft.com/office/drawing/2014/main" id="{FAD781C5-7393-4663-8BDC-322B8ECEE64C}"/>
              </a:ext>
            </a:extLst>
          </p:cNvPr>
          <p:cNvSpPr>
            <a:spLocks xmlns:a="http://schemas.openxmlformats.org/drawingml/2006/main" noGrp="1"/>
          </p:cNvSpPr>
          <p:nvPr/>
        </p:nvSpPr>
        <p:spPr>
          <a:xfrm xmlns:a="http://schemas.openxmlformats.org/drawingml/2006/main">
            <a:off x="7308687" y="1067614"/>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3600" b="1">
                <a:solidFill>
                  <a:srgbClr val="9E1B32"/>
                </a:solidFill>
                <a:latin typeface="Arial"/>
                <a:ea typeface="Arial"/>
                <a:cs typeface="Arial"/>
              </a:defRPr>
            </a:defPPr>
            <a:lvl1pPr algn="ctr">
              <a:buNone/>
              <a:defRPr sz="3600" b="1">
                <a:solidFill>
                  <a:srgbClr val="9E1B32"/>
                </a:solidFill>
                <a:latin typeface="Arial"/>
                <a:ea typeface="Arial"/>
                <a:cs typeface="Arial"/>
              </a:defRPr>
            </a:lvl1pPr>
            <a:lvl2pPr algn="ctr">
              <a:buNone/>
              <a:defRPr sz="3600" b="1">
                <a:solidFill>
                  <a:srgbClr val="9E1B32"/>
                </a:solidFill>
                <a:latin typeface="Arial"/>
                <a:ea typeface="Arial"/>
                <a:cs typeface="Arial"/>
              </a:defRPr>
            </a:lvl2pPr>
            <a:lvl3pPr algn="ctr">
              <a:buNone/>
              <a:defRPr sz="3600" b="1">
                <a:solidFill>
                  <a:srgbClr val="9E1B32"/>
                </a:solidFill>
                <a:latin typeface="Arial"/>
                <a:ea typeface="Arial"/>
                <a:cs typeface="Arial"/>
              </a:defRPr>
            </a:lvl3pPr>
            <a:lvl4pPr algn="ctr">
              <a:buNone/>
              <a:defRPr sz="3600" b="1">
                <a:solidFill>
                  <a:srgbClr val="9E1B32"/>
                </a:solidFill>
                <a:latin typeface="Arial"/>
                <a:ea typeface="Arial"/>
                <a:cs typeface="Arial"/>
              </a:defRPr>
            </a:lvl4pPr>
            <a:lvl5pPr algn="ctr">
              <a:buNone/>
              <a:defRPr sz="3600" b="1">
                <a:solidFill>
                  <a:srgbClr val="9E1B32"/>
                </a:solidFill>
                <a:latin typeface="Arial"/>
                <a:ea typeface="Arial"/>
                <a:cs typeface="Arial"/>
              </a:defRPr>
            </a:lvl5pPr>
            <a:lvl6pPr algn="ctr">
              <a:buNone/>
              <a:defRPr sz="3600" b="1">
                <a:solidFill>
                  <a:srgbClr val="9E1B32"/>
                </a:solidFill>
                <a:latin typeface="Arial"/>
                <a:ea typeface="Arial"/>
                <a:cs typeface="Arial"/>
              </a:defRPr>
            </a:lvl6pPr>
            <a:lvl7pPr algn="ctr">
              <a:buNone/>
              <a:defRPr sz="3600" b="1">
                <a:solidFill>
                  <a:srgbClr val="9E1B32"/>
                </a:solidFill>
                <a:latin typeface="Arial"/>
                <a:ea typeface="Arial"/>
                <a:cs typeface="Arial"/>
              </a:defRPr>
            </a:lvl7pPr>
            <a:lvl8pPr algn="ctr">
              <a:buNone/>
              <a:defRPr sz="3600" b="1">
                <a:solidFill>
                  <a:srgbClr val="9E1B32"/>
                </a:solidFill>
                <a:latin typeface="Arial"/>
                <a:ea typeface="Arial"/>
                <a:cs typeface="Arial"/>
              </a:defRPr>
            </a:lvl8pPr>
            <a:lvl9pPr algn="ctr">
              <a:buNone/>
              <a:defRPr sz="3600" b="1">
                <a:solidFill>
                  <a:srgbClr val="9E1B32"/>
                </a:solidFill>
                <a:latin typeface="Arial"/>
                <a:ea typeface="Arial"/>
                <a:cs typeface="Arial"/>
              </a:defRPr>
            </a:lvl9pPr>
          </a:lstStyle>
          <a:p xmlns:a="http://schemas.openxmlformats.org/drawingml/2006/main">
            <a:pPr algn="ctr">
              <a:buNone/>
              <a:defRPr sz="3600" b="1">
                <a:solidFill>
                  <a:srgbClr val="9E1B32"/>
                </a:solidFill>
                <a:latin typeface="Arial"/>
                <a:ea typeface="Arial"/>
                <a:cs typeface="Arial"/>
              </a:defRPr>
            </a:pPr>
            <a:r>
              <a:rPr sz="3600" b="1">
                <a:solidFill>
                  <a:srgbClr val="9E1B32"/>
                </a:solidFill>
                <a:latin typeface="Arial"/>
                <a:ea typeface="Arial"/>
                <a:cs typeface="Arial"/>
              </a:rPr>
              <a:t>18</a:t>
            </a:r>
          </a:p>
        </p:txBody>
      </p:sp>
      <p:sp>
        <p:nvSpPr>
          <p:cNvPr id="4" name="矩形 3">
            <a:extLst xmlns:a="http://schemas.openxmlformats.org/drawingml/2006/main">
              <a:ext uri="{FF2B5EF4-FFF2-40B4-BE49-F238E27FC236}">
                <a16:creationId xmlns:a16="http://schemas.microsoft.com/office/drawing/2014/main" id="{37006372-47FD-4D10-8B7D-392A95FC54B9}"/>
              </a:ext>
            </a:extLst>
          </p:cNvPr>
          <p:cNvSpPr>
            <a:spLocks xmlns:a="http://schemas.openxmlformats.org/drawingml/2006/main" noGrp="1"/>
          </p:cNvSpPr>
          <p:nvPr/>
        </p:nvSpPr>
        <p:spPr>
          <a:xfrm xmlns:a="http://schemas.openxmlformats.org/drawingml/2006/main">
            <a:off x="7308687" y="1639114"/>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686E75"/>
                </a:solidFill>
                <a:latin typeface="Arial"/>
                <a:ea typeface="Arial"/>
                <a:cs typeface="Arial"/>
              </a:defRPr>
            </a:defPPr>
            <a:lvl1pPr algn="ctr">
              <a:buNone/>
              <a:defRPr sz="1425" b="1">
                <a:solidFill>
                  <a:srgbClr val="686E75"/>
                </a:solidFill>
                <a:latin typeface="Arial"/>
                <a:ea typeface="Arial"/>
                <a:cs typeface="Arial"/>
              </a:defRPr>
            </a:lvl1pPr>
            <a:lvl2pPr algn="ctr">
              <a:buNone/>
              <a:defRPr sz="1425" b="1">
                <a:solidFill>
                  <a:srgbClr val="686E75"/>
                </a:solidFill>
                <a:latin typeface="Arial"/>
                <a:ea typeface="Arial"/>
                <a:cs typeface="Arial"/>
              </a:defRPr>
            </a:lvl2pPr>
            <a:lvl3pPr algn="ctr">
              <a:buNone/>
              <a:defRPr sz="1425" b="1">
                <a:solidFill>
                  <a:srgbClr val="686E75"/>
                </a:solidFill>
                <a:latin typeface="Arial"/>
                <a:ea typeface="Arial"/>
                <a:cs typeface="Arial"/>
              </a:defRPr>
            </a:lvl3pPr>
            <a:lvl4pPr algn="ctr">
              <a:buNone/>
              <a:defRPr sz="1425" b="1">
                <a:solidFill>
                  <a:srgbClr val="686E75"/>
                </a:solidFill>
                <a:latin typeface="Arial"/>
                <a:ea typeface="Arial"/>
                <a:cs typeface="Arial"/>
              </a:defRPr>
            </a:lvl4pPr>
            <a:lvl5pPr algn="ctr">
              <a:buNone/>
              <a:defRPr sz="1425" b="1">
                <a:solidFill>
                  <a:srgbClr val="686E75"/>
                </a:solidFill>
                <a:latin typeface="Arial"/>
                <a:ea typeface="Arial"/>
                <a:cs typeface="Arial"/>
              </a:defRPr>
            </a:lvl5pPr>
            <a:lvl6pPr algn="ctr">
              <a:buNone/>
              <a:defRPr sz="1425" b="1">
                <a:solidFill>
                  <a:srgbClr val="686E75"/>
                </a:solidFill>
                <a:latin typeface="Arial"/>
                <a:ea typeface="Arial"/>
                <a:cs typeface="Arial"/>
              </a:defRPr>
            </a:lvl6pPr>
            <a:lvl7pPr algn="ctr">
              <a:buNone/>
              <a:defRPr sz="1425" b="1">
                <a:solidFill>
                  <a:srgbClr val="686E75"/>
                </a:solidFill>
                <a:latin typeface="Arial"/>
                <a:ea typeface="Arial"/>
                <a:cs typeface="Arial"/>
              </a:defRPr>
            </a:lvl7pPr>
            <a:lvl8pPr algn="ctr">
              <a:buNone/>
              <a:defRPr sz="1425" b="1">
                <a:solidFill>
                  <a:srgbClr val="686E75"/>
                </a:solidFill>
                <a:latin typeface="Arial"/>
                <a:ea typeface="Arial"/>
                <a:cs typeface="Arial"/>
              </a:defRPr>
            </a:lvl8pPr>
            <a:lvl9pPr algn="ctr">
              <a:buNone/>
              <a:defRPr sz="1425" b="1">
                <a:solidFill>
                  <a:srgbClr val="686E75"/>
                </a:solidFill>
                <a:latin typeface="Arial"/>
                <a:ea typeface="Arial"/>
                <a:cs typeface="Arial"/>
              </a:defRPr>
            </a:lvl9pPr>
          </a:lstStyle>
          <a:p xmlns:a="http://schemas.openxmlformats.org/drawingml/2006/main">
            <a:pPr algn="ctr">
              <a:buNone/>
              <a:defRPr sz="1425" b="1">
                <a:solidFill>
                  <a:srgbClr val="686E75"/>
                </a:solidFill>
                <a:latin typeface="Arial"/>
                <a:ea typeface="Arial"/>
                <a:cs typeface="Arial"/>
              </a:defRPr>
            </a:pPr>
            <a:r>
              <a:rPr sz="1425" b="1">
                <a:solidFill>
                  <a:srgbClr val="686E75"/>
                </a:solidFill>
                <a:latin typeface="Arial"/>
                <a:ea typeface="Arial"/>
                <a:cs typeface="Arial"/>
              </a:rPr>
              <a:t>TEAMS</a:t>
            </a:r>
          </a:p>
        </p:txBody>
      </p:sp>
      <p:sp>
        <p:nvSpPr>
          <p:cNvPr id="5" name="矩形 4">
            <a:extLst xmlns:a="http://schemas.openxmlformats.org/drawingml/2006/main">
              <a:ext uri="{FF2B5EF4-FFF2-40B4-BE49-F238E27FC236}">
                <a16:creationId xmlns:a16="http://schemas.microsoft.com/office/drawing/2014/main" id="{FC934118-7B31-4E44-A216-A1B15DC64FDE}"/>
              </a:ext>
            </a:extLst>
          </p:cNvPr>
          <p:cNvSpPr>
            <a:spLocks xmlns:a="http://schemas.openxmlformats.org/drawingml/2006/main" noGrp="1"/>
          </p:cNvSpPr>
          <p:nvPr/>
        </p:nvSpPr>
        <p:spPr>
          <a:xfrm xmlns:a="http://schemas.openxmlformats.org/drawingml/2006/main">
            <a:off x="9687213" y="1067614"/>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3600" b="1">
                <a:solidFill>
                  <a:srgbClr val="9E1B32"/>
                </a:solidFill>
                <a:latin typeface="Arial"/>
                <a:ea typeface="Arial"/>
                <a:cs typeface="Arial"/>
              </a:defRPr>
            </a:defPPr>
            <a:lvl1pPr algn="ctr">
              <a:buNone/>
              <a:defRPr sz="3600" b="1">
                <a:solidFill>
                  <a:srgbClr val="9E1B32"/>
                </a:solidFill>
                <a:latin typeface="Arial"/>
                <a:ea typeface="Arial"/>
                <a:cs typeface="Arial"/>
              </a:defRPr>
            </a:lvl1pPr>
            <a:lvl2pPr algn="ctr">
              <a:buNone/>
              <a:defRPr sz="3600" b="1">
                <a:solidFill>
                  <a:srgbClr val="9E1B32"/>
                </a:solidFill>
                <a:latin typeface="Arial"/>
                <a:ea typeface="Arial"/>
                <a:cs typeface="Arial"/>
              </a:defRPr>
            </a:lvl2pPr>
            <a:lvl3pPr algn="ctr">
              <a:buNone/>
              <a:defRPr sz="3600" b="1">
                <a:solidFill>
                  <a:srgbClr val="9E1B32"/>
                </a:solidFill>
                <a:latin typeface="Arial"/>
                <a:ea typeface="Arial"/>
                <a:cs typeface="Arial"/>
              </a:defRPr>
            </a:lvl3pPr>
            <a:lvl4pPr algn="ctr">
              <a:buNone/>
              <a:defRPr sz="3600" b="1">
                <a:solidFill>
                  <a:srgbClr val="9E1B32"/>
                </a:solidFill>
                <a:latin typeface="Arial"/>
                <a:ea typeface="Arial"/>
                <a:cs typeface="Arial"/>
              </a:defRPr>
            </a:lvl4pPr>
            <a:lvl5pPr algn="ctr">
              <a:buNone/>
              <a:defRPr sz="3600" b="1">
                <a:solidFill>
                  <a:srgbClr val="9E1B32"/>
                </a:solidFill>
                <a:latin typeface="Arial"/>
                <a:ea typeface="Arial"/>
                <a:cs typeface="Arial"/>
              </a:defRPr>
            </a:lvl5pPr>
            <a:lvl6pPr algn="ctr">
              <a:buNone/>
              <a:defRPr sz="3600" b="1">
                <a:solidFill>
                  <a:srgbClr val="9E1B32"/>
                </a:solidFill>
                <a:latin typeface="Arial"/>
                <a:ea typeface="Arial"/>
                <a:cs typeface="Arial"/>
              </a:defRPr>
            </a:lvl6pPr>
            <a:lvl7pPr algn="ctr">
              <a:buNone/>
              <a:defRPr sz="3600" b="1">
                <a:solidFill>
                  <a:srgbClr val="9E1B32"/>
                </a:solidFill>
                <a:latin typeface="Arial"/>
                <a:ea typeface="Arial"/>
                <a:cs typeface="Arial"/>
              </a:defRPr>
            </a:lvl7pPr>
            <a:lvl8pPr algn="ctr">
              <a:buNone/>
              <a:defRPr sz="3600" b="1">
                <a:solidFill>
                  <a:srgbClr val="9E1B32"/>
                </a:solidFill>
                <a:latin typeface="Arial"/>
                <a:ea typeface="Arial"/>
                <a:cs typeface="Arial"/>
              </a:defRPr>
            </a:lvl8pPr>
            <a:lvl9pPr algn="ctr">
              <a:buNone/>
              <a:defRPr sz="3600" b="1">
                <a:solidFill>
                  <a:srgbClr val="9E1B32"/>
                </a:solidFill>
                <a:latin typeface="Arial"/>
                <a:ea typeface="Arial"/>
                <a:cs typeface="Arial"/>
              </a:defRPr>
            </a:lvl9pPr>
          </a:lstStyle>
          <a:p xmlns:a="http://schemas.openxmlformats.org/drawingml/2006/main">
            <a:pPr algn="ctr">
              <a:buNone/>
              <a:defRPr sz="3600" b="1">
                <a:solidFill>
                  <a:srgbClr val="9E1B32"/>
                </a:solidFill>
                <a:latin typeface="Arial"/>
                <a:ea typeface="Arial"/>
                <a:cs typeface="Arial"/>
              </a:defRPr>
            </a:pPr>
            <a:r>
              <a:rPr sz="3600" b="1">
                <a:solidFill>
                  <a:srgbClr val="9E1B32"/>
                </a:solidFill>
                <a:latin typeface="Arial"/>
                <a:ea typeface="Arial"/>
                <a:cs typeface="Arial"/>
              </a:rPr>
              <a:t>28</a:t>
            </a:r>
          </a:p>
        </p:txBody>
      </p:sp>
      <p:sp>
        <p:nvSpPr>
          <p:cNvPr id="6" name="矩形 5">
            <a:extLst xmlns:a="http://schemas.openxmlformats.org/drawingml/2006/main">
              <a:ext uri="{FF2B5EF4-FFF2-40B4-BE49-F238E27FC236}">
                <a16:creationId xmlns:a16="http://schemas.microsoft.com/office/drawing/2014/main" id="{5B2327B5-A3E5-4056-8700-7AFDF12097C1}"/>
              </a:ext>
            </a:extLst>
          </p:cNvPr>
          <p:cNvSpPr>
            <a:spLocks xmlns:a="http://schemas.openxmlformats.org/drawingml/2006/main" noGrp="1"/>
          </p:cNvSpPr>
          <p:nvPr/>
        </p:nvSpPr>
        <p:spPr>
          <a:xfrm xmlns:a="http://schemas.openxmlformats.org/drawingml/2006/main">
            <a:off x="9687213" y="1639114"/>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686E75"/>
                </a:solidFill>
                <a:latin typeface="Arial"/>
                <a:ea typeface="Arial"/>
                <a:cs typeface="Arial"/>
              </a:defRPr>
            </a:defPPr>
            <a:lvl1pPr algn="ctr">
              <a:buNone/>
              <a:defRPr sz="1425" b="1">
                <a:solidFill>
                  <a:srgbClr val="686E75"/>
                </a:solidFill>
                <a:latin typeface="Arial"/>
                <a:ea typeface="Arial"/>
                <a:cs typeface="Arial"/>
              </a:defRPr>
            </a:lvl1pPr>
            <a:lvl2pPr algn="ctr">
              <a:buNone/>
              <a:defRPr sz="1425" b="1">
                <a:solidFill>
                  <a:srgbClr val="686E75"/>
                </a:solidFill>
                <a:latin typeface="Arial"/>
                <a:ea typeface="Arial"/>
                <a:cs typeface="Arial"/>
              </a:defRPr>
            </a:lvl2pPr>
            <a:lvl3pPr algn="ctr">
              <a:buNone/>
              <a:defRPr sz="1425" b="1">
                <a:solidFill>
                  <a:srgbClr val="686E75"/>
                </a:solidFill>
                <a:latin typeface="Arial"/>
                <a:ea typeface="Arial"/>
                <a:cs typeface="Arial"/>
              </a:defRPr>
            </a:lvl3pPr>
            <a:lvl4pPr algn="ctr">
              <a:buNone/>
              <a:defRPr sz="1425" b="1">
                <a:solidFill>
                  <a:srgbClr val="686E75"/>
                </a:solidFill>
                <a:latin typeface="Arial"/>
                <a:ea typeface="Arial"/>
                <a:cs typeface="Arial"/>
              </a:defRPr>
            </a:lvl4pPr>
            <a:lvl5pPr algn="ctr">
              <a:buNone/>
              <a:defRPr sz="1425" b="1">
                <a:solidFill>
                  <a:srgbClr val="686E75"/>
                </a:solidFill>
                <a:latin typeface="Arial"/>
                <a:ea typeface="Arial"/>
                <a:cs typeface="Arial"/>
              </a:defRPr>
            </a:lvl5pPr>
            <a:lvl6pPr algn="ctr">
              <a:buNone/>
              <a:defRPr sz="1425" b="1">
                <a:solidFill>
                  <a:srgbClr val="686E75"/>
                </a:solidFill>
                <a:latin typeface="Arial"/>
                <a:ea typeface="Arial"/>
                <a:cs typeface="Arial"/>
              </a:defRPr>
            </a:lvl6pPr>
            <a:lvl7pPr algn="ctr">
              <a:buNone/>
              <a:defRPr sz="1425" b="1">
                <a:solidFill>
                  <a:srgbClr val="686E75"/>
                </a:solidFill>
                <a:latin typeface="Arial"/>
                <a:ea typeface="Arial"/>
                <a:cs typeface="Arial"/>
              </a:defRPr>
            </a:lvl7pPr>
            <a:lvl8pPr algn="ctr">
              <a:buNone/>
              <a:defRPr sz="1425" b="1">
                <a:solidFill>
                  <a:srgbClr val="686E75"/>
                </a:solidFill>
                <a:latin typeface="Arial"/>
                <a:ea typeface="Arial"/>
                <a:cs typeface="Arial"/>
              </a:defRPr>
            </a:lvl8pPr>
            <a:lvl9pPr algn="ctr">
              <a:buNone/>
              <a:defRPr sz="1425" b="1">
                <a:solidFill>
                  <a:srgbClr val="686E75"/>
                </a:solidFill>
                <a:latin typeface="Arial"/>
                <a:ea typeface="Arial"/>
                <a:cs typeface="Arial"/>
              </a:defRPr>
            </a:lvl9pPr>
          </a:lstStyle>
          <a:p xmlns:a="http://schemas.openxmlformats.org/drawingml/2006/main">
            <a:pPr algn="ctr">
              <a:buNone/>
              <a:defRPr sz="1425" b="1">
                <a:solidFill>
                  <a:srgbClr val="686E75"/>
                </a:solidFill>
                <a:latin typeface="Arial"/>
                <a:ea typeface="Arial"/>
                <a:cs typeface="Arial"/>
              </a:defRPr>
            </a:pPr>
            <a:r>
              <a:rPr sz="1425" b="1">
                <a:solidFill>
                  <a:srgbClr val="686E75"/>
                </a:solidFill>
                <a:latin typeface="Arial"/>
                <a:ea typeface="Arial"/>
                <a:cs typeface="Arial"/>
              </a:rPr>
              <a:t>SUBMISSIONS</a:t>
            </a:r>
            <a:endParaRPr sz="1425" b="1">
              <a:solidFill>
                <a:srgbClr val="686E75"/>
              </a:solidFill>
              <a:latin typeface="Arial"/>
              <a:ea typeface="Arial"/>
              <a:cs typeface="Arial"/>
            </a:endParaRPr>
          </a:p>
        </p:txBody>
      </p:sp>
      <p:sp>
        <p:nvSpPr>
          <p:cNvPr id="10" name="矩形 9">
            <a:extLst xmlns:a="http://schemas.openxmlformats.org/drawingml/2006/main">
              <a:ext uri="{FF2B5EF4-FFF2-40B4-BE49-F238E27FC236}">
                <a16:creationId xmlns:a16="http://schemas.microsoft.com/office/drawing/2014/main" id="{4A02FB94-3BDF-4445-9EC1-357994F05CF4}"/>
              </a:ext>
            </a:extLst>
          </p:cNvPr>
          <p:cNvSpPr>
            <a:spLocks xmlns:a="http://schemas.openxmlformats.org/drawingml/2006/main" noGrp="1"/>
          </p:cNvSpPr>
          <p:nvPr/>
        </p:nvSpPr>
        <p:spPr>
          <a:xfrm xmlns:a="http://schemas.openxmlformats.org/drawingml/2006/main">
            <a:off x="7517695" y="2105839"/>
            <a:ext cx="43200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A38C469D-7BD9-4130-803D-9850CF3AD926}"/>
              </a:ext>
            </a:extLst>
          </p:cNvPr>
          <p:cNvSpPr>
            <a:spLocks xmlns:a="http://schemas.openxmlformats.org/drawingml/2006/main" noGrp="1"/>
          </p:cNvSpPr>
          <p:nvPr/>
        </p:nvSpPr>
        <p:spPr>
          <a:xfrm xmlns:a="http://schemas.openxmlformats.org/drawingml/2006/main">
            <a:off x="685800" y="1315809"/>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buNone/>
              <a:defRPr sz="1800" b="1">
                <a:solidFill>
                  <a:srgbClr val="20242A"/>
                </a:solidFill>
                <a:latin typeface="Arial"/>
                <a:ea typeface="Arial"/>
                <a:cs typeface="Arial"/>
              </a:defRPr>
            </a:lvl1pPr>
            <a:lvl2pPr>
              <a:buNone/>
              <a:defRPr sz="1800" b="1">
                <a:solidFill>
                  <a:srgbClr val="20242A"/>
                </a:solidFill>
                <a:latin typeface="Arial"/>
                <a:ea typeface="Arial"/>
                <a:cs typeface="Arial"/>
              </a:defRPr>
            </a:lvl2pPr>
            <a:lvl3pPr>
              <a:buNone/>
              <a:defRPr sz="1800" b="1">
                <a:solidFill>
                  <a:srgbClr val="20242A"/>
                </a:solidFill>
                <a:latin typeface="Arial"/>
                <a:ea typeface="Arial"/>
                <a:cs typeface="Arial"/>
              </a:defRPr>
            </a:lvl3pPr>
            <a:lvl4pPr>
              <a:buNone/>
              <a:defRPr sz="1800" b="1">
                <a:solidFill>
                  <a:srgbClr val="20242A"/>
                </a:solidFill>
                <a:latin typeface="Arial"/>
                <a:ea typeface="Arial"/>
                <a:cs typeface="Arial"/>
              </a:defRPr>
            </a:lvl4pPr>
            <a:lvl5pPr>
              <a:buNone/>
              <a:defRPr sz="1800" b="1">
                <a:solidFill>
                  <a:srgbClr val="20242A"/>
                </a:solidFill>
                <a:latin typeface="Arial"/>
                <a:ea typeface="Arial"/>
                <a:cs typeface="Arial"/>
              </a:defRPr>
            </a:lvl5pPr>
            <a:lvl6pPr>
              <a:buNone/>
              <a:defRPr sz="1800" b="1">
                <a:solidFill>
                  <a:srgbClr val="20242A"/>
                </a:solidFill>
                <a:latin typeface="Arial"/>
                <a:ea typeface="Arial"/>
                <a:cs typeface="Arial"/>
              </a:defRPr>
            </a:lvl6pPr>
            <a:lvl7pPr>
              <a:buNone/>
              <a:defRPr sz="1800" b="1">
                <a:solidFill>
                  <a:srgbClr val="20242A"/>
                </a:solidFill>
                <a:latin typeface="Arial"/>
                <a:ea typeface="Arial"/>
                <a:cs typeface="Arial"/>
              </a:defRPr>
            </a:lvl7pPr>
            <a:lvl8pPr>
              <a:buNone/>
              <a:defRPr sz="1800" b="1">
                <a:solidFill>
                  <a:srgbClr val="20242A"/>
                </a:solidFill>
                <a:latin typeface="Arial"/>
                <a:ea typeface="Arial"/>
                <a:cs typeface="Arial"/>
              </a:defRPr>
            </a:lvl8pPr>
            <a:lvl9pPr>
              <a:buNone/>
              <a:defRPr sz="1800" b="1">
                <a:solidFill>
                  <a:srgbClr val="20242A"/>
                </a:solidFill>
                <a:latin typeface="Arial"/>
                <a:ea typeface="Arial"/>
                <a:cs typeface="Arial"/>
              </a:defRPr>
            </a:lvl9pPr>
          </a:lstStyle>
          <a:p xmlns:a="http://schemas.openxmlformats.org/drawingml/2006/main">
            <a:pPr>
              <a:buNone/>
              <a:defRPr sz="1800" b="1">
                <a:solidFill>
                  <a:srgbClr val="20242A"/>
                </a:solidFill>
                <a:latin typeface="Arial"/>
                <a:ea typeface="Arial"/>
                <a:cs typeface="Arial"/>
              </a:defRPr>
            </a:pPr>
            <a:r>
              <a:rPr sz="2400" b="1">
                <a:solidFill>
                  <a:srgbClr val="20242A"/>
                </a:solidFill>
                <a:latin typeface="Arial"/>
                <a:ea typeface="Arial"/>
                <a:cs typeface="Arial"/>
              </a:rPr>
              <a:t>Overall leaderboard</a:t>
            </a:r>
          </a:p>
        </p:txBody>
      </p:sp>
      <p:graphicFrame>
        <p:nvGraphicFramePr>
          <p:cNvPr id="12" name="表格 11">
            <a:extLst xmlns:a="http://schemas.openxmlformats.org/drawingml/2006/main">
              <a:ext uri="{FF2B5EF4-FFF2-40B4-BE49-F238E27FC236}">
                <a16:creationId xmlns:a16="http://schemas.microsoft.com/office/drawing/2014/main" id="{0B2B01C9-F431-4D52-BB77-08AFB7ADD71F}"/>
              </a:ext>
            </a:extLst>
          </p:cNvPr>
          <p:cNvGraphicFramePr/>
          <p:nvPr/>
        </p:nvGraphicFramePr>
        <p:xfrm>
          <a:off xmlns:a="http://schemas.openxmlformats.org/drawingml/2006/main" x="685800" y="1944115"/>
          <a:ext xmlns:a="http://schemas.openxmlformats.org/drawingml/2006/main" cx="6394269" cy="3915730"/>
        </p:xfrm>
        <a:graphic xmlns:a="http://schemas.openxmlformats.org/drawingml/2006/main">
          <a:graphicData uri="http://schemas.openxmlformats.org/drawingml/2006/table">
            <a:tbl>
              <a:tblPr firstRow="1"/>
              <a:tblGrid>
                <a:gridCol w="751114"/>
                <a:gridCol w="1737360"/>
                <a:gridCol w="2573383"/>
                <a:gridCol w="1332412"/>
              </a:tblGrid>
              <a:tr h="642938">
                <a:tc>
                  <a:txBody>
                    <a:bodyPr/>
                    <a:lstStyle/>
                    <a:p>
                      <a:pPr algn="ctr">
                        <a:buNone/>
                      </a:pPr>
                      <a:r>
                        <a:rPr sz="1800" b="1">
                          <a:solidFill>
                            <a:srgbClr val="686E75"/>
                          </a:solidFill>
                          <a:latin typeface="Arial"/>
                          <a:ea typeface="Arial"/>
                          <a:cs typeface="Arial"/>
                        </a:rPr>
                        <a:t>Rank</a:t>
                      </a:r>
                    </a:p>
                  </a:txBody>
                  <a:tcPr marL="91440" marR="91440" marT="45720" marB="45720" anchor="ctr">
                    <a:lnL w="9525">
                      <a:solidFill>
                        <a:srgbClr val="D9D7D2"/>
                      </a:solidFill>
                      <a:prstDash val="solid"/>
                    </a:lnL>
                    <a:lnR w="9525">
                      <a:solidFill>
                        <a:srgbClr val="D9D7D2"/>
                      </a:solidFill>
                      <a:prstDash val="solid"/>
                    </a:lnR>
                    <a:lnT w="9525">
                      <a:solidFill>
                        <a:srgbClr val="D9D7D2"/>
                      </a:solidFill>
                      <a:prstDash val="solid"/>
                    </a:lnT>
                    <a:lnB w="9525">
                      <a:solidFill>
                        <a:srgbClr val="D9D7D2"/>
                      </a:solidFill>
                      <a:prstDash val="solid"/>
                    </a:lnB>
                    <a:solidFill>
                      <a:srgbClr val="F4F3F0"/>
                    </a:solidFill>
                  </a:tcPr>
                </a:tc>
                <a:tc>
                  <a:txBody>
                    <a:bodyPr/>
                    <a:lstStyle/>
                    <a:p>
                      <a:pPr algn="l">
                        <a:buNone/>
                      </a:pPr>
                      <a:r>
                        <a:rPr sz="1800" b="1">
                          <a:solidFill>
                            <a:srgbClr val="686E75"/>
                          </a:solidFill>
                          <a:latin typeface="Arial"/>
                          <a:ea typeface="Arial"/>
                          <a:cs typeface="Arial"/>
                        </a:rPr>
                        <a:t>Team</a:t>
                      </a:r>
                      <a:endParaRPr sz="1800" b="1">
                        <a:solidFill>
                          <a:srgbClr val="686E75"/>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a:solidFill>
                        <a:srgbClr val="D9D7D2"/>
                      </a:solidFill>
                      <a:prstDash val="solid"/>
                    </a:lnT>
                    <a:lnB w="9525">
                      <a:solidFill>
                        <a:srgbClr val="D9D7D2"/>
                      </a:solidFill>
                      <a:prstDash val="solid"/>
                    </a:lnB>
                    <a:solidFill>
                      <a:srgbClr val="F4F3F0"/>
                    </a:solidFill>
                  </a:tcPr>
                </a:tc>
                <a:tc>
                  <a:txBody>
                    <a:bodyPr/>
                    <a:lstStyle/>
                    <a:p>
                      <a:pPr algn="l">
                        <a:buNone/>
                      </a:pPr>
                      <a:r>
                        <a:rPr sz="1800" b="1">
                          <a:solidFill>
                            <a:srgbClr val="686E75"/>
                          </a:solidFill>
                          <a:latin typeface="Arial"/>
                          <a:ea typeface="Arial"/>
                          <a:cs typeface="Arial"/>
                        </a:rPr>
                        <a:t>Institution</a:t>
                      </a:r>
                      <a:endParaRPr sz="1800" b="1">
                        <a:solidFill>
                          <a:srgbClr val="686E75"/>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a:solidFill>
                        <a:srgbClr val="D9D7D2"/>
                      </a:solidFill>
                      <a:prstDash val="solid"/>
                    </a:lnT>
                    <a:lnB w="9525" cmpd="sng">
                      <a:solidFill>
                        <a:srgbClr val="D9D7D2"/>
                      </a:solidFill>
                      <a:prstDash val="solid"/>
                    </a:lnB>
                    <a:solidFill>
                      <a:srgbClr val="F4F3F0"/>
                    </a:solidFill>
                  </a:tcPr>
                </a:tc>
                <a:tc>
                  <a:txBody>
                    <a:bodyPr/>
                    <a:lstStyle/>
                    <a:p>
                      <a:pPr algn="ctr">
                        <a:buNone/>
                      </a:pPr>
                      <a:r>
                        <a:rPr sz="1800" b="1">
                          <a:solidFill>
                            <a:srgbClr val="686E75"/>
                          </a:solidFill>
                          <a:latin typeface="Arial"/>
                          <a:ea typeface="Arial"/>
                          <a:cs typeface="Arial"/>
                        </a:rPr>
                        <a:t>Overall</a:t>
                      </a:r>
                    </a:p>
                  </a:txBody>
                  <a:tcPr marL="91440" marR="91440" marT="45720" marB="45720" anchor="ctr">
                    <a:lnL w="9525" cmpd="sng">
                      <a:solidFill>
                        <a:srgbClr val="D9D7D2"/>
                      </a:solidFill>
                      <a:prstDash val="solid"/>
                    </a:lnL>
                    <a:lnR w="9525">
                      <a:solidFill>
                        <a:srgbClr val="D9D7D2"/>
                      </a:solidFill>
                      <a:prstDash val="solid"/>
                    </a:lnR>
                    <a:lnT w="9525">
                      <a:solidFill>
                        <a:srgbClr val="D9D7D2"/>
                      </a:solidFill>
                      <a:prstDash val="solid"/>
                    </a:lnT>
                    <a:lnB w="9525" cmpd="sng">
                      <a:solidFill>
                        <a:srgbClr val="D9D7D2"/>
                      </a:solidFill>
                      <a:prstDash val="solid"/>
                    </a:lnB>
                    <a:solidFill>
                      <a:srgbClr val="F4F3F0"/>
                    </a:solidFill>
                  </a:tcPr>
                </a:tc>
              </a:tr>
              <a:tr h="642938">
                <a:tc>
                  <a:txBody>
                    <a:bodyPr/>
                    <a:lstStyle/>
                    <a:p>
                      <a:pPr algn="ctr">
                        <a:buNone/>
                      </a:pPr>
                      <a:r>
                        <a:rPr sz="1800" b="1">
                          <a:solidFill>
                            <a:srgbClr val="20242A"/>
                          </a:solidFill>
                          <a:latin typeface="Arial"/>
                          <a:ea typeface="Arial"/>
                          <a:cs typeface="Arial"/>
                        </a:rPr>
                        <a:t>1</a:t>
                      </a:r>
                    </a:p>
                  </a:txBody>
                  <a:tcPr marL="91440" marR="91440" marT="45720" marB="45720" anchor="ctr">
                    <a:lnL w="9525">
                      <a:solidFill>
                        <a:srgbClr val="D9D7D2"/>
                      </a:solidFill>
                      <a:prstDash val="solid"/>
                    </a:lnL>
                    <a:lnR w="9525">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BabyDragon</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cmpd="sng">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buNone/>
                      </a:pPr>
                      <a:r>
                        <a:rPr sz="1800" b="0">
                          <a:solidFill>
                            <a:srgbClr val="20242A"/>
                          </a:solidFill>
                          <a:latin typeface="Arial"/>
                          <a:ea typeface="Arial"/>
                          <a:cs typeface="Arial"/>
                        </a:rPr>
                        <a:t>University of Chinese Academy of Sciences</a:t>
                      </a:r>
                    </a:p>
                  </a:txBody>
                  <a:tcPr marL="114300" marR="114300" marT="76200" marB="76200">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ctr">
                        <a:buNone/>
                      </a:pPr>
                      <a:r>
                        <a:rPr sz="1800" b="1">
                          <a:solidFill>
                            <a:srgbClr val="8A182B"/>
                          </a:solidFill>
                          <a:latin typeface="Arial"/>
                          <a:ea typeface="Arial"/>
                          <a:cs typeface="Arial"/>
                        </a:rPr>
                        <a:t>61.49</a:t>
                      </a: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r>
              <a:tr h="642938">
                <a:tc>
                  <a:txBody>
                    <a:bodyPr/>
                    <a:lstStyle/>
                    <a:p>
                      <a:pPr algn="ctr">
                        <a:buNone/>
                      </a:pPr>
                      <a:r>
                        <a:rPr sz="1800" b="1">
                          <a:solidFill>
                            <a:srgbClr val="20242A"/>
                          </a:solidFill>
                          <a:latin typeface="Arial"/>
                          <a:ea typeface="Arial"/>
                          <a:cs typeface="Arial"/>
                        </a:rPr>
                        <a:t>2</a:t>
                      </a:r>
                    </a:p>
                  </a:txBody>
                  <a:tcPr marL="91440" marR="91440" marT="45720" marB="45720" anchor="ctr">
                    <a:lnL w="9525">
                      <a:solidFill>
                        <a:srgbClr val="D9D7D2"/>
                      </a:solidFill>
                      <a:prstDash val="solid"/>
                    </a:lnL>
                    <a:lnR w="9525">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OK</a:t>
                      </a:r>
                      <a:r>
                        <a:rPr sz="1800" b="0">
                          <a:solidFill>
                            <a:srgbClr val="20242A"/>
                          </a:solidFill>
                          <a:latin typeface="Arial"/>
                          <a:ea typeface="Arial"/>
                          <a:cs typeface="Arial"/>
                        </a:rPr>
                        <a:t>的老大</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Fudan University</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ctr">
                        <a:buNone/>
                      </a:pPr>
                      <a:r>
                        <a:rPr sz="1800" b="1">
                          <a:solidFill>
                            <a:srgbClr val="A23449"/>
                          </a:solidFill>
                          <a:latin typeface="Arial"/>
                          <a:ea typeface="Arial"/>
                          <a:cs typeface="Arial"/>
                        </a:rPr>
                        <a:t>57.79</a:t>
                      </a: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r>
              <a:tr h="642938">
                <a:tc>
                  <a:txBody>
                    <a:bodyPr/>
                    <a:lstStyle/>
                    <a:p>
                      <a:pPr algn="ctr">
                        <a:buNone/>
                      </a:pPr>
                      <a:r>
                        <a:rPr sz="1800" b="1">
                          <a:solidFill>
                            <a:srgbClr val="20242A"/>
                          </a:solidFill>
                          <a:latin typeface="Arial"/>
                          <a:ea typeface="Arial"/>
                          <a:cs typeface="Arial"/>
                        </a:rPr>
                        <a:t>3</a:t>
                      </a:r>
                    </a:p>
                  </a:txBody>
                  <a:tcPr marL="91440" marR="91440" marT="45720" marB="45720" anchor="ctr">
                    <a:lnL w="9525">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l">
                        <a:buNone/>
                      </a:pPr>
                      <a:r>
                        <a:rPr sz="1800">
                          <a:latin typeface="Arial"/>
                          <a:ea typeface="Arial"/>
                          <a:cs typeface="Arial"/>
                        </a:rPr>
                        <a:t>TUM Campus Heilbronn</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Technical University of Munich</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ctr">
                        <a:buNone/>
                      </a:pPr>
                      <a:r>
                        <a:rPr sz="1800" b="1">
                          <a:solidFill>
                            <a:srgbClr val="B43A50"/>
                          </a:solidFill>
                          <a:latin typeface="Arial"/>
                          <a:ea typeface="Arial"/>
                          <a:cs typeface="Arial"/>
                        </a:rPr>
                        <a:t>54.90</a:t>
                      </a: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r>
              <a:tr h="642938">
                <a:tc>
                  <a:txBody>
                    <a:bodyPr/>
                    <a:lstStyle/>
                    <a:p>
                      <a:pPr algn="ctr">
                        <a:buNone/>
                      </a:pPr>
                      <a:r>
                        <a:rPr sz="1800" b="1">
                          <a:solidFill>
                            <a:srgbClr val="20242A"/>
                          </a:solidFill>
                          <a:latin typeface="Arial"/>
                          <a:ea typeface="Arial"/>
                          <a:cs typeface="Arial"/>
                        </a:rPr>
                        <a:t>4</a:t>
                      </a:r>
                      <a:endParaRPr sz="1800" b="1">
                        <a:solidFill>
                          <a:srgbClr val="20242A"/>
                        </a:solidFill>
                        <a:latin typeface="Arial"/>
                        <a:ea typeface="Arial"/>
                        <a:cs typeface="Arial"/>
                      </a:endParaRPr>
                    </a:p>
                  </a:txBody>
                  <a:tcPr marL="91440" marR="91440" marT="45720" marB="45720" anchor="ctr">
                    <a:lnL w="9525">
                      <a:solidFill>
                        <a:srgbClr val="D9D7D2"/>
                      </a:solidFill>
                      <a:prstDash val="solid"/>
                    </a:lnL>
                    <a:lnR w="9525" cmpd="sng">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SMI</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cmpd="sng">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l">
                        <a:buNone/>
                      </a:pPr>
                      <a:r>
                        <a:rPr sz="1800" b="0" i="0">
                          <a:solidFill>
                            <a:schemeClr val="tx1"/>
                          </a:solidFill>
                          <a:latin typeface="Arial"/>
                          <a:ea typeface="Arial"/>
                          <a:cs typeface="Arial"/>
                        </a:rPr>
                        <a:t>Jiangsu Normal University</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cmpd="sng">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ctr">
                        <a:buNone/>
                      </a:pPr>
                      <a:r>
                        <a:rPr sz="1800" b="1">
                          <a:solidFill>
                            <a:srgbClr val="C49A2C"/>
                          </a:solidFill>
                          <a:latin typeface="Arial"/>
                          <a:ea typeface="Arial"/>
                          <a:cs typeface="Arial"/>
                        </a:rPr>
                        <a:t>51.77</a:t>
                      </a:r>
                      <a:endParaRPr sz="1800" b="1">
                        <a:solidFill>
                          <a:srgbClr val="C49A2C"/>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r>
              <a:tr h="642938">
                <a:tc>
                  <a:txBody>
                    <a:bodyPr/>
                    <a:lstStyle/>
                    <a:p>
                      <a:pPr algn="ctr">
                        <a:buNone/>
                      </a:pPr>
                      <a:r>
                        <a:rPr sz="1800" b="1">
                          <a:solidFill>
                            <a:srgbClr val="20242A"/>
                          </a:solidFill>
                          <a:latin typeface="Arial"/>
                          <a:ea typeface="Arial"/>
                          <a:cs typeface="Arial"/>
                        </a:rPr>
                        <a:t>5</a:t>
                      </a:r>
                      <a:endParaRPr sz="1800" b="1">
                        <a:solidFill>
                          <a:srgbClr val="20242A"/>
                        </a:solidFill>
                        <a:latin typeface="Arial"/>
                        <a:ea typeface="Arial"/>
                        <a:cs typeface="Arial"/>
                      </a:endParaRPr>
                    </a:p>
                  </a:txBody>
                  <a:tcPr marL="91440" marR="91440" marT="45720" marB="45720" anchor="ctr">
                    <a:lnL w="9525">
                      <a:solidFill>
                        <a:srgbClr val="D9D7D2"/>
                      </a:solidFill>
                      <a:prstDash val="solid"/>
                    </a:lnL>
                    <a:lnR w="9525" cmpd="sng">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lampa</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cmpd="sng">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l">
                        <a:buNone/>
                      </a:pPr>
                      <a:r>
                        <a:rPr sz="1800" b="0" i="0">
                          <a:solidFill>
                            <a:schemeClr val="tx1"/>
                          </a:solidFill>
                          <a:latin typeface="Arial"/>
                          <a:ea typeface="Arial"/>
                          <a:cs typeface="Arial"/>
                        </a:rPr>
                        <a:t>University of Cambridge</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cmpd="sng">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ctr">
                        <a:buNone/>
                      </a:pPr>
                      <a:r>
                        <a:rPr sz="1800" b="1">
                          <a:solidFill>
                            <a:srgbClr val="C49A2C"/>
                          </a:solidFill>
                          <a:latin typeface="Arial"/>
                          <a:ea typeface="Arial"/>
                          <a:cs typeface="Arial"/>
                        </a:rPr>
                        <a:t>50.37</a:t>
                      </a:r>
                      <a:endParaRPr sz="1800" b="1">
                        <a:solidFill>
                          <a:srgbClr val="C49A2C"/>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a:solidFill>
                        <a:srgbClr val="D9D7D2"/>
                      </a:solidFill>
                      <a:prstDash val="solid"/>
                    </a:lnB>
                    <a:solidFill>
                      <a:srgbClr val="FFFFFF"/>
                    </a:solidFill>
                  </a:tcPr>
                </a:tc>
              </a:tr>
            </a:tbl>
          </a:graphicData>
        </a:graphic>
      </p:graphicFrame>
      <p:sp>
        <p:nvSpPr>
          <p:cNvPr id="13" name="矩形 12">
            <a:extLst xmlns:a="http://schemas.openxmlformats.org/drawingml/2006/main">
              <a:ext uri="{FF2B5EF4-FFF2-40B4-BE49-F238E27FC236}">
                <a16:creationId xmlns:a16="http://schemas.microsoft.com/office/drawing/2014/main" id="{8B7FFE86-CBEA-4BDD-9B93-8DC26D71C9A5}"/>
              </a:ext>
            </a:extLst>
          </p:cNvPr>
          <p:cNvSpPr>
            <a:spLocks xmlns:a="http://schemas.openxmlformats.org/drawingml/2006/main" noGrp="1"/>
          </p:cNvSpPr>
          <p:nvPr/>
        </p:nvSpPr>
        <p:spPr>
          <a:xfrm xmlns:a="http://schemas.openxmlformats.org/drawingml/2006/main">
            <a:off x="7579453" y="2536640"/>
            <a:ext cx="19050" cy="396000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4" name="矩形 13">
            <a:extLst xmlns:a="http://schemas.openxmlformats.org/drawingml/2006/main">
              <a:ext uri="{FF2B5EF4-FFF2-40B4-BE49-F238E27FC236}">
                <a16:creationId xmlns:a16="http://schemas.microsoft.com/office/drawing/2014/main" id="{4157DA81-6A84-4ED0-98F9-E4915D738D5F}"/>
              </a:ext>
            </a:extLst>
          </p:cNvPr>
          <p:cNvSpPr>
            <a:spLocks xmlns:a="http://schemas.openxmlformats.org/drawingml/2006/main" noGrp="1"/>
          </p:cNvSpPr>
          <p:nvPr/>
        </p:nvSpPr>
        <p:spPr>
          <a:xfrm xmlns:a="http://schemas.openxmlformats.org/drawingml/2006/main">
            <a:off x="7939087" y="2377979"/>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buNone/>
              <a:defRPr sz="1800" b="1">
                <a:solidFill>
                  <a:srgbClr val="20242A"/>
                </a:solidFill>
                <a:latin typeface="Arial"/>
                <a:ea typeface="Arial"/>
                <a:cs typeface="Arial"/>
              </a:defRPr>
            </a:lvl1pPr>
            <a:lvl2pPr>
              <a:buNone/>
              <a:defRPr sz="1800" b="1">
                <a:solidFill>
                  <a:srgbClr val="20242A"/>
                </a:solidFill>
                <a:latin typeface="Arial"/>
                <a:ea typeface="Arial"/>
                <a:cs typeface="Arial"/>
              </a:defRPr>
            </a:lvl2pPr>
            <a:lvl3pPr>
              <a:buNone/>
              <a:defRPr sz="1800" b="1">
                <a:solidFill>
                  <a:srgbClr val="20242A"/>
                </a:solidFill>
                <a:latin typeface="Arial"/>
                <a:ea typeface="Arial"/>
                <a:cs typeface="Arial"/>
              </a:defRPr>
            </a:lvl3pPr>
            <a:lvl4pPr>
              <a:buNone/>
              <a:defRPr sz="1800" b="1">
                <a:solidFill>
                  <a:srgbClr val="20242A"/>
                </a:solidFill>
                <a:latin typeface="Arial"/>
                <a:ea typeface="Arial"/>
                <a:cs typeface="Arial"/>
              </a:defRPr>
            </a:lvl4pPr>
            <a:lvl5pPr>
              <a:buNone/>
              <a:defRPr sz="1800" b="1">
                <a:solidFill>
                  <a:srgbClr val="20242A"/>
                </a:solidFill>
                <a:latin typeface="Arial"/>
                <a:ea typeface="Arial"/>
                <a:cs typeface="Arial"/>
              </a:defRPr>
            </a:lvl5pPr>
            <a:lvl6pPr>
              <a:buNone/>
              <a:defRPr sz="1800" b="1">
                <a:solidFill>
                  <a:srgbClr val="20242A"/>
                </a:solidFill>
                <a:latin typeface="Arial"/>
                <a:ea typeface="Arial"/>
                <a:cs typeface="Arial"/>
              </a:defRPr>
            </a:lvl6pPr>
            <a:lvl7pPr>
              <a:buNone/>
              <a:defRPr sz="1800" b="1">
                <a:solidFill>
                  <a:srgbClr val="20242A"/>
                </a:solidFill>
                <a:latin typeface="Arial"/>
                <a:ea typeface="Arial"/>
                <a:cs typeface="Arial"/>
              </a:defRPr>
            </a:lvl7pPr>
            <a:lvl8pPr>
              <a:buNone/>
              <a:defRPr sz="1800" b="1">
                <a:solidFill>
                  <a:srgbClr val="20242A"/>
                </a:solidFill>
                <a:latin typeface="Arial"/>
                <a:ea typeface="Arial"/>
                <a:cs typeface="Arial"/>
              </a:defRPr>
            </a:lvl8pPr>
            <a:lvl9pPr>
              <a:buNone/>
              <a:defRPr sz="1800" b="1">
                <a:solidFill>
                  <a:srgbClr val="20242A"/>
                </a:solidFill>
                <a:latin typeface="Arial"/>
                <a:ea typeface="Arial"/>
                <a:cs typeface="Arial"/>
              </a:defRPr>
            </a:lvl9pPr>
          </a:lstStyle>
          <a:p xmlns:a="http://schemas.openxmlformats.org/drawingml/2006/main">
            <a:pPr>
              <a:buNone/>
              <a:defRPr sz="1800" b="1">
                <a:solidFill>
                  <a:srgbClr val="20242A"/>
                </a:solidFill>
                <a:latin typeface="Arial"/>
                <a:ea typeface="Arial"/>
                <a:cs typeface="Arial"/>
              </a:defRPr>
            </a:pPr>
            <a:r>
              <a:rPr sz="2400" b="1">
                <a:solidFill>
                  <a:srgbClr val="20242A"/>
                </a:solidFill>
                <a:latin typeface="Arial"/>
                <a:ea typeface="Arial"/>
                <a:cs typeface="Arial"/>
              </a:rPr>
              <a:t>Track winners</a:t>
            </a:r>
          </a:p>
        </p:txBody>
      </p:sp>
      <p:sp>
        <p:nvSpPr>
          <p:cNvPr id="15" name="矩形 14">
            <a:extLst xmlns:a="http://schemas.openxmlformats.org/drawingml/2006/main">
              <a:ext uri="{FF2B5EF4-FFF2-40B4-BE49-F238E27FC236}">
                <a16:creationId xmlns:a16="http://schemas.microsoft.com/office/drawing/2014/main" id="{E9D23AD4-2267-4240-A4C7-1F95B7FF46CF}"/>
              </a:ext>
            </a:extLst>
          </p:cNvPr>
          <p:cNvSpPr>
            <a:spLocks xmlns:a="http://schemas.openxmlformats.org/drawingml/2006/main" noGrp="1"/>
          </p:cNvSpPr>
          <p:nvPr/>
        </p:nvSpPr>
        <p:spPr>
          <a:xfrm xmlns:a="http://schemas.openxmlformats.org/drawingml/2006/main">
            <a:off x="7938612" y="2964723"/>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C49A2C"/>
                </a:solidFill>
                <a:latin typeface="Arial"/>
                <a:ea typeface="Arial"/>
                <a:cs typeface="Arial"/>
              </a:defRPr>
            </a:defPPr>
            <a:lvl1pPr>
              <a:buNone/>
              <a:defRPr sz="975" b="1">
                <a:solidFill>
                  <a:srgbClr val="C49A2C"/>
                </a:solidFill>
                <a:latin typeface="Arial"/>
                <a:ea typeface="Arial"/>
                <a:cs typeface="Arial"/>
              </a:defRPr>
            </a:lvl1pPr>
            <a:lvl2pPr>
              <a:buNone/>
              <a:defRPr sz="975" b="1">
                <a:solidFill>
                  <a:srgbClr val="C49A2C"/>
                </a:solidFill>
                <a:latin typeface="Arial"/>
                <a:ea typeface="Arial"/>
                <a:cs typeface="Arial"/>
              </a:defRPr>
            </a:lvl2pPr>
            <a:lvl3pPr>
              <a:buNone/>
              <a:defRPr sz="975" b="1">
                <a:solidFill>
                  <a:srgbClr val="C49A2C"/>
                </a:solidFill>
                <a:latin typeface="Arial"/>
                <a:ea typeface="Arial"/>
                <a:cs typeface="Arial"/>
              </a:defRPr>
            </a:lvl3pPr>
            <a:lvl4pPr>
              <a:buNone/>
              <a:defRPr sz="975" b="1">
                <a:solidFill>
                  <a:srgbClr val="C49A2C"/>
                </a:solidFill>
                <a:latin typeface="Arial"/>
                <a:ea typeface="Arial"/>
                <a:cs typeface="Arial"/>
              </a:defRPr>
            </a:lvl4pPr>
            <a:lvl5pPr>
              <a:buNone/>
              <a:defRPr sz="975" b="1">
                <a:solidFill>
                  <a:srgbClr val="C49A2C"/>
                </a:solidFill>
                <a:latin typeface="Arial"/>
                <a:ea typeface="Arial"/>
                <a:cs typeface="Arial"/>
              </a:defRPr>
            </a:lvl5pPr>
            <a:lvl6pPr>
              <a:buNone/>
              <a:defRPr sz="975" b="1">
                <a:solidFill>
                  <a:srgbClr val="C49A2C"/>
                </a:solidFill>
                <a:latin typeface="Arial"/>
                <a:ea typeface="Arial"/>
                <a:cs typeface="Arial"/>
              </a:defRPr>
            </a:lvl6pPr>
            <a:lvl7pPr>
              <a:buNone/>
              <a:defRPr sz="975" b="1">
                <a:solidFill>
                  <a:srgbClr val="C49A2C"/>
                </a:solidFill>
                <a:latin typeface="Arial"/>
                <a:ea typeface="Arial"/>
                <a:cs typeface="Arial"/>
              </a:defRPr>
            </a:lvl7pPr>
            <a:lvl8pPr>
              <a:buNone/>
              <a:defRPr sz="975" b="1">
                <a:solidFill>
                  <a:srgbClr val="C49A2C"/>
                </a:solidFill>
                <a:latin typeface="Arial"/>
                <a:ea typeface="Arial"/>
                <a:cs typeface="Arial"/>
              </a:defRPr>
            </a:lvl8pPr>
            <a:lvl9pPr>
              <a:buNone/>
              <a:defRPr sz="975" b="1">
                <a:solidFill>
                  <a:srgbClr val="C49A2C"/>
                </a:solidFill>
                <a:latin typeface="Arial"/>
                <a:ea typeface="Arial"/>
                <a:cs typeface="Arial"/>
              </a:defRPr>
            </a:lvl9pPr>
          </a:lstStyle>
          <a:p xmlns:a="http://schemas.openxmlformats.org/drawingml/2006/main">
            <a:pPr>
              <a:buNone/>
              <a:defRPr sz="975" b="1">
                <a:solidFill>
                  <a:srgbClr val="C49A2C"/>
                </a:solidFill>
                <a:latin typeface="Arial"/>
                <a:ea typeface="Arial"/>
                <a:cs typeface="Arial"/>
              </a:defRPr>
            </a:pPr>
            <a:r>
              <a:rPr sz="1400" b="1">
                <a:solidFill>
                  <a:srgbClr val="C49A2C"/>
                </a:solidFill>
                <a:latin typeface="Arial"/>
                <a:ea typeface="Arial"/>
                <a:cs typeface="Arial"/>
              </a:rPr>
              <a:t>NLU</a:t>
            </a:r>
          </a:p>
        </p:txBody>
      </p:sp>
      <p:sp>
        <p:nvSpPr>
          <p:cNvPr id="16" name="矩形 15">
            <a:extLst xmlns:a="http://schemas.openxmlformats.org/drawingml/2006/main">
              <a:ext uri="{FF2B5EF4-FFF2-40B4-BE49-F238E27FC236}">
                <a16:creationId xmlns:a16="http://schemas.microsoft.com/office/drawing/2014/main" id="{B01CAAD3-6832-496E-B5F3-884D0858D2BF}"/>
              </a:ext>
            </a:extLst>
          </p:cNvPr>
          <p:cNvSpPr>
            <a:spLocks xmlns:a="http://schemas.openxmlformats.org/drawingml/2006/main" noGrp="1"/>
          </p:cNvSpPr>
          <p:nvPr/>
        </p:nvSpPr>
        <p:spPr>
          <a:xfrm xmlns:a="http://schemas.openxmlformats.org/drawingml/2006/main">
            <a:off x="7950927" y="3428460"/>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575" b="1">
                <a:solidFill>
                  <a:srgbClr val="233342"/>
                </a:solidFill>
                <a:latin typeface="Arial"/>
                <a:ea typeface="Arial"/>
                <a:cs typeface="Arial"/>
              </a:defRPr>
            </a:defPPr>
            <a:lvl1pPr>
              <a:buNone/>
              <a:defRPr sz="1575" b="1">
                <a:solidFill>
                  <a:srgbClr val="233342"/>
                </a:solidFill>
                <a:latin typeface="Arial"/>
                <a:ea typeface="Arial"/>
                <a:cs typeface="Arial"/>
              </a:defRPr>
            </a:lvl1pPr>
            <a:lvl2pPr>
              <a:buNone/>
              <a:defRPr sz="1575" b="1">
                <a:solidFill>
                  <a:srgbClr val="233342"/>
                </a:solidFill>
                <a:latin typeface="Arial"/>
                <a:ea typeface="Arial"/>
                <a:cs typeface="Arial"/>
              </a:defRPr>
            </a:lvl2pPr>
            <a:lvl3pPr>
              <a:buNone/>
              <a:defRPr sz="1575" b="1">
                <a:solidFill>
                  <a:srgbClr val="233342"/>
                </a:solidFill>
                <a:latin typeface="Arial"/>
                <a:ea typeface="Arial"/>
                <a:cs typeface="Arial"/>
              </a:defRPr>
            </a:lvl3pPr>
            <a:lvl4pPr>
              <a:buNone/>
              <a:defRPr sz="1575" b="1">
                <a:solidFill>
                  <a:srgbClr val="233342"/>
                </a:solidFill>
                <a:latin typeface="Arial"/>
                <a:ea typeface="Arial"/>
                <a:cs typeface="Arial"/>
              </a:defRPr>
            </a:lvl4pPr>
            <a:lvl5pPr>
              <a:buNone/>
              <a:defRPr sz="1575" b="1">
                <a:solidFill>
                  <a:srgbClr val="233342"/>
                </a:solidFill>
                <a:latin typeface="Arial"/>
                <a:ea typeface="Arial"/>
                <a:cs typeface="Arial"/>
              </a:defRPr>
            </a:lvl5pPr>
            <a:lvl6pPr>
              <a:buNone/>
              <a:defRPr sz="1575" b="1">
                <a:solidFill>
                  <a:srgbClr val="233342"/>
                </a:solidFill>
                <a:latin typeface="Arial"/>
                <a:ea typeface="Arial"/>
                <a:cs typeface="Arial"/>
              </a:defRPr>
            </a:lvl6pPr>
            <a:lvl7pPr>
              <a:buNone/>
              <a:defRPr sz="1575" b="1">
                <a:solidFill>
                  <a:srgbClr val="233342"/>
                </a:solidFill>
                <a:latin typeface="Arial"/>
                <a:ea typeface="Arial"/>
                <a:cs typeface="Arial"/>
              </a:defRPr>
            </a:lvl7pPr>
            <a:lvl8pPr>
              <a:buNone/>
              <a:defRPr sz="1575" b="1">
                <a:solidFill>
                  <a:srgbClr val="233342"/>
                </a:solidFill>
                <a:latin typeface="Arial"/>
                <a:ea typeface="Arial"/>
                <a:cs typeface="Arial"/>
              </a:defRPr>
            </a:lvl8pPr>
            <a:lvl9pPr>
              <a:buNone/>
              <a:defRPr sz="1575" b="1">
                <a:solidFill>
                  <a:srgbClr val="233342"/>
                </a:solidFill>
                <a:latin typeface="Arial"/>
                <a:ea typeface="Arial"/>
                <a:cs typeface="Arial"/>
              </a:defRPr>
            </a:lvl9pPr>
          </a:lstStyle>
          <a:p xmlns:a="http://schemas.openxmlformats.org/drawingml/2006/main">
            <a:pPr>
              <a:buNone/>
              <a:defRPr sz="1575" b="1">
                <a:solidFill>
                  <a:srgbClr val="233342"/>
                </a:solidFill>
                <a:latin typeface="Arial"/>
                <a:ea typeface="Arial"/>
                <a:cs typeface="Arial"/>
              </a:defRPr>
            </a:pPr>
            <a:r>
              <a:rPr sz="2000" b="1"/>
              <a:t>YNU-HPCC</a:t>
            </a:r>
            <a:r>
              <a:rPr sz="2000"/>
              <a:t> </a:t>
            </a:r>
            <a:endParaRPr sz="1800" b="1">
              <a:solidFill>
                <a:srgbClr val="233342"/>
              </a:solidFill>
              <a:latin typeface="Arial"/>
              <a:ea typeface="Arial"/>
              <a:cs typeface="Arial"/>
            </a:endParaRPr>
          </a:p>
        </p:txBody>
      </p:sp>
      <p:sp>
        <p:nvSpPr>
          <p:cNvPr id="17" name="矩形 16">
            <a:extLst xmlns:a="http://schemas.openxmlformats.org/drawingml/2006/main">
              <a:ext uri="{FF2B5EF4-FFF2-40B4-BE49-F238E27FC236}">
                <a16:creationId xmlns:a16="http://schemas.microsoft.com/office/drawing/2014/main" id="{C28EA3EB-CBFA-48BE-A315-7025D07BCDD6}"/>
              </a:ext>
            </a:extLst>
          </p:cNvPr>
          <p:cNvSpPr>
            <a:spLocks xmlns:a="http://schemas.openxmlformats.org/drawingml/2006/main" noGrp="1"/>
          </p:cNvSpPr>
          <p:nvPr/>
        </p:nvSpPr>
        <p:spPr>
          <a:xfrm xmlns:a="http://schemas.openxmlformats.org/drawingml/2006/main">
            <a:off x="10351906" y="3106318"/>
            <a:ext cx="85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2025" b="1">
                <a:solidFill>
                  <a:srgbClr val="9E1B32"/>
                </a:solidFill>
                <a:latin typeface="Arial"/>
                <a:ea typeface="Arial"/>
                <a:cs typeface="Arial"/>
              </a:defRPr>
            </a:defPPr>
            <a:lvl1pPr algn="r">
              <a:buNone/>
              <a:defRPr sz="2025" b="1">
                <a:solidFill>
                  <a:srgbClr val="9E1B32"/>
                </a:solidFill>
                <a:latin typeface="Arial"/>
                <a:ea typeface="Arial"/>
                <a:cs typeface="Arial"/>
              </a:defRPr>
            </a:lvl1pPr>
            <a:lvl2pPr algn="r">
              <a:buNone/>
              <a:defRPr sz="2025" b="1">
                <a:solidFill>
                  <a:srgbClr val="9E1B32"/>
                </a:solidFill>
                <a:latin typeface="Arial"/>
                <a:ea typeface="Arial"/>
                <a:cs typeface="Arial"/>
              </a:defRPr>
            </a:lvl2pPr>
            <a:lvl3pPr algn="r">
              <a:buNone/>
              <a:defRPr sz="2025" b="1">
                <a:solidFill>
                  <a:srgbClr val="9E1B32"/>
                </a:solidFill>
                <a:latin typeface="Arial"/>
                <a:ea typeface="Arial"/>
                <a:cs typeface="Arial"/>
              </a:defRPr>
            </a:lvl3pPr>
            <a:lvl4pPr algn="r">
              <a:buNone/>
              <a:defRPr sz="2025" b="1">
                <a:solidFill>
                  <a:srgbClr val="9E1B32"/>
                </a:solidFill>
                <a:latin typeface="Arial"/>
                <a:ea typeface="Arial"/>
                <a:cs typeface="Arial"/>
              </a:defRPr>
            </a:lvl4pPr>
            <a:lvl5pPr algn="r">
              <a:buNone/>
              <a:defRPr sz="2025" b="1">
                <a:solidFill>
                  <a:srgbClr val="9E1B32"/>
                </a:solidFill>
                <a:latin typeface="Arial"/>
                <a:ea typeface="Arial"/>
                <a:cs typeface="Arial"/>
              </a:defRPr>
            </a:lvl5pPr>
            <a:lvl6pPr algn="r">
              <a:buNone/>
              <a:defRPr sz="2025" b="1">
                <a:solidFill>
                  <a:srgbClr val="9E1B32"/>
                </a:solidFill>
                <a:latin typeface="Arial"/>
                <a:ea typeface="Arial"/>
                <a:cs typeface="Arial"/>
              </a:defRPr>
            </a:lvl6pPr>
            <a:lvl7pPr algn="r">
              <a:buNone/>
              <a:defRPr sz="2025" b="1">
                <a:solidFill>
                  <a:srgbClr val="9E1B32"/>
                </a:solidFill>
                <a:latin typeface="Arial"/>
                <a:ea typeface="Arial"/>
                <a:cs typeface="Arial"/>
              </a:defRPr>
            </a:lvl7pPr>
            <a:lvl8pPr algn="r">
              <a:buNone/>
              <a:defRPr sz="2025" b="1">
                <a:solidFill>
                  <a:srgbClr val="9E1B32"/>
                </a:solidFill>
                <a:latin typeface="Arial"/>
                <a:ea typeface="Arial"/>
                <a:cs typeface="Arial"/>
              </a:defRPr>
            </a:lvl8pPr>
            <a:lvl9pPr algn="r">
              <a:buNone/>
              <a:defRPr sz="2025" b="1">
                <a:solidFill>
                  <a:srgbClr val="9E1B32"/>
                </a:solidFill>
                <a:latin typeface="Arial"/>
                <a:ea typeface="Arial"/>
                <a:cs typeface="Arial"/>
              </a:defRPr>
            </a:lvl9pPr>
          </a:lstStyle>
          <a:p xmlns:a="http://schemas.openxmlformats.org/drawingml/2006/main">
            <a:pPr algn="r">
              <a:buNone/>
              <a:defRPr sz="2025" b="1">
                <a:solidFill>
                  <a:srgbClr val="9E1B32"/>
                </a:solidFill>
                <a:latin typeface="Arial"/>
                <a:ea typeface="Arial"/>
                <a:cs typeface="Arial"/>
              </a:defRPr>
            </a:pPr>
            <a:r>
              <a:rPr sz="2025" b="1">
                <a:solidFill>
                  <a:srgbClr val="9E1B32"/>
                </a:solidFill>
                <a:latin typeface="Arial"/>
                <a:ea typeface="Arial"/>
                <a:cs typeface="Arial"/>
              </a:rPr>
              <a:t>60.99</a:t>
            </a:r>
          </a:p>
        </p:txBody>
      </p:sp>
      <p:sp>
        <p:nvSpPr>
          <p:cNvPr id="18" name="矩形 17">
            <a:extLst xmlns:a="http://schemas.openxmlformats.org/drawingml/2006/main">
              <a:ext uri="{FF2B5EF4-FFF2-40B4-BE49-F238E27FC236}">
                <a16:creationId xmlns:a16="http://schemas.microsoft.com/office/drawing/2014/main" id="{F71EC079-127E-466B-B4E5-F985D7A3C935}"/>
              </a:ext>
            </a:extLst>
          </p:cNvPr>
          <p:cNvSpPr>
            <a:spLocks xmlns:a="http://schemas.openxmlformats.org/drawingml/2006/main" noGrp="1"/>
          </p:cNvSpPr>
          <p:nvPr/>
        </p:nvSpPr>
        <p:spPr>
          <a:xfrm xmlns:a="http://schemas.openxmlformats.org/drawingml/2006/main">
            <a:off x="7894456" y="3904859"/>
            <a:ext cx="3314700" cy="9525"/>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9" name="矩形 18">
            <a:extLst xmlns:a="http://schemas.openxmlformats.org/drawingml/2006/main">
              <a:ext uri="{FF2B5EF4-FFF2-40B4-BE49-F238E27FC236}">
                <a16:creationId xmlns:a16="http://schemas.microsoft.com/office/drawing/2014/main" id="{A22AC653-3BC4-4600-AF49-E06B1656845B}"/>
              </a:ext>
            </a:extLst>
          </p:cNvPr>
          <p:cNvSpPr>
            <a:spLocks xmlns:a="http://schemas.openxmlformats.org/drawingml/2006/main" noGrp="1"/>
          </p:cNvSpPr>
          <p:nvPr/>
        </p:nvSpPr>
        <p:spPr>
          <a:xfrm xmlns:a="http://schemas.openxmlformats.org/drawingml/2006/main">
            <a:off x="7938612" y="4155792"/>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C49A2C"/>
                </a:solidFill>
                <a:latin typeface="Arial"/>
                <a:ea typeface="Arial"/>
                <a:cs typeface="Arial"/>
              </a:defRPr>
            </a:defPPr>
            <a:lvl1pPr>
              <a:buNone/>
              <a:defRPr sz="975" b="1">
                <a:solidFill>
                  <a:srgbClr val="C49A2C"/>
                </a:solidFill>
                <a:latin typeface="Arial"/>
                <a:ea typeface="Arial"/>
                <a:cs typeface="Arial"/>
              </a:defRPr>
            </a:lvl1pPr>
            <a:lvl2pPr>
              <a:buNone/>
              <a:defRPr sz="975" b="1">
                <a:solidFill>
                  <a:srgbClr val="C49A2C"/>
                </a:solidFill>
                <a:latin typeface="Arial"/>
                <a:ea typeface="Arial"/>
                <a:cs typeface="Arial"/>
              </a:defRPr>
            </a:lvl2pPr>
            <a:lvl3pPr>
              <a:buNone/>
              <a:defRPr sz="975" b="1">
                <a:solidFill>
                  <a:srgbClr val="C49A2C"/>
                </a:solidFill>
                <a:latin typeface="Arial"/>
                <a:ea typeface="Arial"/>
                <a:cs typeface="Arial"/>
              </a:defRPr>
            </a:lvl3pPr>
            <a:lvl4pPr>
              <a:buNone/>
              <a:defRPr sz="975" b="1">
                <a:solidFill>
                  <a:srgbClr val="C49A2C"/>
                </a:solidFill>
                <a:latin typeface="Arial"/>
                <a:ea typeface="Arial"/>
                <a:cs typeface="Arial"/>
              </a:defRPr>
            </a:lvl4pPr>
            <a:lvl5pPr>
              <a:buNone/>
              <a:defRPr sz="975" b="1">
                <a:solidFill>
                  <a:srgbClr val="C49A2C"/>
                </a:solidFill>
                <a:latin typeface="Arial"/>
                <a:ea typeface="Arial"/>
                <a:cs typeface="Arial"/>
              </a:defRPr>
            </a:lvl5pPr>
            <a:lvl6pPr>
              <a:buNone/>
              <a:defRPr sz="975" b="1">
                <a:solidFill>
                  <a:srgbClr val="C49A2C"/>
                </a:solidFill>
                <a:latin typeface="Arial"/>
                <a:ea typeface="Arial"/>
                <a:cs typeface="Arial"/>
              </a:defRPr>
            </a:lvl6pPr>
            <a:lvl7pPr>
              <a:buNone/>
              <a:defRPr sz="975" b="1">
                <a:solidFill>
                  <a:srgbClr val="C49A2C"/>
                </a:solidFill>
                <a:latin typeface="Arial"/>
                <a:ea typeface="Arial"/>
                <a:cs typeface="Arial"/>
              </a:defRPr>
            </a:lvl7pPr>
            <a:lvl8pPr>
              <a:buNone/>
              <a:defRPr sz="975" b="1">
                <a:solidFill>
                  <a:srgbClr val="C49A2C"/>
                </a:solidFill>
                <a:latin typeface="Arial"/>
                <a:ea typeface="Arial"/>
                <a:cs typeface="Arial"/>
              </a:defRPr>
            </a:lvl8pPr>
            <a:lvl9pPr>
              <a:buNone/>
              <a:defRPr sz="975" b="1">
                <a:solidFill>
                  <a:srgbClr val="C49A2C"/>
                </a:solidFill>
                <a:latin typeface="Arial"/>
                <a:ea typeface="Arial"/>
                <a:cs typeface="Arial"/>
              </a:defRPr>
            </a:lvl9pPr>
          </a:lstStyle>
          <a:p xmlns:a="http://schemas.openxmlformats.org/drawingml/2006/main">
            <a:pPr>
              <a:buNone/>
              <a:defRPr sz="975" b="1">
                <a:solidFill>
                  <a:srgbClr val="C49A2C"/>
                </a:solidFill>
                <a:latin typeface="Arial"/>
                <a:ea typeface="Arial"/>
                <a:cs typeface="Arial"/>
              </a:defRPr>
            </a:pPr>
            <a:r>
              <a:rPr sz="1400" b="1">
                <a:solidFill>
                  <a:srgbClr val="C49A2C"/>
                </a:solidFill>
                <a:latin typeface="Arial"/>
                <a:ea typeface="Arial"/>
                <a:cs typeface="Arial"/>
              </a:rPr>
              <a:t>COGNITIVE MODELING</a:t>
            </a:r>
          </a:p>
        </p:txBody>
      </p:sp>
      <p:sp>
        <p:nvSpPr>
          <p:cNvPr id="20" name="矩形 19">
            <a:extLst xmlns:a="http://schemas.openxmlformats.org/drawingml/2006/main">
              <a:ext uri="{FF2B5EF4-FFF2-40B4-BE49-F238E27FC236}">
                <a16:creationId xmlns:a16="http://schemas.microsoft.com/office/drawing/2014/main" id="{EC62E12B-1A17-4FFC-A7EE-8CE44B125BF0}"/>
              </a:ext>
            </a:extLst>
          </p:cNvPr>
          <p:cNvSpPr>
            <a:spLocks xmlns:a="http://schemas.openxmlformats.org/drawingml/2006/main" noGrp="1"/>
          </p:cNvSpPr>
          <p:nvPr/>
        </p:nvSpPr>
        <p:spPr>
          <a:xfrm xmlns:a="http://schemas.openxmlformats.org/drawingml/2006/main">
            <a:off x="7938612" y="4586947"/>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575" b="1">
                <a:solidFill>
                  <a:srgbClr val="233342"/>
                </a:solidFill>
                <a:latin typeface="Arial"/>
                <a:ea typeface="Arial"/>
                <a:cs typeface="Arial"/>
              </a:defRPr>
            </a:defPPr>
            <a:lvl1pPr>
              <a:buNone/>
              <a:defRPr sz="1575" b="1">
                <a:solidFill>
                  <a:srgbClr val="233342"/>
                </a:solidFill>
                <a:latin typeface="Arial"/>
                <a:ea typeface="Arial"/>
                <a:cs typeface="Arial"/>
              </a:defRPr>
            </a:lvl1pPr>
            <a:lvl2pPr>
              <a:buNone/>
              <a:defRPr sz="1575" b="1">
                <a:solidFill>
                  <a:srgbClr val="233342"/>
                </a:solidFill>
                <a:latin typeface="Arial"/>
                <a:ea typeface="Arial"/>
                <a:cs typeface="Arial"/>
              </a:defRPr>
            </a:lvl2pPr>
            <a:lvl3pPr>
              <a:buNone/>
              <a:defRPr sz="1575" b="1">
                <a:solidFill>
                  <a:srgbClr val="233342"/>
                </a:solidFill>
                <a:latin typeface="Arial"/>
                <a:ea typeface="Arial"/>
                <a:cs typeface="Arial"/>
              </a:defRPr>
            </a:lvl3pPr>
            <a:lvl4pPr>
              <a:buNone/>
              <a:defRPr sz="1575" b="1">
                <a:solidFill>
                  <a:srgbClr val="233342"/>
                </a:solidFill>
                <a:latin typeface="Arial"/>
                <a:ea typeface="Arial"/>
                <a:cs typeface="Arial"/>
              </a:defRPr>
            </a:lvl4pPr>
            <a:lvl5pPr>
              <a:buNone/>
              <a:defRPr sz="1575" b="1">
                <a:solidFill>
                  <a:srgbClr val="233342"/>
                </a:solidFill>
                <a:latin typeface="Arial"/>
                <a:ea typeface="Arial"/>
                <a:cs typeface="Arial"/>
              </a:defRPr>
            </a:lvl5pPr>
            <a:lvl6pPr>
              <a:buNone/>
              <a:defRPr sz="1575" b="1">
                <a:solidFill>
                  <a:srgbClr val="233342"/>
                </a:solidFill>
                <a:latin typeface="Arial"/>
                <a:ea typeface="Arial"/>
                <a:cs typeface="Arial"/>
              </a:defRPr>
            </a:lvl6pPr>
            <a:lvl7pPr>
              <a:buNone/>
              <a:defRPr sz="1575" b="1">
                <a:solidFill>
                  <a:srgbClr val="233342"/>
                </a:solidFill>
                <a:latin typeface="Arial"/>
                <a:ea typeface="Arial"/>
                <a:cs typeface="Arial"/>
              </a:defRPr>
            </a:lvl7pPr>
            <a:lvl8pPr>
              <a:buNone/>
              <a:defRPr sz="1575" b="1">
                <a:solidFill>
                  <a:srgbClr val="233342"/>
                </a:solidFill>
                <a:latin typeface="Arial"/>
                <a:ea typeface="Arial"/>
                <a:cs typeface="Arial"/>
              </a:defRPr>
            </a:lvl8pPr>
            <a:lvl9pPr>
              <a:buNone/>
              <a:defRPr sz="1575" b="1">
                <a:solidFill>
                  <a:srgbClr val="233342"/>
                </a:solidFill>
                <a:latin typeface="Arial"/>
                <a:ea typeface="Arial"/>
                <a:cs typeface="Arial"/>
              </a:defRPr>
            </a:lvl9pPr>
          </a:lstStyle>
          <a:p xmlns:a="http://schemas.openxmlformats.org/drawingml/2006/main">
            <a:pPr>
              <a:buNone/>
              <a:defRPr sz="1575" b="1">
                <a:solidFill>
                  <a:srgbClr val="233342"/>
                </a:solidFill>
                <a:latin typeface="Arial"/>
                <a:ea typeface="Arial"/>
                <a:cs typeface="Arial"/>
              </a:defRPr>
            </a:pPr>
            <a:r>
              <a:rPr sz="2000"/>
              <a:t>Deepscientist</a:t>
            </a:r>
            <a:endParaRPr sz="1800" b="1">
              <a:solidFill>
                <a:srgbClr val="233342"/>
              </a:solidFill>
              <a:latin typeface="Arial"/>
              <a:ea typeface="Arial"/>
              <a:cs typeface="Arial"/>
            </a:endParaRPr>
          </a:p>
        </p:txBody>
      </p:sp>
      <p:sp>
        <p:nvSpPr>
          <p:cNvPr id="21" name="矩形 20">
            <a:extLst xmlns:a="http://schemas.openxmlformats.org/drawingml/2006/main">
              <a:ext uri="{FF2B5EF4-FFF2-40B4-BE49-F238E27FC236}">
                <a16:creationId xmlns:a16="http://schemas.microsoft.com/office/drawing/2014/main" id="{DD7A2900-00AE-48B4-8108-CBC1C132865F}"/>
              </a:ext>
            </a:extLst>
          </p:cNvPr>
          <p:cNvSpPr>
            <a:spLocks xmlns:a="http://schemas.openxmlformats.org/drawingml/2006/main" noGrp="1"/>
          </p:cNvSpPr>
          <p:nvPr/>
        </p:nvSpPr>
        <p:spPr>
          <a:xfrm xmlns:a="http://schemas.openxmlformats.org/drawingml/2006/main">
            <a:off x="10396537" y="4385481"/>
            <a:ext cx="85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2025" b="1">
                <a:solidFill>
                  <a:srgbClr val="9E1B32"/>
                </a:solidFill>
                <a:latin typeface="Arial"/>
                <a:ea typeface="Arial"/>
                <a:cs typeface="Arial"/>
              </a:defRPr>
            </a:defPPr>
            <a:lvl1pPr algn="r">
              <a:buNone/>
              <a:defRPr sz="2025" b="1">
                <a:solidFill>
                  <a:srgbClr val="9E1B32"/>
                </a:solidFill>
                <a:latin typeface="Arial"/>
                <a:ea typeface="Arial"/>
                <a:cs typeface="Arial"/>
              </a:defRPr>
            </a:lvl1pPr>
            <a:lvl2pPr algn="r">
              <a:buNone/>
              <a:defRPr sz="2025" b="1">
                <a:solidFill>
                  <a:srgbClr val="9E1B32"/>
                </a:solidFill>
                <a:latin typeface="Arial"/>
                <a:ea typeface="Arial"/>
                <a:cs typeface="Arial"/>
              </a:defRPr>
            </a:lvl2pPr>
            <a:lvl3pPr algn="r">
              <a:buNone/>
              <a:defRPr sz="2025" b="1">
                <a:solidFill>
                  <a:srgbClr val="9E1B32"/>
                </a:solidFill>
                <a:latin typeface="Arial"/>
                <a:ea typeface="Arial"/>
                <a:cs typeface="Arial"/>
              </a:defRPr>
            </a:lvl3pPr>
            <a:lvl4pPr algn="r">
              <a:buNone/>
              <a:defRPr sz="2025" b="1">
                <a:solidFill>
                  <a:srgbClr val="9E1B32"/>
                </a:solidFill>
                <a:latin typeface="Arial"/>
                <a:ea typeface="Arial"/>
                <a:cs typeface="Arial"/>
              </a:defRPr>
            </a:lvl4pPr>
            <a:lvl5pPr algn="r">
              <a:buNone/>
              <a:defRPr sz="2025" b="1">
                <a:solidFill>
                  <a:srgbClr val="9E1B32"/>
                </a:solidFill>
                <a:latin typeface="Arial"/>
                <a:ea typeface="Arial"/>
                <a:cs typeface="Arial"/>
              </a:defRPr>
            </a:lvl5pPr>
            <a:lvl6pPr algn="r">
              <a:buNone/>
              <a:defRPr sz="2025" b="1">
                <a:solidFill>
                  <a:srgbClr val="9E1B32"/>
                </a:solidFill>
                <a:latin typeface="Arial"/>
                <a:ea typeface="Arial"/>
                <a:cs typeface="Arial"/>
              </a:defRPr>
            </a:lvl6pPr>
            <a:lvl7pPr algn="r">
              <a:buNone/>
              <a:defRPr sz="2025" b="1">
                <a:solidFill>
                  <a:srgbClr val="9E1B32"/>
                </a:solidFill>
                <a:latin typeface="Arial"/>
                <a:ea typeface="Arial"/>
                <a:cs typeface="Arial"/>
              </a:defRPr>
            </a:lvl7pPr>
            <a:lvl8pPr algn="r">
              <a:buNone/>
              <a:defRPr sz="2025" b="1">
                <a:solidFill>
                  <a:srgbClr val="9E1B32"/>
                </a:solidFill>
                <a:latin typeface="Arial"/>
                <a:ea typeface="Arial"/>
                <a:cs typeface="Arial"/>
              </a:defRPr>
            </a:lvl8pPr>
            <a:lvl9pPr algn="r">
              <a:buNone/>
              <a:defRPr sz="2025" b="1">
                <a:solidFill>
                  <a:srgbClr val="9E1B32"/>
                </a:solidFill>
                <a:latin typeface="Arial"/>
                <a:ea typeface="Arial"/>
                <a:cs typeface="Arial"/>
              </a:defRPr>
            </a:lvl9pPr>
          </a:lstStyle>
          <a:p xmlns:a="http://schemas.openxmlformats.org/drawingml/2006/main">
            <a:pPr algn="r">
              <a:buNone/>
              <a:defRPr sz="2025" b="1">
                <a:solidFill>
                  <a:srgbClr val="9E1B32"/>
                </a:solidFill>
                <a:latin typeface="Arial"/>
                <a:ea typeface="Arial"/>
                <a:cs typeface="Arial"/>
              </a:defRPr>
            </a:pPr>
            <a:r>
              <a:rPr sz="2025" b="1">
                <a:solidFill>
                  <a:srgbClr val="9E1B32"/>
                </a:solidFill>
                <a:latin typeface="Arial"/>
                <a:ea typeface="Arial"/>
                <a:cs typeface="Arial"/>
              </a:rPr>
              <a:t>33.96</a:t>
            </a:r>
          </a:p>
        </p:txBody>
      </p:sp>
      <p:sp>
        <p:nvSpPr>
          <p:cNvPr id="22" name="矩形 21">
            <a:extLst xmlns:a="http://schemas.openxmlformats.org/drawingml/2006/main">
              <a:ext uri="{FF2B5EF4-FFF2-40B4-BE49-F238E27FC236}">
                <a16:creationId xmlns:a16="http://schemas.microsoft.com/office/drawing/2014/main" id="{A215E774-87D8-4708-959A-1A768D504F88}"/>
              </a:ext>
            </a:extLst>
          </p:cNvPr>
          <p:cNvSpPr>
            <a:spLocks xmlns:a="http://schemas.openxmlformats.org/drawingml/2006/main" noGrp="1"/>
          </p:cNvSpPr>
          <p:nvPr/>
        </p:nvSpPr>
        <p:spPr>
          <a:xfrm xmlns:a="http://schemas.openxmlformats.org/drawingml/2006/main">
            <a:off x="7938612" y="5123067"/>
            <a:ext cx="3314700" cy="9525"/>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23" name="矩形 22">
            <a:extLst xmlns:a="http://schemas.openxmlformats.org/drawingml/2006/main">
              <a:ext uri="{FF2B5EF4-FFF2-40B4-BE49-F238E27FC236}">
                <a16:creationId xmlns:a16="http://schemas.microsoft.com/office/drawing/2014/main" id="{9952157E-9DB6-4C34-AB37-280CFF909B5B}"/>
              </a:ext>
            </a:extLst>
          </p:cNvPr>
          <p:cNvSpPr>
            <a:spLocks xmlns:a="http://schemas.openxmlformats.org/drawingml/2006/main" noGrp="1"/>
          </p:cNvSpPr>
          <p:nvPr/>
        </p:nvSpPr>
        <p:spPr>
          <a:xfrm xmlns:a="http://schemas.openxmlformats.org/drawingml/2006/main">
            <a:off x="7938612" y="5385739"/>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C49A2C"/>
                </a:solidFill>
                <a:latin typeface="Arial"/>
                <a:ea typeface="Arial"/>
                <a:cs typeface="Arial"/>
              </a:defRPr>
            </a:defPPr>
            <a:lvl1pPr>
              <a:buNone/>
              <a:defRPr sz="975" b="1">
                <a:solidFill>
                  <a:srgbClr val="C49A2C"/>
                </a:solidFill>
                <a:latin typeface="Arial"/>
                <a:ea typeface="Arial"/>
                <a:cs typeface="Arial"/>
              </a:defRPr>
            </a:lvl1pPr>
            <a:lvl2pPr>
              <a:buNone/>
              <a:defRPr sz="975" b="1">
                <a:solidFill>
                  <a:srgbClr val="C49A2C"/>
                </a:solidFill>
                <a:latin typeface="Arial"/>
                <a:ea typeface="Arial"/>
                <a:cs typeface="Arial"/>
              </a:defRPr>
            </a:lvl2pPr>
            <a:lvl3pPr>
              <a:buNone/>
              <a:defRPr sz="975" b="1">
                <a:solidFill>
                  <a:srgbClr val="C49A2C"/>
                </a:solidFill>
                <a:latin typeface="Arial"/>
                <a:ea typeface="Arial"/>
                <a:cs typeface="Arial"/>
              </a:defRPr>
            </a:lvl3pPr>
            <a:lvl4pPr>
              <a:buNone/>
              <a:defRPr sz="975" b="1">
                <a:solidFill>
                  <a:srgbClr val="C49A2C"/>
                </a:solidFill>
                <a:latin typeface="Arial"/>
                <a:ea typeface="Arial"/>
                <a:cs typeface="Arial"/>
              </a:defRPr>
            </a:lvl4pPr>
            <a:lvl5pPr>
              <a:buNone/>
              <a:defRPr sz="975" b="1">
                <a:solidFill>
                  <a:srgbClr val="C49A2C"/>
                </a:solidFill>
                <a:latin typeface="Arial"/>
                <a:ea typeface="Arial"/>
                <a:cs typeface="Arial"/>
              </a:defRPr>
            </a:lvl5pPr>
            <a:lvl6pPr>
              <a:buNone/>
              <a:defRPr sz="975" b="1">
                <a:solidFill>
                  <a:srgbClr val="C49A2C"/>
                </a:solidFill>
                <a:latin typeface="Arial"/>
                <a:ea typeface="Arial"/>
                <a:cs typeface="Arial"/>
              </a:defRPr>
            </a:lvl6pPr>
            <a:lvl7pPr>
              <a:buNone/>
              <a:defRPr sz="975" b="1">
                <a:solidFill>
                  <a:srgbClr val="C49A2C"/>
                </a:solidFill>
                <a:latin typeface="Arial"/>
                <a:ea typeface="Arial"/>
                <a:cs typeface="Arial"/>
              </a:defRPr>
            </a:lvl7pPr>
            <a:lvl8pPr>
              <a:buNone/>
              <a:defRPr sz="975" b="1">
                <a:solidFill>
                  <a:srgbClr val="C49A2C"/>
                </a:solidFill>
                <a:latin typeface="Arial"/>
                <a:ea typeface="Arial"/>
                <a:cs typeface="Arial"/>
              </a:defRPr>
            </a:lvl8pPr>
            <a:lvl9pPr>
              <a:buNone/>
              <a:defRPr sz="975" b="1">
                <a:solidFill>
                  <a:srgbClr val="C49A2C"/>
                </a:solidFill>
                <a:latin typeface="Arial"/>
                <a:ea typeface="Arial"/>
                <a:cs typeface="Arial"/>
              </a:defRPr>
            </a:lvl9pPr>
          </a:lstStyle>
          <a:p xmlns:a="http://schemas.openxmlformats.org/drawingml/2006/main">
            <a:pPr>
              <a:buNone/>
              <a:defRPr sz="975" b="1">
                <a:solidFill>
                  <a:srgbClr val="C49A2C"/>
                </a:solidFill>
                <a:latin typeface="Arial"/>
                <a:ea typeface="Arial"/>
                <a:cs typeface="Arial"/>
              </a:defRPr>
            </a:pPr>
            <a:r>
              <a:rPr sz="1400" b="1">
                <a:solidFill>
                  <a:srgbClr val="C49A2C"/>
                </a:solidFill>
                <a:latin typeface="Arial"/>
                <a:ea typeface="Arial"/>
                <a:cs typeface="Arial"/>
              </a:rPr>
              <a:t>HANZI</a:t>
            </a:r>
          </a:p>
        </p:txBody>
      </p:sp>
      <p:sp>
        <p:nvSpPr>
          <p:cNvPr id="24" name="矩形 23">
            <a:extLst xmlns:a="http://schemas.openxmlformats.org/drawingml/2006/main">
              <a:ext uri="{FF2B5EF4-FFF2-40B4-BE49-F238E27FC236}">
                <a16:creationId xmlns:a16="http://schemas.microsoft.com/office/drawing/2014/main" id="{84F89B00-D52C-4C71-B88A-17D574A5B3AD}"/>
              </a:ext>
            </a:extLst>
          </p:cNvPr>
          <p:cNvSpPr>
            <a:spLocks xmlns:a="http://schemas.openxmlformats.org/drawingml/2006/main" noGrp="1"/>
          </p:cNvSpPr>
          <p:nvPr/>
        </p:nvSpPr>
        <p:spPr>
          <a:xfrm xmlns:a="http://schemas.openxmlformats.org/drawingml/2006/main">
            <a:off x="7948137" y="5841913"/>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575" b="1">
                <a:solidFill>
                  <a:srgbClr val="233342"/>
                </a:solidFill>
                <a:latin typeface="Arial"/>
                <a:ea typeface="Arial"/>
                <a:cs typeface="Arial"/>
              </a:defRPr>
            </a:defPPr>
            <a:lvl1pPr>
              <a:buNone/>
              <a:defRPr sz="1575" b="1">
                <a:solidFill>
                  <a:srgbClr val="233342"/>
                </a:solidFill>
                <a:latin typeface="Arial"/>
                <a:ea typeface="Arial"/>
                <a:cs typeface="Arial"/>
              </a:defRPr>
            </a:lvl1pPr>
            <a:lvl2pPr>
              <a:buNone/>
              <a:defRPr sz="1575" b="1">
                <a:solidFill>
                  <a:srgbClr val="233342"/>
                </a:solidFill>
                <a:latin typeface="Arial"/>
                <a:ea typeface="Arial"/>
                <a:cs typeface="Arial"/>
              </a:defRPr>
            </a:lvl2pPr>
            <a:lvl3pPr>
              <a:buNone/>
              <a:defRPr sz="1575" b="1">
                <a:solidFill>
                  <a:srgbClr val="233342"/>
                </a:solidFill>
                <a:latin typeface="Arial"/>
                <a:ea typeface="Arial"/>
                <a:cs typeface="Arial"/>
              </a:defRPr>
            </a:lvl3pPr>
            <a:lvl4pPr>
              <a:buNone/>
              <a:defRPr sz="1575" b="1">
                <a:solidFill>
                  <a:srgbClr val="233342"/>
                </a:solidFill>
                <a:latin typeface="Arial"/>
                <a:ea typeface="Arial"/>
                <a:cs typeface="Arial"/>
              </a:defRPr>
            </a:lvl4pPr>
            <a:lvl5pPr>
              <a:buNone/>
              <a:defRPr sz="1575" b="1">
                <a:solidFill>
                  <a:srgbClr val="233342"/>
                </a:solidFill>
                <a:latin typeface="Arial"/>
                <a:ea typeface="Arial"/>
                <a:cs typeface="Arial"/>
              </a:defRPr>
            </a:lvl5pPr>
            <a:lvl6pPr>
              <a:buNone/>
              <a:defRPr sz="1575" b="1">
                <a:solidFill>
                  <a:srgbClr val="233342"/>
                </a:solidFill>
                <a:latin typeface="Arial"/>
                <a:ea typeface="Arial"/>
                <a:cs typeface="Arial"/>
              </a:defRPr>
            </a:lvl6pPr>
            <a:lvl7pPr>
              <a:buNone/>
              <a:defRPr sz="1575" b="1">
                <a:solidFill>
                  <a:srgbClr val="233342"/>
                </a:solidFill>
                <a:latin typeface="Arial"/>
                <a:ea typeface="Arial"/>
                <a:cs typeface="Arial"/>
              </a:defRPr>
            </a:lvl7pPr>
            <a:lvl8pPr>
              <a:buNone/>
              <a:defRPr sz="1575" b="1">
                <a:solidFill>
                  <a:srgbClr val="233342"/>
                </a:solidFill>
                <a:latin typeface="Arial"/>
                <a:ea typeface="Arial"/>
                <a:cs typeface="Arial"/>
              </a:defRPr>
            </a:lvl8pPr>
            <a:lvl9pPr>
              <a:buNone/>
              <a:defRPr sz="1575" b="1">
                <a:solidFill>
                  <a:srgbClr val="233342"/>
                </a:solidFill>
                <a:latin typeface="Arial"/>
                <a:ea typeface="Arial"/>
                <a:cs typeface="Arial"/>
              </a:defRPr>
            </a:lvl9pPr>
          </a:lstStyle>
          <a:p xmlns:a="http://schemas.openxmlformats.org/drawingml/2006/main">
            <a:pPr>
              <a:buNone/>
              <a:defRPr sz="1575" b="1">
                <a:solidFill>
                  <a:srgbClr val="233342"/>
                </a:solidFill>
                <a:latin typeface="Arial"/>
                <a:ea typeface="Arial"/>
                <a:cs typeface="Arial"/>
              </a:defRPr>
            </a:pPr>
            <a:r>
              <a:rPr sz="2000" b="1"/>
              <a:t>BabyDragon</a:t>
            </a:r>
            <a:r>
              <a:rPr sz="2000"/>
              <a:t> </a:t>
            </a:r>
            <a:endParaRPr sz="1800" b="1">
              <a:solidFill>
                <a:srgbClr val="233342"/>
              </a:solidFill>
              <a:latin typeface="Arial"/>
              <a:ea typeface="Arial"/>
              <a:cs typeface="Arial"/>
            </a:endParaRPr>
          </a:p>
        </p:txBody>
      </p:sp>
      <p:sp>
        <p:nvSpPr>
          <p:cNvPr id="25" name="矩形 24">
            <a:extLst xmlns:a="http://schemas.openxmlformats.org/drawingml/2006/main">
              <a:ext uri="{FF2B5EF4-FFF2-40B4-BE49-F238E27FC236}">
                <a16:creationId xmlns:a16="http://schemas.microsoft.com/office/drawing/2014/main" id="{65A9E174-8E5A-4DD5-B8F8-DF8480529B65}"/>
              </a:ext>
            </a:extLst>
          </p:cNvPr>
          <p:cNvSpPr>
            <a:spLocks xmlns:a="http://schemas.openxmlformats.org/drawingml/2006/main" noGrp="1"/>
          </p:cNvSpPr>
          <p:nvPr/>
        </p:nvSpPr>
        <p:spPr>
          <a:xfrm xmlns:a="http://schemas.openxmlformats.org/drawingml/2006/main">
            <a:off x="10396537" y="5584083"/>
            <a:ext cx="85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2025" b="1">
                <a:solidFill>
                  <a:srgbClr val="9E1B32"/>
                </a:solidFill>
                <a:latin typeface="Arial"/>
                <a:ea typeface="Arial"/>
                <a:cs typeface="Arial"/>
              </a:defRPr>
            </a:defPPr>
            <a:lvl1pPr algn="r">
              <a:buNone/>
              <a:defRPr sz="2025" b="1">
                <a:solidFill>
                  <a:srgbClr val="9E1B32"/>
                </a:solidFill>
                <a:latin typeface="Arial"/>
                <a:ea typeface="Arial"/>
                <a:cs typeface="Arial"/>
              </a:defRPr>
            </a:lvl1pPr>
            <a:lvl2pPr algn="r">
              <a:buNone/>
              <a:defRPr sz="2025" b="1">
                <a:solidFill>
                  <a:srgbClr val="9E1B32"/>
                </a:solidFill>
                <a:latin typeface="Arial"/>
                <a:ea typeface="Arial"/>
                <a:cs typeface="Arial"/>
              </a:defRPr>
            </a:lvl2pPr>
            <a:lvl3pPr algn="r">
              <a:buNone/>
              <a:defRPr sz="2025" b="1">
                <a:solidFill>
                  <a:srgbClr val="9E1B32"/>
                </a:solidFill>
                <a:latin typeface="Arial"/>
                <a:ea typeface="Arial"/>
                <a:cs typeface="Arial"/>
              </a:defRPr>
            </a:lvl3pPr>
            <a:lvl4pPr algn="r">
              <a:buNone/>
              <a:defRPr sz="2025" b="1">
                <a:solidFill>
                  <a:srgbClr val="9E1B32"/>
                </a:solidFill>
                <a:latin typeface="Arial"/>
                <a:ea typeface="Arial"/>
                <a:cs typeface="Arial"/>
              </a:defRPr>
            </a:lvl4pPr>
            <a:lvl5pPr algn="r">
              <a:buNone/>
              <a:defRPr sz="2025" b="1">
                <a:solidFill>
                  <a:srgbClr val="9E1B32"/>
                </a:solidFill>
                <a:latin typeface="Arial"/>
                <a:ea typeface="Arial"/>
                <a:cs typeface="Arial"/>
              </a:defRPr>
            </a:lvl5pPr>
            <a:lvl6pPr algn="r">
              <a:buNone/>
              <a:defRPr sz="2025" b="1">
                <a:solidFill>
                  <a:srgbClr val="9E1B32"/>
                </a:solidFill>
                <a:latin typeface="Arial"/>
                <a:ea typeface="Arial"/>
                <a:cs typeface="Arial"/>
              </a:defRPr>
            </a:lvl6pPr>
            <a:lvl7pPr algn="r">
              <a:buNone/>
              <a:defRPr sz="2025" b="1">
                <a:solidFill>
                  <a:srgbClr val="9E1B32"/>
                </a:solidFill>
                <a:latin typeface="Arial"/>
                <a:ea typeface="Arial"/>
                <a:cs typeface="Arial"/>
              </a:defRPr>
            </a:lvl7pPr>
            <a:lvl8pPr algn="r">
              <a:buNone/>
              <a:defRPr sz="2025" b="1">
                <a:solidFill>
                  <a:srgbClr val="9E1B32"/>
                </a:solidFill>
                <a:latin typeface="Arial"/>
                <a:ea typeface="Arial"/>
                <a:cs typeface="Arial"/>
              </a:defRPr>
            </a:lvl8pPr>
            <a:lvl9pPr algn="r">
              <a:buNone/>
              <a:defRPr sz="2025" b="1">
                <a:solidFill>
                  <a:srgbClr val="9E1B32"/>
                </a:solidFill>
                <a:latin typeface="Arial"/>
                <a:ea typeface="Arial"/>
                <a:cs typeface="Arial"/>
              </a:defRPr>
            </a:lvl9pPr>
          </a:lstStyle>
          <a:p xmlns:a="http://schemas.openxmlformats.org/drawingml/2006/main">
            <a:pPr algn="r">
              <a:buNone/>
              <a:defRPr sz="2025" b="1">
                <a:solidFill>
                  <a:srgbClr val="9E1B32"/>
                </a:solidFill>
                <a:latin typeface="Arial"/>
                <a:ea typeface="Arial"/>
                <a:cs typeface="Arial"/>
              </a:defRPr>
            </a:pPr>
            <a:r>
              <a:rPr sz="2025" b="1">
                <a:solidFill>
                  <a:srgbClr val="9E1B32"/>
                </a:solidFill>
                <a:latin typeface="Arial"/>
                <a:ea typeface="Arial"/>
                <a:cs typeface="Arial"/>
              </a:rPr>
              <a:t>91.56</a:t>
            </a:r>
          </a:p>
        </p:txBody>
      </p:sp>
      <p:sp>
        <p:nvSpPr>
          <p:cNvPr id="27" name="slide-5-footer-label">
            <a:extLst xmlns:a="http://schemas.openxmlformats.org/drawingml/2006/main">
              <a:ext uri="{FF2B5EF4-FFF2-40B4-BE49-F238E27FC236}">
                <a16:creationId xmlns:a16="http://schemas.microsoft.com/office/drawing/2014/main" id="{20797D32-8797-45F9-B224-FE51E70EB433}"/>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8" name="slide-5-footer-number">
            <a:extLst xmlns:a="http://schemas.openxmlformats.org/drawingml/2006/main">
              <a:ext uri="{FF2B5EF4-FFF2-40B4-BE49-F238E27FC236}">
                <a16:creationId xmlns:a16="http://schemas.microsoft.com/office/drawing/2014/main" id="{80796F6F-A4FB-4DFF-A293-27DD13AF38AF}"/>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rPr sz="1050" b="1">
                <a:solidFill>
                  <a:srgbClr val="9E1B32"/>
                </a:solidFill>
                <a:latin typeface="Arial"/>
                <a:ea typeface="Arial"/>
                <a:cs typeface="Arial"/>
              </a:rPr>
              <a:t>8</a:t>
            </a:r>
            <a:endParaRPr sz="1050" b="1">
              <a:solidFill>
                <a:srgbClr val="9E1B32"/>
              </a:solidFill>
              <a:latin typeface="Arial"/>
              <a:ea typeface="Arial"/>
              <a:cs typeface="Arial"/>
            </a:endParaRPr>
          </a:p>
        </p:txBody>
      </p:sp>
    </p:spTree>
    <p:extLst>
      <p:ext uri="{BB962C8B-B14F-4D97-AF65-F5344CB8AC3E}">
        <p14:creationId xmlns:p14="http://schemas.microsoft.com/office/powerpoint/2010/main" val="20284303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6-title">
            <a:extLst xmlns:a="http://schemas.openxmlformats.org/drawingml/2006/main">
              <a:ext uri="{FF2B5EF4-FFF2-40B4-BE49-F238E27FC236}">
                <a16:creationId xmlns:a16="http://schemas.microsoft.com/office/drawing/2014/main" id="{777AF88B-55C0-40E7-8312-BE0E44927BE1}"/>
              </a:ext>
            </a:extLst>
          </p:cNvPr>
          <p:cNvSpPr>
            <a:spLocks xmlns:a="http://schemas.openxmlformats.org/drawingml/2006/main" noGrp="1"/>
          </p:cNvSpPr>
          <p:nvPr/>
        </p:nvSpPr>
        <p:spPr>
          <a:xfrm xmlns:a="http://schemas.openxmlformats.org/drawingml/2006/main">
            <a:off x="685800" y="40957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3150" b="1">
                <a:solidFill>
                  <a:srgbClr val="20242A"/>
                </a:solidFill>
                <a:latin typeface="Arial"/>
                <a:ea typeface="Arial"/>
                <a:cs typeface="Arial"/>
              </a:defRPr>
            </a:pPr>
            <a:r>
              <a:rPr sz="3150" b="1">
                <a:solidFill>
                  <a:srgbClr val="20242A"/>
                </a:solidFill>
                <a:latin typeface="Arial"/>
                <a:ea typeface="Arial"/>
                <a:cs typeface="Arial"/>
              </a:rPr>
              <a:t>Submitted model statistics</a:t>
            </a:r>
            <a:endParaRPr sz="3150" b="1">
              <a:solidFill>
                <a:srgbClr val="20242A"/>
              </a:solidFill>
              <a:latin typeface="Arial"/>
              <a:ea typeface="Arial"/>
              <a:cs typeface="Arial"/>
            </a:endParaRPr>
          </a:p>
        </p:txBody>
      </p:sp>
      <p:sp>
        <p:nvSpPr>
          <p:cNvPr id="2" name="slide-6-top-rule">
            <a:extLst xmlns:a="http://schemas.openxmlformats.org/drawingml/2006/main">
              <a:ext uri="{FF2B5EF4-FFF2-40B4-BE49-F238E27FC236}">
                <a16:creationId xmlns:a16="http://schemas.microsoft.com/office/drawing/2014/main" id="{3229FEB6-FD13-4832-8958-79A419ABA061}"/>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矩形 2">
            <a:extLst xmlns:a="http://schemas.openxmlformats.org/drawingml/2006/main">
              <a:ext uri="{FF2B5EF4-FFF2-40B4-BE49-F238E27FC236}">
                <a16:creationId xmlns:a16="http://schemas.microsoft.com/office/drawing/2014/main" id="{DE5D9788-F5CB-4888-8818-B58A073C824A}"/>
              </a:ext>
            </a:extLst>
          </p:cNvPr>
          <p:cNvSpPr>
            <a:spLocks xmlns:a="http://schemas.openxmlformats.org/drawingml/2006/main" noGrp="1"/>
          </p:cNvSpPr>
          <p:nvPr/>
        </p:nvSpPr>
        <p:spPr>
          <a:xfrm xmlns:a="http://schemas.openxmlformats.org/drawingml/2006/main">
            <a:off x="685800" y="13716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buNone/>
              <a:defRPr sz="1800" b="1">
                <a:solidFill>
                  <a:srgbClr val="20242A"/>
                </a:solidFill>
                <a:latin typeface="Arial"/>
                <a:ea typeface="Arial"/>
                <a:cs typeface="Arial"/>
              </a:defRPr>
            </a:lvl1pPr>
            <a:lvl2pPr>
              <a:buNone/>
              <a:defRPr sz="1800" b="1">
                <a:solidFill>
                  <a:srgbClr val="20242A"/>
                </a:solidFill>
                <a:latin typeface="Arial"/>
                <a:ea typeface="Arial"/>
                <a:cs typeface="Arial"/>
              </a:defRPr>
            </a:lvl2pPr>
            <a:lvl3pPr>
              <a:buNone/>
              <a:defRPr sz="1800" b="1">
                <a:solidFill>
                  <a:srgbClr val="20242A"/>
                </a:solidFill>
                <a:latin typeface="Arial"/>
                <a:ea typeface="Arial"/>
                <a:cs typeface="Arial"/>
              </a:defRPr>
            </a:lvl3pPr>
            <a:lvl4pPr>
              <a:buNone/>
              <a:defRPr sz="1800" b="1">
                <a:solidFill>
                  <a:srgbClr val="20242A"/>
                </a:solidFill>
                <a:latin typeface="Arial"/>
                <a:ea typeface="Arial"/>
                <a:cs typeface="Arial"/>
              </a:defRPr>
            </a:lvl4pPr>
            <a:lvl5pPr>
              <a:buNone/>
              <a:defRPr sz="1800" b="1">
                <a:solidFill>
                  <a:srgbClr val="20242A"/>
                </a:solidFill>
                <a:latin typeface="Arial"/>
                <a:ea typeface="Arial"/>
                <a:cs typeface="Arial"/>
              </a:defRPr>
            </a:lvl5pPr>
            <a:lvl6pPr>
              <a:buNone/>
              <a:defRPr sz="1800" b="1">
                <a:solidFill>
                  <a:srgbClr val="20242A"/>
                </a:solidFill>
                <a:latin typeface="Arial"/>
                <a:ea typeface="Arial"/>
                <a:cs typeface="Arial"/>
              </a:defRPr>
            </a:lvl6pPr>
            <a:lvl7pPr>
              <a:buNone/>
              <a:defRPr sz="1800" b="1">
                <a:solidFill>
                  <a:srgbClr val="20242A"/>
                </a:solidFill>
                <a:latin typeface="Arial"/>
                <a:ea typeface="Arial"/>
                <a:cs typeface="Arial"/>
              </a:defRPr>
            </a:lvl7pPr>
            <a:lvl8pPr>
              <a:buNone/>
              <a:defRPr sz="1800" b="1">
                <a:solidFill>
                  <a:srgbClr val="20242A"/>
                </a:solidFill>
                <a:latin typeface="Arial"/>
                <a:ea typeface="Arial"/>
                <a:cs typeface="Arial"/>
              </a:defRPr>
            </a:lvl8pPr>
            <a:lvl9pPr>
              <a:buNone/>
              <a:defRPr sz="1800" b="1">
                <a:solidFill>
                  <a:srgbClr val="20242A"/>
                </a:solidFill>
                <a:latin typeface="Arial"/>
                <a:ea typeface="Arial"/>
                <a:cs typeface="Arial"/>
              </a:defRPr>
            </a:lvl9pPr>
          </a:lstStyle>
          <a:p xmlns:a="http://schemas.openxmlformats.org/drawingml/2006/main">
            <a:pPr>
              <a:buNone/>
              <a:defRPr sz="1800" b="1">
                <a:solidFill>
                  <a:srgbClr val="20242A"/>
                </a:solidFill>
                <a:latin typeface="Arial"/>
                <a:ea typeface="Arial"/>
                <a:cs typeface="Arial"/>
              </a:defRPr>
            </a:pPr>
            <a:r>
              <a:rPr sz="1800" b="1">
                <a:solidFill>
                  <a:srgbClr val="20242A"/>
                </a:solidFill>
                <a:latin typeface="Arial"/>
                <a:ea typeface="Arial"/>
                <a:cs typeface="Arial"/>
              </a:rPr>
              <a:t>Architecture family</a:t>
            </a:r>
          </a:p>
        </p:txBody>
      </p:sp>
      <p:sp>
        <p:nvSpPr>
          <p:cNvPr id="5" name="矩形 4">
            <a:extLst xmlns:a="http://schemas.openxmlformats.org/drawingml/2006/main">
              <a:ext uri="{FF2B5EF4-FFF2-40B4-BE49-F238E27FC236}">
                <a16:creationId xmlns:a16="http://schemas.microsoft.com/office/drawing/2014/main" id="{E56EE92B-D7F9-4136-BA42-2DB8B43D7B8E}"/>
              </a:ext>
            </a:extLst>
          </p:cNvPr>
          <p:cNvSpPr>
            <a:spLocks xmlns:a="http://schemas.openxmlformats.org/drawingml/2006/main" noGrp="1"/>
          </p:cNvSpPr>
          <p:nvPr/>
        </p:nvSpPr>
        <p:spPr>
          <a:xfrm xmlns:a="http://schemas.openxmlformats.org/drawingml/2006/main">
            <a:off x="5829300" y="1390650"/>
            <a:ext cx="19050" cy="213360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9DB87B9E-F7E7-417C-9DA5-7A6E0510003A}"/>
              </a:ext>
            </a:extLst>
          </p:cNvPr>
          <p:cNvSpPr>
            <a:spLocks xmlns:a="http://schemas.openxmlformats.org/drawingml/2006/main" noGrp="1"/>
          </p:cNvSpPr>
          <p:nvPr/>
        </p:nvSpPr>
        <p:spPr>
          <a:xfrm xmlns:a="http://schemas.openxmlformats.org/drawingml/2006/main">
            <a:off x="685800" y="3810000"/>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2" name="矩形 11">
            <a:extLst xmlns:a="http://schemas.openxmlformats.org/drawingml/2006/main">
              <a:ext uri="{FF2B5EF4-FFF2-40B4-BE49-F238E27FC236}">
                <a16:creationId xmlns:a16="http://schemas.microsoft.com/office/drawing/2014/main" id="{A958005F-E941-4149-9F69-FA006C296454}"/>
              </a:ext>
            </a:extLst>
          </p:cNvPr>
          <p:cNvSpPr>
            <a:spLocks xmlns:a="http://schemas.openxmlformats.org/drawingml/2006/main" noGrp="1"/>
          </p:cNvSpPr>
          <p:nvPr/>
        </p:nvSpPr>
        <p:spPr>
          <a:xfrm xmlns:a="http://schemas.openxmlformats.org/drawingml/2006/main">
            <a:off x="685800" y="40576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buNone/>
              <a:defRPr sz="1800" b="1">
                <a:solidFill>
                  <a:srgbClr val="20242A"/>
                </a:solidFill>
                <a:latin typeface="Arial"/>
                <a:ea typeface="Arial"/>
                <a:cs typeface="Arial"/>
              </a:defRPr>
            </a:lvl1pPr>
            <a:lvl2pPr>
              <a:buNone/>
              <a:defRPr sz="1800" b="1">
                <a:solidFill>
                  <a:srgbClr val="20242A"/>
                </a:solidFill>
                <a:latin typeface="Arial"/>
                <a:ea typeface="Arial"/>
                <a:cs typeface="Arial"/>
              </a:defRPr>
            </a:lvl2pPr>
            <a:lvl3pPr>
              <a:buNone/>
              <a:defRPr sz="1800" b="1">
                <a:solidFill>
                  <a:srgbClr val="20242A"/>
                </a:solidFill>
                <a:latin typeface="Arial"/>
                <a:ea typeface="Arial"/>
                <a:cs typeface="Arial"/>
              </a:defRPr>
            </a:lvl3pPr>
            <a:lvl4pPr>
              <a:buNone/>
              <a:defRPr sz="1800" b="1">
                <a:solidFill>
                  <a:srgbClr val="20242A"/>
                </a:solidFill>
                <a:latin typeface="Arial"/>
                <a:ea typeface="Arial"/>
                <a:cs typeface="Arial"/>
              </a:defRPr>
            </a:lvl4pPr>
            <a:lvl5pPr>
              <a:buNone/>
              <a:defRPr sz="1800" b="1">
                <a:solidFill>
                  <a:srgbClr val="20242A"/>
                </a:solidFill>
                <a:latin typeface="Arial"/>
                <a:ea typeface="Arial"/>
                <a:cs typeface="Arial"/>
              </a:defRPr>
            </a:lvl5pPr>
            <a:lvl6pPr>
              <a:buNone/>
              <a:defRPr sz="1800" b="1">
                <a:solidFill>
                  <a:srgbClr val="20242A"/>
                </a:solidFill>
                <a:latin typeface="Arial"/>
                <a:ea typeface="Arial"/>
                <a:cs typeface="Arial"/>
              </a:defRPr>
            </a:lvl6pPr>
            <a:lvl7pPr>
              <a:buNone/>
              <a:defRPr sz="1800" b="1">
                <a:solidFill>
                  <a:srgbClr val="20242A"/>
                </a:solidFill>
                <a:latin typeface="Arial"/>
                <a:ea typeface="Arial"/>
                <a:cs typeface="Arial"/>
              </a:defRPr>
            </a:lvl7pPr>
            <a:lvl8pPr>
              <a:buNone/>
              <a:defRPr sz="1800" b="1">
                <a:solidFill>
                  <a:srgbClr val="20242A"/>
                </a:solidFill>
                <a:latin typeface="Arial"/>
                <a:ea typeface="Arial"/>
                <a:cs typeface="Arial"/>
              </a:defRPr>
            </a:lvl8pPr>
            <a:lvl9pPr>
              <a:buNone/>
              <a:defRPr sz="1800" b="1">
                <a:solidFill>
                  <a:srgbClr val="20242A"/>
                </a:solidFill>
                <a:latin typeface="Arial"/>
                <a:ea typeface="Arial"/>
                <a:cs typeface="Arial"/>
              </a:defRPr>
            </a:lvl9pPr>
          </a:lstStyle>
          <a:p xmlns:a="http://schemas.openxmlformats.org/drawingml/2006/main">
            <a:pPr>
              <a:buNone/>
              <a:defRPr sz="1800" b="1">
                <a:solidFill>
                  <a:srgbClr val="20242A"/>
                </a:solidFill>
                <a:latin typeface="Arial"/>
                <a:ea typeface="Arial"/>
                <a:cs typeface="Arial"/>
              </a:defRPr>
            </a:pPr>
            <a:r>
              <a:rPr sz="1800" b="1">
                <a:solidFill>
                  <a:srgbClr val="20242A"/>
                </a:solidFill>
                <a:latin typeface="Arial"/>
                <a:ea typeface="Arial"/>
                <a:cs typeface="Arial"/>
              </a:rPr>
              <a:t>Score variance by track (points²)</a:t>
            </a:r>
          </a:p>
        </p:txBody>
      </p:sp>
      <p:sp>
        <p:nvSpPr>
          <p:cNvPr id="14" name="矩形 13">
            <a:extLst xmlns:a="http://schemas.openxmlformats.org/drawingml/2006/main">
              <a:ext uri="{FF2B5EF4-FFF2-40B4-BE49-F238E27FC236}">
                <a16:creationId xmlns:a16="http://schemas.microsoft.com/office/drawing/2014/main" id="{C01A0590-86F3-4121-BEDC-506563A97E8B}"/>
              </a:ext>
            </a:extLst>
          </p:cNvPr>
          <p:cNvSpPr>
            <a:spLocks xmlns:a="http://schemas.openxmlformats.org/drawingml/2006/main" noGrp="1"/>
          </p:cNvSpPr>
          <p:nvPr/>
        </p:nvSpPr>
        <p:spPr>
          <a:xfrm xmlns:a="http://schemas.openxmlformats.org/drawingml/2006/main">
            <a:off x="9039225" y="452437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125" b="1">
                <a:solidFill>
                  <a:srgbClr val="C49A2C"/>
                </a:solidFill>
                <a:latin typeface="Arial"/>
                <a:ea typeface="Arial"/>
                <a:cs typeface="Arial"/>
              </a:defRPr>
            </a:defPPr>
            <a:lvl1pPr>
              <a:buNone/>
              <a:defRPr sz="1125" b="1">
                <a:solidFill>
                  <a:srgbClr val="C49A2C"/>
                </a:solidFill>
                <a:latin typeface="Arial"/>
                <a:ea typeface="Arial"/>
                <a:cs typeface="Arial"/>
              </a:defRPr>
            </a:lvl1pPr>
            <a:lvl2pPr>
              <a:buNone/>
              <a:defRPr sz="1125" b="1">
                <a:solidFill>
                  <a:srgbClr val="C49A2C"/>
                </a:solidFill>
                <a:latin typeface="Arial"/>
                <a:ea typeface="Arial"/>
                <a:cs typeface="Arial"/>
              </a:defRPr>
            </a:lvl2pPr>
            <a:lvl3pPr>
              <a:buNone/>
              <a:defRPr sz="1125" b="1">
                <a:solidFill>
                  <a:srgbClr val="C49A2C"/>
                </a:solidFill>
                <a:latin typeface="Arial"/>
                <a:ea typeface="Arial"/>
                <a:cs typeface="Arial"/>
              </a:defRPr>
            </a:lvl3pPr>
            <a:lvl4pPr>
              <a:buNone/>
              <a:defRPr sz="1125" b="1">
                <a:solidFill>
                  <a:srgbClr val="C49A2C"/>
                </a:solidFill>
                <a:latin typeface="Arial"/>
                <a:ea typeface="Arial"/>
                <a:cs typeface="Arial"/>
              </a:defRPr>
            </a:lvl4pPr>
            <a:lvl5pPr>
              <a:buNone/>
              <a:defRPr sz="1125" b="1">
                <a:solidFill>
                  <a:srgbClr val="C49A2C"/>
                </a:solidFill>
                <a:latin typeface="Arial"/>
                <a:ea typeface="Arial"/>
                <a:cs typeface="Arial"/>
              </a:defRPr>
            </a:lvl5pPr>
            <a:lvl6pPr>
              <a:buNone/>
              <a:defRPr sz="1125" b="1">
                <a:solidFill>
                  <a:srgbClr val="C49A2C"/>
                </a:solidFill>
                <a:latin typeface="Arial"/>
                <a:ea typeface="Arial"/>
                <a:cs typeface="Arial"/>
              </a:defRPr>
            </a:lvl6pPr>
            <a:lvl7pPr>
              <a:buNone/>
              <a:defRPr sz="1125" b="1">
                <a:solidFill>
                  <a:srgbClr val="C49A2C"/>
                </a:solidFill>
                <a:latin typeface="Arial"/>
                <a:ea typeface="Arial"/>
                <a:cs typeface="Arial"/>
              </a:defRPr>
            </a:lvl7pPr>
            <a:lvl8pPr>
              <a:buNone/>
              <a:defRPr sz="1125" b="1">
                <a:solidFill>
                  <a:srgbClr val="C49A2C"/>
                </a:solidFill>
                <a:latin typeface="Arial"/>
                <a:ea typeface="Arial"/>
                <a:cs typeface="Arial"/>
              </a:defRPr>
            </a:lvl8pPr>
            <a:lvl9pPr>
              <a:buNone/>
              <a:defRPr sz="1125" b="1">
                <a:solidFill>
                  <a:srgbClr val="C49A2C"/>
                </a:solidFill>
                <a:latin typeface="Arial"/>
                <a:ea typeface="Arial"/>
                <a:cs typeface="Arial"/>
              </a:defRPr>
            </a:lvl9pPr>
          </a:lstStyle>
          <a:p xmlns:a="http://schemas.openxmlformats.org/drawingml/2006/main">
            <a:pPr>
              <a:buNone/>
              <a:defRPr sz="1125" b="1">
                <a:solidFill>
                  <a:srgbClr val="C49A2C"/>
                </a:solidFill>
                <a:latin typeface="Arial"/>
                <a:ea typeface="Arial"/>
                <a:cs typeface="Arial"/>
              </a:defRPr>
            </a:pPr>
            <a:r>
              <a:rPr sz="1125" b="1">
                <a:solidFill>
                  <a:srgbClr val="C49A2C"/>
                </a:solidFill>
                <a:latin typeface="Arial"/>
                <a:ea typeface="Arial"/>
                <a:cs typeface="Arial"/>
              </a:rPr>
              <a:t>Valid submissions only</a:t>
            </a:r>
          </a:p>
        </p:txBody>
      </p:sp>
      <p:sp>
        <p:nvSpPr>
          <p:cNvPr id="15" name="矩形 14">
            <a:extLst xmlns:a="http://schemas.openxmlformats.org/drawingml/2006/main">
              <a:ext uri="{FF2B5EF4-FFF2-40B4-BE49-F238E27FC236}">
                <a16:creationId xmlns:a16="http://schemas.microsoft.com/office/drawing/2014/main" id="{5496F9FF-2D73-4C9A-BF2F-BB20D83396F4}"/>
              </a:ext>
            </a:extLst>
          </p:cNvPr>
          <p:cNvSpPr>
            <a:spLocks xmlns:a="http://schemas.openxmlformats.org/drawingml/2006/main" noGrp="1"/>
          </p:cNvSpPr>
          <p:nvPr/>
        </p:nvSpPr>
        <p:spPr>
          <a:xfrm xmlns:a="http://schemas.openxmlformats.org/drawingml/2006/main">
            <a:off x="9039225" y="483870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2025" b="1">
                <a:solidFill>
                  <a:srgbClr val="9E1B32"/>
                </a:solidFill>
                <a:latin typeface="Arial"/>
                <a:ea typeface="Arial"/>
                <a:cs typeface="Arial"/>
              </a:defRPr>
            </a:defPPr>
            <a:lvl1pPr>
              <a:buNone/>
              <a:defRPr sz="2025" b="1">
                <a:solidFill>
                  <a:srgbClr val="9E1B32"/>
                </a:solidFill>
                <a:latin typeface="Arial"/>
                <a:ea typeface="Arial"/>
                <a:cs typeface="Arial"/>
              </a:defRPr>
            </a:lvl1pPr>
            <a:lvl2pPr>
              <a:buNone/>
              <a:defRPr sz="2025" b="1">
                <a:solidFill>
                  <a:srgbClr val="9E1B32"/>
                </a:solidFill>
                <a:latin typeface="Arial"/>
                <a:ea typeface="Arial"/>
                <a:cs typeface="Arial"/>
              </a:defRPr>
            </a:lvl2pPr>
            <a:lvl3pPr>
              <a:buNone/>
              <a:defRPr sz="2025" b="1">
                <a:solidFill>
                  <a:srgbClr val="9E1B32"/>
                </a:solidFill>
                <a:latin typeface="Arial"/>
                <a:ea typeface="Arial"/>
                <a:cs typeface="Arial"/>
              </a:defRPr>
            </a:lvl3pPr>
            <a:lvl4pPr>
              <a:buNone/>
              <a:defRPr sz="2025" b="1">
                <a:solidFill>
                  <a:srgbClr val="9E1B32"/>
                </a:solidFill>
                <a:latin typeface="Arial"/>
                <a:ea typeface="Arial"/>
                <a:cs typeface="Arial"/>
              </a:defRPr>
            </a:lvl4pPr>
            <a:lvl5pPr>
              <a:buNone/>
              <a:defRPr sz="2025" b="1">
                <a:solidFill>
                  <a:srgbClr val="9E1B32"/>
                </a:solidFill>
                <a:latin typeface="Arial"/>
                <a:ea typeface="Arial"/>
                <a:cs typeface="Arial"/>
              </a:defRPr>
            </a:lvl5pPr>
            <a:lvl6pPr>
              <a:buNone/>
              <a:defRPr sz="2025" b="1">
                <a:solidFill>
                  <a:srgbClr val="9E1B32"/>
                </a:solidFill>
                <a:latin typeface="Arial"/>
                <a:ea typeface="Arial"/>
                <a:cs typeface="Arial"/>
              </a:defRPr>
            </a:lvl6pPr>
            <a:lvl7pPr>
              <a:buNone/>
              <a:defRPr sz="2025" b="1">
                <a:solidFill>
                  <a:srgbClr val="9E1B32"/>
                </a:solidFill>
                <a:latin typeface="Arial"/>
                <a:ea typeface="Arial"/>
                <a:cs typeface="Arial"/>
              </a:defRPr>
            </a:lvl7pPr>
            <a:lvl8pPr>
              <a:buNone/>
              <a:defRPr sz="2025" b="1">
                <a:solidFill>
                  <a:srgbClr val="9E1B32"/>
                </a:solidFill>
                <a:latin typeface="Arial"/>
                <a:ea typeface="Arial"/>
                <a:cs typeface="Arial"/>
              </a:defRPr>
            </a:lvl8pPr>
            <a:lvl9pPr>
              <a:buNone/>
              <a:defRPr sz="2025" b="1">
                <a:solidFill>
                  <a:srgbClr val="9E1B32"/>
                </a:solidFill>
                <a:latin typeface="Arial"/>
                <a:ea typeface="Arial"/>
                <a:cs typeface="Arial"/>
              </a:defRPr>
            </a:lvl9pPr>
          </a:lstStyle>
          <a:p xmlns:a="http://schemas.openxmlformats.org/drawingml/2006/main">
            <a:pPr>
              <a:lnSpc>
                <a:spcPct val="102000"/>
              </a:lnSpc>
              <a:buNone/>
              <a:defRPr sz="2025" b="1">
                <a:solidFill>
                  <a:srgbClr val="9E1B32"/>
                </a:solidFill>
                <a:latin typeface="Arial"/>
                <a:ea typeface="Arial"/>
                <a:cs typeface="Arial"/>
              </a:defRPr>
            </a:pPr>
            <a:r>
              <a:rPr sz="2025" b="1">
                <a:solidFill>
                  <a:srgbClr val="9E1B32"/>
                </a:solidFill>
                <a:latin typeface="Arial"/>
                <a:ea typeface="Arial"/>
                <a:cs typeface="Arial"/>
              </a:rPr>
              <a:t>Hanzi strongly</a:t>
            </a:r>
          </a:p>
          <a:p xmlns:a="http://schemas.openxmlformats.org/drawingml/2006/main">
            <a:pPr>
              <a:lnSpc>
                <a:spcPct val="102000"/>
              </a:lnSpc>
              <a:buNone/>
              <a:defRPr sz="2025" b="1">
                <a:solidFill>
                  <a:srgbClr val="9E1B32"/>
                </a:solidFill>
                <a:latin typeface="Arial"/>
                <a:ea typeface="Arial"/>
                <a:cs typeface="Arial"/>
              </a:defRPr>
            </a:pPr>
            <a:r>
              <a:rPr sz="2025" b="1">
                <a:solidFill>
                  <a:srgbClr val="9E1B32"/>
                </a:solidFill>
                <a:latin typeface="Arial"/>
                <a:ea typeface="Arial"/>
                <a:cs typeface="Arial"/>
              </a:rPr>
              <a:t>separated the</a:t>
            </a:r>
          </a:p>
          <a:p xmlns:a="http://schemas.openxmlformats.org/drawingml/2006/main">
            <a:pPr>
              <a:lnSpc>
                <a:spcPct val="102000"/>
              </a:lnSpc>
              <a:buNone/>
              <a:defRPr sz="2025" b="1">
                <a:solidFill>
                  <a:srgbClr val="9E1B32"/>
                </a:solidFill>
                <a:latin typeface="Arial"/>
                <a:ea typeface="Arial"/>
                <a:cs typeface="Arial"/>
              </a:defRPr>
            </a:pPr>
            <a:r>
              <a:rPr sz="2025" b="1">
                <a:solidFill>
                  <a:srgbClr val="9E1B32"/>
                </a:solidFill>
                <a:latin typeface="Arial"/>
                <a:ea typeface="Arial"/>
                <a:cs typeface="Arial"/>
              </a:rPr>
              <a:t>final ranking</a:t>
            </a:r>
          </a:p>
        </p:txBody>
      </p:sp>
      <p:sp>
        <p:nvSpPr>
          <p:cNvPr id="16" name="slide-6-footer-label">
            <a:extLst xmlns:a="http://schemas.openxmlformats.org/drawingml/2006/main">
              <a:ext uri="{FF2B5EF4-FFF2-40B4-BE49-F238E27FC236}">
                <a16:creationId xmlns:a16="http://schemas.microsoft.com/office/drawing/2014/main" id="{49AC2715-0AD9-4FB0-8346-8E29CCDD9FC7}"/>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17" name="slide-6-footer-number">
            <a:extLst xmlns:a="http://schemas.openxmlformats.org/drawingml/2006/main">
              <a:ext uri="{FF2B5EF4-FFF2-40B4-BE49-F238E27FC236}">
                <a16:creationId xmlns:a16="http://schemas.microsoft.com/office/drawing/2014/main" id="{AAF80F03-952B-4993-9B88-DDD5B161FA8A}"/>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rPr sz="1050" b="1">
                <a:solidFill>
                  <a:srgbClr val="9E1B32"/>
                </a:solidFill>
                <a:latin typeface="Arial"/>
                <a:ea typeface="Arial"/>
                <a:cs typeface="Arial"/>
              </a:rPr>
              <a:t>9</a:t>
            </a:r>
            <a:endParaRPr sz="1050" b="1">
              <a:solidFill>
                <a:srgbClr val="9E1B32"/>
              </a:solidFill>
              <a:latin typeface="Arial"/>
              <a:ea typeface="Arial"/>
              <a:cs typeface="Arial"/>
            </a:endParaRPr>
          </a:p>
        </p:txBody>
      </p:sp>
      <p:sp>
        <p:nvSpPr>
          <p:cNvPr id="20" name="model-size-title">
            <a:extLst xmlns:a="http://schemas.openxmlformats.org/drawingml/2006/main">
              <a:ext uri="{FF2B5EF4-FFF2-40B4-BE49-F238E27FC236}">
                <a16:creationId xmlns:a16="http://schemas.microsoft.com/office/drawing/2014/main" id="{5A2212EC-C42E-40DF-8674-DC7468CF724F}"/>
              </a:ext>
            </a:extLst>
          </p:cNvPr>
          <p:cNvSpPr>
            <a:spLocks xmlns:a="http://schemas.openxmlformats.org/drawingml/2006/main" noGrp="1"/>
          </p:cNvSpPr>
          <p:nvPr/>
        </p:nvSpPr>
        <p:spPr>
          <a:xfrm xmlns:a="http://schemas.openxmlformats.org/drawingml/2006/main">
            <a:off x="6238875" y="137160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buNone/>
              <a:defRPr sz="1800" b="1">
                <a:solidFill>
                  <a:srgbClr val="20242A"/>
                </a:solidFill>
                <a:latin typeface="Arial"/>
                <a:ea typeface="Arial"/>
                <a:cs typeface="Arial"/>
              </a:defRPr>
            </a:lvl1pPr>
            <a:lvl2pPr>
              <a:buNone/>
              <a:defRPr sz="1800" b="1">
                <a:solidFill>
                  <a:srgbClr val="20242A"/>
                </a:solidFill>
                <a:latin typeface="Arial"/>
                <a:ea typeface="Arial"/>
                <a:cs typeface="Arial"/>
              </a:defRPr>
            </a:lvl2pPr>
            <a:lvl3pPr>
              <a:buNone/>
              <a:defRPr sz="1800" b="1">
                <a:solidFill>
                  <a:srgbClr val="20242A"/>
                </a:solidFill>
                <a:latin typeface="Arial"/>
                <a:ea typeface="Arial"/>
                <a:cs typeface="Arial"/>
              </a:defRPr>
            </a:lvl3pPr>
            <a:lvl4pPr>
              <a:buNone/>
              <a:defRPr sz="1800" b="1">
                <a:solidFill>
                  <a:srgbClr val="20242A"/>
                </a:solidFill>
                <a:latin typeface="Arial"/>
                <a:ea typeface="Arial"/>
                <a:cs typeface="Arial"/>
              </a:defRPr>
            </a:lvl4pPr>
            <a:lvl5pPr>
              <a:buNone/>
              <a:defRPr sz="1800" b="1">
                <a:solidFill>
                  <a:srgbClr val="20242A"/>
                </a:solidFill>
                <a:latin typeface="Arial"/>
                <a:ea typeface="Arial"/>
                <a:cs typeface="Arial"/>
              </a:defRPr>
            </a:lvl5pPr>
            <a:lvl6pPr>
              <a:buNone/>
              <a:defRPr sz="1800" b="1">
                <a:solidFill>
                  <a:srgbClr val="20242A"/>
                </a:solidFill>
                <a:latin typeface="Arial"/>
                <a:ea typeface="Arial"/>
                <a:cs typeface="Arial"/>
              </a:defRPr>
            </a:lvl6pPr>
            <a:lvl7pPr>
              <a:buNone/>
              <a:defRPr sz="1800" b="1">
                <a:solidFill>
                  <a:srgbClr val="20242A"/>
                </a:solidFill>
                <a:latin typeface="Arial"/>
                <a:ea typeface="Arial"/>
                <a:cs typeface="Arial"/>
              </a:defRPr>
            </a:lvl7pPr>
            <a:lvl8pPr>
              <a:buNone/>
              <a:defRPr sz="1800" b="1">
                <a:solidFill>
                  <a:srgbClr val="20242A"/>
                </a:solidFill>
                <a:latin typeface="Arial"/>
                <a:ea typeface="Arial"/>
                <a:cs typeface="Arial"/>
              </a:defRPr>
            </a:lvl8pPr>
            <a:lvl9pPr>
              <a:buNone/>
              <a:defRPr sz="1800" b="1">
                <a:solidFill>
                  <a:srgbClr val="20242A"/>
                </a:solidFill>
                <a:latin typeface="Arial"/>
                <a:ea typeface="Arial"/>
                <a:cs typeface="Arial"/>
              </a:defRPr>
            </a:lvl9pPr>
          </a:lstStyle>
          <a:p xmlns:a="http://schemas.openxmlformats.org/drawingml/2006/main">
            <a:pPr>
              <a:buNone/>
              <a:defRPr sz="1800" b="1">
                <a:solidFill>
                  <a:srgbClr val="20242A"/>
                </a:solidFill>
                <a:latin typeface="Arial"/>
                <a:ea typeface="Arial"/>
                <a:cs typeface="Arial"/>
              </a:defRPr>
            </a:pPr>
            <a:r>
              <a:rPr sz="1800" b="1">
                <a:solidFill>
                  <a:srgbClr val="20242A"/>
                </a:solidFill>
                <a:latin typeface="Arial"/>
                <a:ea typeface="Arial"/>
                <a:cs typeface="Arial"/>
              </a:rPr>
              <a:t>Reported parameter count</a:t>
            </a:r>
          </a:p>
        </p:txBody>
      </p:sp>
      <p:sp>
        <p:nvSpPr>
          <p:cNvPr id="22" name="model-size-note">
            <a:extLst xmlns:a="http://schemas.openxmlformats.org/drawingml/2006/main">
              <a:ext uri="{FF2B5EF4-FFF2-40B4-BE49-F238E27FC236}">
                <a16:creationId xmlns:a16="http://schemas.microsoft.com/office/drawing/2014/main" id="{305B3C7C-68D7-4AA4-B148-1C096E3584F1}"/>
              </a:ext>
            </a:extLst>
          </p:cNvPr>
          <p:cNvSpPr>
            <a:spLocks xmlns:a="http://schemas.openxmlformats.org/drawingml/2006/main" noGrp="1"/>
          </p:cNvSpPr>
          <p:nvPr/>
        </p:nvSpPr>
        <p:spPr>
          <a:xfrm xmlns:a="http://schemas.openxmlformats.org/drawingml/2006/main">
            <a:off x="6238875" y="34766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i="1">
                <a:solidFill>
                  <a:srgbClr val="A5A9AE"/>
                </a:solidFill>
                <a:latin typeface="Arial"/>
                <a:ea typeface="Arial"/>
                <a:cs typeface="Arial"/>
              </a:defRPr>
            </a:defPPr>
            <a:lvl1pPr>
              <a:buNone/>
              <a:defRPr sz="1050" i="1">
                <a:solidFill>
                  <a:srgbClr val="A5A9AE"/>
                </a:solidFill>
                <a:latin typeface="Arial"/>
                <a:ea typeface="Arial"/>
                <a:cs typeface="Arial"/>
              </a:defRPr>
            </a:lvl1pPr>
            <a:lvl2pPr>
              <a:buNone/>
              <a:defRPr sz="1050" i="1">
                <a:solidFill>
                  <a:srgbClr val="A5A9AE"/>
                </a:solidFill>
                <a:latin typeface="Arial"/>
                <a:ea typeface="Arial"/>
                <a:cs typeface="Arial"/>
              </a:defRPr>
            </a:lvl2pPr>
            <a:lvl3pPr>
              <a:buNone/>
              <a:defRPr sz="1050" i="1">
                <a:solidFill>
                  <a:srgbClr val="A5A9AE"/>
                </a:solidFill>
                <a:latin typeface="Arial"/>
                <a:ea typeface="Arial"/>
                <a:cs typeface="Arial"/>
              </a:defRPr>
            </a:lvl3pPr>
            <a:lvl4pPr>
              <a:buNone/>
              <a:defRPr sz="1050" i="1">
                <a:solidFill>
                  <a:srgbClr val="A5A9AE"/>
                </a:solidFill>
                <a:latin typeface="Arial"/>
                <a:ea typeface="Arial"/>
                <a:cs typeface="Arial"/>
              </a:defRPr>
            </a:lvl4pPr>
            <a:lvl5pPr>
              <a:buNone/>
              <a:defRPr sz="1050" i="1">
                <a:solidFill>
                  <a:srgbClr val="A5A9AE"/>
                </a:solidFill>
                <a:latin typeface="Arial"/>
                <a:ea typeface="Arial"/>
                <a:cs typeface="Arial"/>
              </a:defRPr>
            </a:lvl5pPr>
            <a:lvl6pPr>
              <a:buNone/>
              <a:defRPr sz="1050" i="1">
                <a:solidFill>
                  <a:srgbClr val="A5A9AE"/>
                </a:solidFill>
                <a:latin typeface="Arial"/>
                <a:ea typeface="Arial"/>
                <a:cs typeface="Arial"/>
              </a:defRPr>
            </a:lvl6pPr>
            <a:lvl7pPr>
              <a:buNone/>
              <a:defRPr sz="1050" i="1">
                <a:solidFill>
                  <a:srgbClr val="A5A9AE"/>
                </a:solidFill>
                <a:latin typeface="Arial"/>
                <a:ea typeface="Arial"/>
                <a:cs typeface="Arial"/>
              </a:defRPr>
            </a:lvl7pPr>
            <a:lvl8pPr>
              <a:buNone/>
              <a:defRPr sz="1050" i="1">
                <a:solidFill>
                  <a:srgbClr val="A5A9AE"/>
                </a:solidFill>
                <a:latin typeface="Arial"/>
                <a:ea typeface="Arial"/>
                <a:cs typeface="Arial"/>
              </a:defRPr>
            </a:lvl8pPr>
            <a:lvl9pPr>
              <a:buNone/>
              <a:defRPr sz="1050" i="1">
                <a:solidFill>
                  <a:srgbClr val="A5A9AE"/>
                </a:solidFill>
                <a:latin typeface="Arial"/>
                <a:ea typeface="Arial"/>
                <a:cs typeface="Arial"/>
              </a:defRPr>
            </a:lvl9pPr>
          </a:lstStyle>
          <a:p xmlns:a="http://schemas.openxmlformats.org/drawingml/2006/main">
            <a:pPr>
              <a:buNone/>
              <a:defRPr sz="1050" i="1">
                <a:solidFill>
                  <a:srgbClr val="A5A9AE"/>
                </a:solidFill>
                <a:latin typeface="Arial"/>
                <a:ea typeface="Arial"/>
                <a:cs typeface="Arial"/>
              </a:defRPr>
            </a:pPr>
            <a:r>
              <a:rPr sz="1050" i="1">
                <a:solidFill>
                  <a:srgbClr val="A5A9AE"/>
                </a:solidFill>
                <a:latin typeface="Arial"/>
                <a:ea typeface="Arial"/>
                <a:cs typeface="Arial"/>
              </a:rPr>
              <a:t>14 of 18 ranked systems reported parameter counts</a:t>
            </a:r>
          </a:p>
        </p:txBody>
      </p:sp>
      <p:graphicFrame>
        <p:nvGraphicFramePr>
          <p:cNvPr id="23" name="Chart">
            <a:extLst xmlns:a="http://schemas.openxmlformats.org/drawingml/2006/main">
              <a:ext uri="{FF2B5EF4-FFF2-40B4-BE49-F238E27FC236}">
                <a16:creationId xmlns:a16="http://schemas.microsoft.com/office/drawing/2014/main" id="{2E77AB19-495A-45DB-A063-722076E1D93D}"/>
              </a:ext>
            </a:extLst>
          </p:cNvPr>
          <p:cNvGraphicFramePr/>
          <p:nvPr/>
        </p:nvGraphicFramePr>
        <p:xfrm>
          <a:off xmlns:a="http://schemas.openxmlformats.org/drawingml/2006/main" x="476250" y="1724025"/>
          <a:ext xmlns:a="http://schemas.openxmlformats.org/drawingml/2006/main" cx="4953000" cy="1952625"/>
        </p:xfrm>
        <a:graphic xmlns:a="http://schemas.openxmlformats.org/drawingml/2006/main">
          <a:graphicData uri="http://schemas.openxmlformats.org/drawingml/2006/chart">
            <c:chart xmlns:r="http://schemas.openxmlformats.org/officeDocument/2006/relationships" xmlns:c="http://schemas.openxmlformats.org/drawingml/2006/chart" r:id="Rcd9e086b2ed64182"/>
          </a:graphicData>
        </a:graphic>
      </p:graphicFrame>
      <p:graphicFrame>
        <p:nvGraphicFramePr>
          <p:cNvPr id="24" name="Chart">
            <a:extLst xmlns:a="http://schemas.openxmlformats.org/drawingml/2006/main">
              <a:ext uri="{FF2B5EF4-FFF2-40B4-BE49-F238E27FC236}">
                <a16:creationId xmlns:a16="http://schemas.microsoft.com/office/drawing/2014/main" id="{2A9A46A7-0E44-4028-9D1D-BAB8B7E3CC45}"/>
              </a:ext>
            </a:extLst>
          </p:cNvPr>
          <p:cNvGraphicFramePr/>
          <p:nvPr/>
        </p:nvGraphicFramePr>
        <p:xfrm>
          <a:off xmlns:a="http://schemas.openxmlformats.org/drawingml/2006/main" x="6048375" y="1724025"/>
          <a:ext xmlns:a="http://schemas.openxmlformats.org/drawingml/2006/main" cx="5191125" cy="1676400"/>
        </p:xfrm>
        <a:graphic xmlns:a="http://schemas.openxmlformats.org/drawingml/2006/main">
          <a:graphicData uri="http://schemas.openxmlformats.org/drawingml/2006/chart">
            <c:chart xmlns:r="http://schemas.openxmlformats.org/officeDocument/2006/relationships" xmlns:c="http://schemas.openxmlformats.org/drawingml/2006/chart" r:id="Rf5c4c4bf48b74a22"/>
          </a:graphicData>
        </a:graphic>
      </p:graphicFrame>
      <p:graphicFrame>
        <p:nvGraphicFramePr>
          <p:cNvPr id="25" name="Chart">
            <a:extLst xmlns:a="http://schemas.openxmlformats.org/drawingml/2006/main">
              <a:ext uri="{FF2B5EF4-FFF2-40B4-BE49-F238E27FC236}">
                <a16:creationId xmlns:a16="http://schemas.microsoft.com/office/drawing/2014/main" id="{2658A709-4824-45BE-ACD2-BBE7D11B3EBC}"/>
              </a:ext>
            </a:extLst>
          </p:cNvPr>
          <p:cNvGraphicFramePr/>
          <p:nvPr/>
        </p:nvGraphicFramePr>
        <p:xfrm>
          <a:off xmlns:a="http://schemas.openxmlformats.org/drawingml/2006/main" x="476250" y="4410075"/>
          <a:ext xmlns:a="http://schemas.openxmlformats.org/drawingml/2006/main" cx="8191500" cy="1809750"/>
        </p:xfrm>
        <a:graphic xmlns:a="http://schemas.openxmlformats.org/drawingml/2006/main">
          <a:graphicData uri="http://schemas.openxmlformats.org/drawingml/2006/chart">
            <c:chart xmlns:r="http://schemas.openxmlformats.org/officeDocument/2006/relationships" xmlns:c="http://schemas.openxmlformats.org/drawingml/2006/chart" r:id="Re7bcf423a2364775"/>
          </a:graphicData>
        </a:graphic>
      </p:graphicFrame>
    </p:spTree>
    <p:extLst>
      <p:ext uri="{BB962C8B-B14F-4D97-AF65-F5344CB8AC3E}">
        <p14:creationId xmlns:p14="http://schemas.microsoft.com/office/powerpoint/2010/main" val="19785675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7-title">
            <a:extLst xmlns:a="http://schemas.openxmlformats.org/drawingml/2006/main">
              <a:ext uri="{FF2B5EF4-FFF2-40B4-BE49-F238E27FC236}">
                <a16:creationId xmlns:a16="http://schemas.microsoft.com/office/drawing/2014/main" id="{1E06AB0B-9319-4B19-8AFC-391D8FAA7378}"/>
              </a:ext>
            </a:extLst>
          </p:cNvPr>
          <p:cNvSpPr>
            <a:spLocks xmlns:a="http://schemas.openxmlformats.org/drawingml/2006/main" noGrp="1"/>
          </p:cNvSpPr>
          <p:nvPr/>
        </p:nvSpPr>
        <p:spPr>
          <a:xfrm xmlns:a="http://schemas.openxmlformats.org/drawingml/2006/main">
            <a:off x="685800" y="40957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3150" b="1">
                <a:solidFill>
                  <a:srgbClr val="20242A"/>
                </a:solidFill>
                <a:latin typeface="Arial"/>
                <a:ea typeface="Arial"/>
                <a:cs typeface="Arial"/>
              </a:defRPr>
            </a:pPr>
            <a:r>
              <a:rPr sz="3150" b="1">
                <a:solidFill>
                  <a:srgbClr val="20242A"/>
                </a:solidFill>
                <a:latin typeface="Arial"/>
                <a:ea typeface="Arial"/>
                <a:cs typeface="Arial"/>
              </a:rPr>
              <a:t>Future Directions</a:t>
            </a:r>
            <a:endParaRPr sz="3150" b="1">
              <a:solidFill>
                <a:srgbClr val="20242A"/>
              </a:solidFill>
              <a:latin typeface="Arial"/>
              <a:ea typeface="Arial"/>
              <a:cs typeface="Arial"/>
            </a:endParaRPr>
          </a:p>
        </p:txBody>
      </p:sp>
      <p:sp>
        <p:nvSpPr>
          <p:cNvPr id="2" name="slide-7-top-rule">
            <a:extLst xmlns:a="http://schemas.openxmlformats.org/drawingml/2006/main">
              <a:ext uri="{FF2B5EF4-FFF2-40B4-BE49-F238E27FC236}">
                <a16:creationId xmlns:a16="http://schemas.microsoft.com/office/drawing/2014/main" id="{FC127CCA-2696-4335-AF8B-270EB47F94CF}"/>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矩形 2">
            <a:extLst xmlns:a="http://schemas.openxmlformats.org/drawingml/2006/main">
              <a:ext uri="{FF2B5EF4-FFF2-40B4-BE49-F238E27FC236}">
                <a16:creationId xmlns:a16="http://schemas.microsoft.com/office/drawing/2014/main" id="{3C0412EA-BE6A-40BF-9EA8-64A9931E03ED}"/>
              </a:ext>
            </a:extLst>
          </p:cNvPr>
          <p:cNvSpPr>
            <a:spLocks xmlns:a="http://schemas.openxmlformats.org/drawingml/2006/main" noGrp="1"/>
          </p:cNvSpPr>
          <p:nvPr/>
        </p:nvSpPr>
        <p:spPr>
          <a:xfrm xmlns:a="http://schemas.openxmlformats.org/drawingml/2006/main">
            <a:off x="685800" y="1495425"/>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C49A2C"/>
                </a:solidFill>
                <a:latin typeface="Arial"/>
                <a:ea typeface="Arial"/>
                <a:cs typeface="Arial"/>
              </a:defRPr>
            </a:defPPr>
            <a:lvl1pPr>
              <a:buNone/>
              <a:defRPr sz="1200" b="1">
                <a:solidFill>
                  <a:srgbClr val="C49A2C"/>
                </a:solidFill>
                <a:latin typeface="Arial"/>
                <a:ea typeface="Arial"/>
                <a:cs typeface="Arial"/>
              </a:defRPr>
            </a:lvl1pPr>
            <a:lvl2pPr>
              <a:buNone/>
              <a:defRPr sz="1200" b="1">
                <a:solidFill>
                  <a:srgbClr val="C49A2C"/>
                </a:solidFill>
                <a:latin typeface="Arial"/>
                <a:ea typeface="Arial"/>
                <a:cs typeface="Arial"/>
              </a:defRPr>
            </a:lvl2pPr>
            <a:lvl3pPr>
              <a:buNone/>
              <a:defRPr sz="1200" b="1">
                <a:solidFill>
                  <a:srgbClr val="C49A2C"/>
                </a:solidFill>
                <a:latin typeface="Arial"/>
                <a:ea typeface="Arial"/>
                <a:cs typeface="Arial"/>
              </a:defRPr>
            </a:lvl3pPr>
            <a:lvl4pPr>
              <a:buNone/>
              <a:defRPr sz="1200" b="1">
                <a:solidFill>
                  <a:srgbClr val="C49A2C"/>
                </a:solidFill>
                <a:latin typeface="Arial"/>
                <a:ea typeface="Arial"/>
                <a:cs typeface="Arial"/>
              </a:defRPr>
            </a:lvl4pPr>
            <a:lvl5pPr>
              <a:buNone/>
              <a:defRPr sz="1200" b="1">
                <a:solidFill>
                  <a:srgbClr val="C49A2C"/>
                </a:solidFill>
                <a:latin typeface="Arial"/>
                <a:ea typeface="Arial"/>
                <a:cs typeface="Arial"/>
              </a:defRPr>
            </a:lvl5pPr>
            <a:lvl6pPr>
              <a:buNone/>
              <a:defRPr sz="1200" b="1">
                <a:solidFill>
                  <a:srgbClr val="C49A2C"/>
                </a:solidFill>
                <a:latin typeface="Arial"/>
                <a:ea typeface="Arial"/>
                <a:cs typeface="Arial"/>
              </a:defRPr>
            </a:lvl6pPr>
            <a:lvl7pPr>
              <a:buNone/>
              <a:defRPr sz="1200" b="1">
                <a:solidFill>
                  <a:srgbClr val="C49A2C"/>
                </a:solidFill>
                <a:latin typeface="Arial"/>
                <a:ea typeface="Arial"/>
                <a:cs typeface="Arial"/>
              </a:defRPr>
            </a:lvl7pPr>
            <a:lvl8pPr>
              <a:buNone/>
              <a:defRPr sz="1200" b="1">
                <a:solidFill>
                  <a:srgbClr val="C49A2C"/>
                </a:solidFill>
                <a:latin typeface="Arial"/>
                <a:ea typeface="Arial"/>
                <a:cs typeface="Arial"/>
              </a:defRPr>
            </a:lvl8pPr>
            <a:lvl9pPr>
              <a:buNone/>
              <a:defRPr sz="1200" b="1">
                <a:solidFill>
                  <a:srgbClr val="C49A2C"/>
                </a:solidFill>
                <a:latin typeface="Arial"/>
                <a:ea typeface="Arial"/>
                <a:cs typeface="Arial"/>
              </a:defRPr>
            </a:lvl9pPr>
          </a:lstStyle>
          <a:p xmlns:a="http://schemas.openxmlformats.org/drawingml/2006/main">
            <a:pPr>
              <a:buNone/>
              <a:defRPr sz="1200" b="1">
                <a:solidFill>
                  <a:srgbClr val="C49A2C"/>
                </a:solidFill>
                <a:latin typeface="Arial"/>
                <a:ea typeface="Arial"/>
                <a:cs typeface="Arial"/>
              </a:defRPr>
            </a:pPr>
            <a:r>
              <a:rPr sz="1200" b="1">
                <a:solidFill>
                  <a:srgbClr val="C49A2C"/>
                </a:solidFill>
                <a:latin typeface="Arial"/>
                <a:ea typeface="Arial"/>
                <a:cs typeface="Arial"/>
              </a:rPr>
              <a:t>MODELING DIRECTIONS</a:t>
            </a:r>
          </a:p>
        </p:txBody>
      </p:sp>
      <p:sp>
        <p:nvSpPr>
          <p:cNvPr id="4" name="矩形 3">
            <a:extLst xmlns:a="http://schemas.openxmlformats.org/drawingml/2006/main">
              <a:ext uri="{FF2B5EF4-FFF2-40B4-BE49-F238E27FC236}">
                <a16:creationId xmlns:a16="http://schemas.microsoft.com/office/drawing/2014/main" id="{3E727F9A-9668-4D17-8372-474FB0C94A1A}"/>
              </a:ext>
            </a:extLst>
          </p:cNvPr>
          <p:cNvSpPr>
            <a:spLocks xmlns:a="http://schemas.openxmlformats.org/drawingml/2006/main" noGrp="1"/>
          </p:cNvSpPr>
          <p:nvPr/>
        </p:nvSpPr>
        <p:spPr>
          <a:xfrm xmlns:a="http://schemas.openxmlformats.org/drawingml/2006/main">
            <a:off x="685800" y="1933575"/>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20242A"/>
                </a:solidFill>
                <a:latin typeface="Arial"/>
                <a:ea typeface="Arial"/>
                <a:cs typeface="Arial"/>
              </a:defRPr>
            </a:defPPr>
            <a:lvl1pPr>
              <a:buNone/>
              <a:defRPr sz="2175" b="1">
                <a:solidFill>
                  <a:srgbClr val="20242A"/>
                </a:solidFill>
                <a:latin typeface="Arial"/>
                <a:ea typeface="Arial"/>
                <a:cs typeface="Arial"/>
              </a:defRPr>
            </a:lvl1pPr>
            <a:lvl2pPr>
              <a:buNone/>
              <a:defRPr sz="2175" b="1">
                <a:solidFill>
                  <a:srgbClr val="20242A"/>
                </a:solidFill>
                <a:latin typeface="Arial"/>
                <a:ea typeface="Arial"/>
                <a:cs typeface="Arial"/>
              </a:defRPr>
            </a:lvl2pPr>
            <a:lvl3pPr>
              <a:buNone/>
              <a:defRPr sz="2175" b="1">
                <a:solidFill>
                  <a:srgbClr val="20242A"/>
                </a:solidFill>
                <a:latin typeface="Arial"/>
                <a:ea typeface="Arial"/>
                <a:cs typeface="Arial"/>
              </a:defRPr>
            </a:lvl3pPr>
            <a:lvl4pPr>
              <a:buNone/>
              <a:defRPr sz="2175" b="1">
                <a:solidFill>
                  <a:srgbClr val="20242A"/>
                </a:solidFill>
                <a:latin typeface="Arial"/>
                <a:ea typeface="Arial"/>
                <a:cs typeface="Arial"/>
              </a:defRPr>
            </a:lvl4pPr>
            <a:lvl5pPr>
              <a:buNone/>
              <a:defRPr sz="2175" b="1">
                <a:solidFill>
                  <a:srgbClr val="20242A"/>
                </a:solidFill>
                <a:latin typeface="Arial"/>
                <a:ea typeface="Arial"/>
                <a:cs typeface="Arial"/>
              </a:defRPr>
            </a:lvl5pPr>
            <a:lvl6pPr>
              <a:buNone/>
              <a:defRPr sz="2175" b="1">
                <a:solidFill>
                  <a:srgbClr val="20242A"/>
                </a:solidFill>
                <a:latin typeface="Arial"/>
                <a:ea typeface="Arial"/>
                <a:cs typeface="Arial"/>
              </a:defRPr>
            </a:lvl6pPr>
            <a:lvl7pPr>
              <a:buNone/>
              <a:defRPr sz="2175" b="1">
                <a:solidFill>
                  <a:srgbClr val="20242A"/>
                </a:solidFill>
                <a:latin typeface="Arial"/>
                <a:ea typeface="Arial"/>
                <a:cs typeface="Arial"/>
              </a:defRPr>
            </a:lvl7pPr>
            <a:lvl8pPr>
              <a:buNone/>
              <a:defRPr sz="2175" b="1">
                <a:solidFill>
                  <a:srgbClr val="20242A"/>
                </a:solidFill>
                <a:latin typeface="Arial"/>
                <a:ea typeface="Arial"/>
                <a:cs typeface="Arial"/>
              </a:defRPr>
            </a:lvl8pPr>
            <a:lvl9pPr>
              <a:buNone/>
              <a:defRPr sz="2175" b="1">
                <a:solidFill>
                  <a:srgbClr val="20242A"/>
                </a:solidFill>
                <a:latin typeface="Arial"/>
                <a:ea typeface="Arial"/>
                <a:cs typeface="Arial"/>
              </a:defRPr>
            </a:lvl9pPr>
          </a:lstStyle>
          <a:p xmlns:a="http://schemas.openxmlformats.org/drawingml/2006/main">
            <a:pPr>
              <a:buNone/>
              <a:defRPr sz="2175" b="1">
                <a:solidFill>
                  <a:srgbClr val="20242A"/>
                </a:solidFill>
                <a:latin typeface="Arial"/>
                <a:ea typeface="Arial"/>
                <a:cs typeface="Arial"/>
              </a:defRPr>
            </a:pPr>
            <a:r>
              <a:rPr sz="2175" b="1">
                <a:solidFill>
                  <a:srgbClr val="20242A"/>
                </a:solidFill>
                <a:latin typeface="Arial"/>
                <a:ea typeface="Arial"/>
                <a:cs typeface="Arial"/>
              </a:rPr>
              <a:t>Unified and interpretable systems</a:t>
            </a:r>
          </a:p>
        </p:txBody>
      </p:sp>
      <p:sp>
        <p:nvSpPr>
          <p:cNvPr id="5" name="矩形 4">
            <a:extLst xmlns:a="http://schemas.openxmlformats.org/drawingml/2006/main">
              <a:ext uri="{FF2B5EF4-FFF2-40B4-BE49-F238E27FC236}">
                <a16:creationId xmlns:a16="http://schemas.microsoft.com/office/drawing/2014/main" id="{35860B12-A9F1-49A5-8A63-2A5976E24345}"/>
              </a:ext>
            </a:extLst>
          </p:cNvPr>
          <p:cNvSpPr>
            <a:spLocks xmlns:a="http://schemas.openxmlformats.org/drawingml/2006/main" noGrp="1"/>
          </p:cNvSpPr>
          <p:nvPr/>
        </p:nvSpPr>
        <p:spPr>
          <a:xfrm xmlns:a="http://schemas.openxmlformats.org/drawingml/2006/main">
            <a:off x="685800" y="2457450"/>
            <a:ext cx="4810125"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75">
                <a:solidFill>
                  <a:srgbClr val="686E75"/>
                </a:solidFill>
                <a:latin typeface="Arial"/>
                <a:ea typeface="Arial"/>
                <a:cs typeface="Arial"/>
              </a:defRPr>
            </a:defPPr>
            <a:lvl1pPr>
              <a:buNone/>
              <a:defRPr sz="1725">
                <a:solidFill>
                  <a:srgbClr val="686E75"/>
                </a:solidFill>
                <a:latin typeface="Arial"/>
                <a:ea typeface="Arial"/>
                <a:cs typeface="Arial"/>
              </a:defRPr>
            </a:lvl1pPr>
            <a:lvl2pPr>
              <a:buNone/>
              <a:defRPr sz="1725">
                <a:solidFill>
                  <a:srgbClr val="686E75"/>
                </a:solidFill>
                <a:latin typeface="Arial"/>
                <a:ea typeface="Arial"/>
                <a:cs typeface="Arial"/>
              </a:defRPr>
            </a:lvl2pPr>
            <a:lvl3pPr>
              <a:buNone/>
              <a:defRPr sz="1725">
                <a:solidFill>
                  <a:srgbClr val="686E75"/>
                </a:solidFill>
                <a:latin typeface="Arial"/>
                <a:ea typeface="Arial"/>
                <a:cs typeface="Arial"/>
              </a:defRPr>
            </a:lvl3pPr>
            <a:lvl4pPr>
              <a:buNone/>
              <a:defRPr sz="1725">
                <a:solidFill>
                  <a:srgbClr val="686E75"/>
                </a:solidFill>
                <a:latin typeface="Arial"/>
                <a:ea typeface="Arial"/>
                <a:cs typeface="Arial"/>
              </a:defRPr>
            </a:lvl4pPr>
            <a:lvl5pPr>
              <a:buNone/>
              <a:defRPr sz="1725">
                <a:solidFill>
                  <a:srgbClr val="686E75"/>
                </a:solidFill>
                <a:latin typeface="Arial"/>
                <a:ea typeface="Arial"/>
                <a:cs typeface="Arial"/>
              </a:defRPr>
            </a:lvl5pPr>
            <a:lvl6pPr>
              <a:buNone/>
              <a:defRPr sz="1725">
                <a:solidFill>
                  <a:srgbClr val="686E75"/>
                </a:solidFill>
                <a:latin typeface="Arial"/>
                <a:ea typeface="Arial"/>
                <a:cs typeface="Arial"/>
              </a:defRPr>
            </a:lvl6pPr>
            <a:lvl7pPr>
              <a:buNone/>
              <a:defRPr sz="1725">
                <a:solidFill>
                  <a:srgbClr val="686E75"/>
                </a:solidFill>
                <a:latin typeface="Arial"/>
                <a:ea typeface="Arial"/>
                <a:cs typeface="Arial"/>
              </a:defRPr>
            </a:lvl7pPr>
            <a:lvl8pPr>
              <a:buNone/>
              <a:defRPr sz="1725">
                <a:solidFill>
                  <a:srgbClr val="686E75"/>
                </a:solidFill>
                <a:latin typeface="Arial"/>
                <a:ea typeface="Arial"/>
                <a:cs typeface="Arial"/>
              </a:defRPr>
            </a:lvl8pPr>
            <a:lvl9pPr>
              <a:buNone/>
              <a:defRPr sz="1725">
                <a:solidFill>
                  <a:srgbClr val="686E75"/>
                </a:solidFill>
                <a:latin typeface="Arial"/>
                <a:ea typeface="Arial"/>
                <a:cs typeface="Arial"/>
              </a:defRPr>
            </a:lvl9pPr>
          </a:lstStyle>
          <a:p xmlns:a="http://schemas.openxmlformats.org/drawingml/2006/main">
            <a:pPr marL="228600" indent="-114300">
              <a:spcAft>
                <a:spcPts val="1000"/>
              </a:spcAft>
              <a:buChar char="•"/>
              <a:defRPr sz="1575">
                <a:solidFill>
                  <a:srgbClr val="686E75"/>
                </a:solidFill>
                <a:latin typeface="Arial"/>
                <a:ea typeface="Arial"/>
                <a:cs typeface="Arial"/>
              </a:defRPr>
            </a:pPr>
            <a:r>
              <a:rPr sz="1575">
                <a:solidFill>
                  <a:srgbClr val="686E75"/>
                </a:solidFill>
                <a:latin typeface="Arial"/>
                <a:ea typeface="Arial"/>
                <a:cs typeface="Arial"/>
              </a:rPr>
              <a:t>Run systematic ablations of data injection, tokenization, curricula, and representation fusion</a:t>
            </a:r>
          </a:p>
          <a:p xmlns:a="http://schemas.openxmlformats.org/drawingml/2006/main">
            <a:pPr marL="228600" indent="-114300">
              <a:spcAft>
                <a:spcPts val="1000"/>
              </a:spcAft>
              <a:buChar char="•"/>
              <a:defRPr sz="1575">
                <a:solidFill>
                  <a:srgbClr val="686E75"/>
                </a:solidFill>
                <a:latin typeface="Arial"/>
                <a:ea typeface="Arial"/>
                <a:cs typeface="Arial"/>
              </a:defRPr>
            </a:pPr>
            <a:r>
              <a:rPr sz="1575">
                <a:solidFill>
                  <a:srgbClr val="686E75"/>
                </a:solidFill>
                <a:latin typeface="Arial"/>
                <a:ea typeface="Arial"/>
                <a:cs typeface="Arial"/>
              </a:rPr>
              <a:t>Explore objectives that encode Hanzi form, sound, and meaning</a:t>
            </a:r>
          </a:p>
          <a:p xmlns:a="http://schemas.openxmlformats.org/drawingml/2006/main">
            <a:pPr marL="228600" indent="-114300">
              <a:spcAft>
                <a:spcPts val="1000"/>
              </a:spcAft>
              <a:buChar char="•"/>
              <a:defRPr sz="1575">
                <a:solidFill>
                  <a:srgbClr val="686E75"/>
                </a:solidFill>
                <a:latin typeface="Arial"/>
                <a:ea typeface="Arial"/>
                <a:cs typeface="Arial"/>
              </a:defRPr>
            </a:pPr>
            <a:r>
              <a:rPr sz="1575">
                <a:solidFill>
                  <a:srgbClr val="686E75"/>
                </a:solidFill>
                <a:latin typeface="Arial"/>
                <a:ea typeface="Arial"/>
                <a:cs typeface="Arial"/>
              </a:rPr>
              <a:t>Build one model competitive across all three tracks</a:t>
            </a:r>
          </a:p>
        </p:txBody>
      </p:sp>
      <p:sp>
        <p:nvSpPr>
          <p:cNvPr id="6" name="矩形 5">
            <a:extLst xmlns:a="http://schemas.openxmlformats.org/drawingml/2006/main">
              <a:ext uri="{FF2B5EF4-FFF2-40B4-BE49-F238E27FC236}">
                <a16:creationId xmlns:a16="http://schemas.microsoft.com/office/drawing/2014/main" id="{17F5AD70-6EF5-4143-B779-4DDFC003B470}"/>
              </a:ext>
            </a:extLst>
          </p:cNvPr>
          <p:cNvSpPr>
            <a:spLocks xmlns:a="http://schemas.openxmlformats.org/drawingml/2006/main" noGrp="1"/>
          </p:cNvSpPr>
          <p:nvPr/>
        </p:nvSpPr>
        <p:spPr>
          <a:xfrm xmlns:a="http://schemas.openxmlformats.org/drawingml/2006/main">
            <a:off x="6048375" y="1495425"/>
            <a:ext cx="19050" cy="27622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D115CB29-6380-4E27-AFBA-3CD573BACAFB}"/>
              </a:ext>
            </a:extLst>
          </p:cNvPr>
          <p:cNvSpPr>
            <a:spLocks xmlns:a="http://schemas.openxmlformats.org/drawingml/2006/main" noGrp="1"/>
          </p:cNvSpPr>
          <p:nvPr/>
        </p:nvSpPr>
        <p:spPr>
          <a:xfrm xmlns:a="http://schemas.openxmlformats.org/drawingml/2006/main">
            <a:off x="6477000" y="14954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C49A2C"/>
                </a:solidFill>
                <a:latin typeface="Arial"/>
                <a:ea typeface="Arial"/>
                <a:cs typeface="Arial"/>
              </a:defRPr>
            </a:defPPr>
            <a:lvl1pPr>
              <a:buNone/>
              <a:defRPr sz="1200" b="1">
                <a:solidFill>
                  <a:srgbClr val="C49A2C"/>
                </a:solidFill>
                <a:latin typeface="Arial"/>
                <a:ea typeface="Arial"/>
                <a:cs typeface="Arial"/>
              </a:defRPr>
            </a:lvl1pPr>
            <a:lvl2pPr>
              <a:buNone/>
              <a:defRPr sz="1200" b="1">
                <a:solidFill>
                  <a:srgbClr val="C49A2C"/>
                </a:solidFill>
                <a:latin typeface="Arial"/>
                <a:ea typeface="Arial"/>
                <a:cs typeface="Arial"/>
              </a:defRPr>
            </a:lvl2pPr>
            <a:lvl3pPr>
              <a:buNone/>
              <a:defRPr sz="1200" b="1">
                <a:solidFill>
                  <a:srgbClr val="C49A2C"/>
                </a:solidFill>
                <a:latin typeface="Arial"/>
                <a:ea typeface="Arial"/>
                <a:cs typeface="Arial"/>
              </a:defRPr>
            </a:lvl3pPr>
            <a:lvl4pPr>
              <a:buNone/>
              <a:defRPr sz="1200" b="1">
                <a:solidFill>
                  <a:srgbClr val="C49A2C"/>
                </a:solidFill>
                <a:latin typeface="Arial"/>
                <a:ea typeface="Arial"/>
                <a:cs typeface="Arial"/>
              </a:defRPr>
            </a:lvl4pPr>
            <a:lvl5pPr>
              <a:buNone/>
              <a:defRPr sz="1200" b="1">
                <a:solidFill>
                  <a:srgbClr val="C49A2C"/>
                </a:solidFill>
                <a:latin typeface="Arial"/>
                <a:ea typeface="Arial"/>
                <a:cs typeface="Arial"/>
              </a:defRPr>
            </a:lvl5pPr>
            <a:lvl6pPr>
              <a:buNone/>
              <a:defRPr sz="1200" b="1">
                <a:solidFill>
                  <a:srgbClr val="C49A2C"/>
                </a:solidFill>
                <a:latin typeface="Arial"/>
                <a:ea typeface="Arial"/>
                <a:cs typeface="Arial"/>
              </a:defRPr>
            </a:lvl6pPr>
            <a:lvl7pPr>
              <a:buNone/>
              <a:defRPr sz="1200" b="1">
                <a:solidFill>
                  <a:srgbClr val="C49A2C"/>
                </a:solidFill>
                <a:latin typeface="Arial"/>
                <a:ea typeface="Arial"/>
                <a:cs typeface="Arial"/>
              </a:defRPr>
            </a:lvl7pPr>
            <a:lvl8pPr>
              <a:buNone/>
              <a:defRPr sz="1200" b="1">
                <a:solidFill>
                  <a:srgbClr val="C49A2C"/>
                </a:solidFill>
                <a:latin typeface="Arial"/>
                <a:ea typeface="Arial"/>
                <a:cs typeface="Arial"/>
              </a:defRPr>
            </a:lvl8pPr>
            <a:lvl9pPr>
              <a:buNone/>
              <a:defRPr sz="1200" b="1">
                <a:solidFill>
                  <a:srgbClr val="C49A2C"/>
                </a:solidFill>
                <a:latin typeface="Arial"/>
                <a:ea typeface="Arial"/>
                <a:cs typeface="Arial"/>
              </a:defRPr>
            </a:lvl9pPr>
          </a:lstStyle>
          <a:p xmlns:a="http://schemas.openxmlformats.org/drawingml/2006/main">
            <a:pPr>
              <a:buNone/>
              <a:defRPr sz="1200" b="1">
                <a:solidFill>
                  <a:srgbClr val="C49A2C"/>
                </a:solidFill>
                <a:latin typeface="Arial"/>
                <a:ea typeface="Arial"/>
                <a:cs typeface="Arial"/>
              </a:defRPr>
            </a:pPr>
            <a:r>
              <a:rPr sz="1200" b="1">
                <a:solidFill>
                  <a:srgbClr val="C49A2C"/>
                </a:solidFill>
                <a:latin typeface="Arial"/>
                <a:ea typeface="Arial"/>
                <a:cs typeface="Arial"/>
              </a:rPr>
              <a:t>EVALUATION DIRECTIONS</a:t>
            </a:r>
          </a:p>
        </p:txBody>
      </p:sp>
      <p:sp>
        <p:nvSpPr>
          <p:cNvPr id="8" name="矩形 7">
            <a:extLst xmlns:a="http://schemas.openxmlformats.org/drawingml/2006/main">
              <a:ext uri="{FF2B5EF4-FFF2-40B4-BE49-F238E27FC236}">
                <a16:creationId xmlns:a16="http://schemas.microsoft.com/office/drawing/2014/main" id="{28434339-5B76-4DF8-ABD7-CEADA35A1795}"/>
              </a:ext>
            </a:extLst>
          </p:cNvPr>
          <p:cNvSpPr>
            <a:spLocks xmlns:a="http://schemas.openxmlformats.org/drawingml/2006/main" noGrp="1"/>
          </p:cNvSpPr>
          <p:nvPr/>
        </p:nvSpPr>
        <p:spPr>
          <a:xfrm xmlns:a="http://schemas.openxmlformats.org/drawingml/2006/main">
            <a:off x="6477000" y="19335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20242A"/>
                </a:solidFill>
                <a:latin typeface="Arial"/>
                <a:ea typeface="Arial"/>
                <a:cs typeface="Arial"/>
              </a:defRPr>
            </a:defPPr>
            <a:lvl1pPr>
              <a:buNone/>
              <a:defRPr sz="2175" b="1">
                <a:solidFill>
                  <a:srgbClr val="20242A"/>
                </a:solidFill>
                <a:latin typeface="Arial"/>
                <a:ea typeface="Arial"/>
                <a:cs typeface="Arial"/>
              </a:defRPr>
            </a:lvl1pPr>
            <a:lvl2pPr>
              <a:buNone/>
              <a:defRPr sz="2175" b="1">
                <a:solidFill>
                  <a:srgbClr val="20242A"/>
                </a:solidFill>
                <a:latin typeface="Arial"/>
                <a:ea typeface="Arial"/>
                <a:cs typeface="Arial"/>
              </a:defRPr>
            </a:lvl2pPr>
            <a:lvl3pPr>
              <a:buNone/>
              <a:defRPr sz="2175" b="1">
                <a:solidFill>
                  <a:srgbClr val="20242A"/>
                </a:solidFill>
                <a:latin typeface="Arial"/>
                <a:ea typeface="Arial"/>
                <a:cs typeface="Arial"/>
              </a:defRPr>
            </a:lvl3pPr>
            <a:lvl4pPr>
              <a:buNone/>
              <a:defRPr sz="2175" b="1">
                <a:solidFill>
                  <a:srgbClr val="20242A"/>
                </a:solidFill>
                <a:latin typeface="Arial"/>
                <a:ea typeface="Arial"/>
                <a:cs typeface="Arial"/>
              </a:defRPr>
            </a:lvl4pPr>
            <a:lvl5pPr>
              <a:buNone/>
              <a:defRPr sz="2175" b="1">
                <a:solidFill>
                  <a:srgbClr val="20242A"/>
                </a:solidFill>
                <a:latin typeface="Arial"/>
                <a:ea typeface="Arial"/>
                <a:cs typeface="Arial"/>
              </a:defRPr>
            </a:lvl5pPr>
            <a:lvl6pPr>
              <a:buNone/>
              <a:defRPr sz="2175" b="1">
                <a:solidFill>
                  <a:srgbClr val="20242A"/>
                </a:solidFill>
                <a:latin typeface="Arial"/>
                <a:ea typeface="Arial"/>
                <a:cs typeface="Arial"/>
              </a:defRPr>
            </a:lvl6pPr>
            <a:lvl7pPr>
              <a:buNone/>
              <a:defRPr sz="2175" b="1">
                <a:solidFill>
                  <a:srgbClr val="20242A"/>
                </a:solidFill>
                <a:latin typeface="Arial"/>
                <a:ea typeface="Arial"/>
                <a:cs typeface="Arial"/>
              </a:defRPr>
            </a:lvl7pPr>
            <a:lvl8pPr>
              <a:buNone/>
              <a:defRPr sz="2175" b="1">
                <a:solidFill>
                  <a:srgbClr val="20242A"/>
                </a:solidFill>
                <a:latin typeface="Arial"/>
                <a:ea typeface="Arial"/>
                <a:cs typeface="Arial"/>
              </a:defRPr>
            </a:lvl8pPr>
            <a:lvl9pPr>
              <a:buNone/>
              <a:defRPr sz="2175" b="1">
                <a:solidFill>
                  <a:srgbClr val="20242A"/>
                </a:solidFill>
                <a:latin typeface="Arial"/>
                <a:ea typeface="Arial"/>
                <a:cs typeface="Arial"/>
              </a:defRPr>
            </a:lvl9pPr>
          </a:lstStyle>
          <a:p xmlns:a="http://schemas.openxmlformats.org/drawingml/2006/main">
            <a:pPr>
              <a:buNone/>
              <a:defRPr sz="2175" b="1">
                <a:solidFill>
                  <a:srgbClr val="20242A"/>
                </a:solidFill>
                <a:latin typeface="Arial"/>
                <a:ea typeface="Arial"/>
                <a:cs typeface="Arial"/>
              </a:defRPr>
            </a:pPr>
            <a:r>
              <a:rPr sz="2175" b="1">
                <a:solidFill>
                  <a:srgbClr val="20242A"/>
                </a:solidFill>
                <a:latin typeface="Arial"/>
                <a:ea typeface="Arial"/>
                <a:cs typeface="Arial"/>
              </a:rPr>
              <a:t>More diagnostic benchmarks</a:t>
            </a:r>
          </a:p>
        </p:txBody>
      </p:sp>
      <p:sp>
        <p:nvSpPr>
          <p:cNvPr id="9" name="矩形 8">
            <a:extLst xmlns:a="http://schemas.openxmlformats.org/drawingml/2006/main">
              <a:ext uri="{FF2B5EF4-FFF2-40B4-BE49-F238E27FC236}">
                <a16:creationId xmlns:a16="http://schemas.microsoft.com/office/drawing/2014/main" id="{EB0721AE-1EAB-4626-AA0D-CA6D38D1EAB5}"/>
              </a:ext>
            </a:extLst>
          </p:cNvPr>
          <p:cNvSpPr>
            <a:spLocks xmlns:a="http://schemas.openxmlformats.org/drawingml/2006/main" noGrp="1"/>
          </p:cNvSpPr>
          <p:nvPr/>
        </p:nvSpPr>
        <p:spPr>
          <a:xfrm xmlns:a="http://schemas.openxmlformats.org/drawingml/2006/main">
            <a:off x="6477000" y="2457450"/>
            <a:ext cx="47625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75">
                <a:solidFill>
                  <a:srgbClr val="686E75"/>
                </a:solidFill>
                <a:latin typeface="Arial"/>
                <a:ea typeface="Arial"/>
                <a:cs typeface="Arial"/>
              </a:defRPr>
            </a:defPPr>
            <a:lvl1pPr>
              <a:buNone/>
              <a:defRPr sz="1725">
                <a:solidFill>
                  <a:srgbClr val="686E75"/>
                </a:solidFill>
                <a:latin typeface="Arial"/>
                <a:ea typeface="Arial"/>
                <a:cs typeface="Arial"/>
              </a:defRPr>
            </a:lvl1pPr>
            <a:lvl2pPr>
              <a:buNone/>
              <a:defRPr sz="1725">
                <a:solidFill>
                  <a:srgbClr val="686E75"/>
                </a:solidFill>
                <a:latin typeface="Arial"/>
                <a:ea typeface="Arial"/>
                <a:cs typeface="Arial"/>
              </a:defRPr>
            </a:lvl2pPr>
            <a:lvl3pPr>
              <a:buNone/>
              <a:defRPr sz="1725">
                <a:solidFill>
                  <a:srgbClr val="686E75"/>
                </a:solidFill>
                <a:latin typeface="Arial"/>
                <a:ea typeface="Arial"/>
                <a:cs typeface="Arial"/>
              </a:defRPr>
            </a:lvl3pPr>
            <a:lvl4pPr>
              <a:buNone/>
              <a:defRPr sz="1725">
                <a:solidFill>
                  <a:srgbClr val="686E75"/>
                </a:solidFill>
                <a:latin typeface="Arial"/>
                <a:ea typeface="Arial"/>
                <a:cs typeface="Arial"/>
              </a:defRPr>
            </a:lvl4pPr>
            <a:lvl5pPr>
              <a:buNone/>
              <a:defRPr sz="1725">
                <a:solidFill>
                  <a:srgbClr val="686E75"/>
                </a:solidFill>
                <a:latin typeface="Arial"/>
                <a:ea typeface="Arial"/>
                <a:cs typeface="Arial"/>
              </a:defRPr>
            </a:lvl5pPr>
            <a:lvl6pPr>
              <a:buNone/>
              <a:defRPr sz="1725">
                <a:solidFill>
                  <a:srgbClr val="686E75"/>
                </a:solidFill>
                <a:latin typeface="Arial"/>
                <a:ea typeface="Arial"/>
                <a:cs typeface="Arial"/>
              </a:defRPr>
            </a:lvl6pPr>
            <a:lvl7pPr>
              <a:buNone/>
              <a:defRPr sz="1725">
                <a:solidFill>
                  <a:srgbClr val="686E75"/>
                </a:solidFill>
                <a:latin typeface="Arial"/>
                <a:ea typeface="Arial"/>
                <a:cs typeface="Arial"/>
              </a:defRPr>
            </a:lvl7pPr>
            <a:lvl8pPr>
              <a:buNone/>
              <a:defRPr sz="1725">
                <a:solidFill>
                  <a:srgbClr val="686E75"/>
                </a:solidFill>
                <a:latin typeface="Arial"/>
                <a:ea typeface="Arial"/>
                <a:cs typeface="Arial"/>
              </a:defRPr>
            </a:lvl8pPr>
            <a:lvl9pPr>
              <a:buNone/>
              <a:defRPr sz="1725">
                <a:solidFill>
                  <a:srgbClr val="686E75"/>
                </a:solidFill>
                <a:latin typeface="Arial"/>
                <a:ea typeface="Arial"/>
                <a:cs typeface="Arial"/>
              </a:defRPr>
            </a:lvl9pPr>
          </a:lstStyle>
          <a:p xmlns:a="http://schemas.openxmlformats.org/drawingml/2006/main">
            <a:pPr marL="228600" indent="-114300">
              <a:spcAft>
                <a:spcPts val="1000"/>
              </a:spcAft>
              <a:buChar char="•"/>
              <a:defRPr sz="1575">
                <a:solidFill>
                  <a:srgbClr val="686E75"/>
                </a:solidFill>
                <a:latin typeface="Arial"/>
                <a:ea typeface="Arial"/>
                <a:cs typeface="Arial"/>
              </a:defRPr>
            </a:pPr>
            <a:r>
              <a:rPr sz="1575">
                <a:solidFill>
                  <a:srgbClr val="686E75"/>
                </a:solidFill>
                <a:latin typeface="Arial"/>
                <a:ea typeface="Arial"/>
                <a:cs typeface="Arial"/>
              </a:rPr>
              <a:t>Keep ZhoBLiMP, NLI, and Hanzi, and make saturated pinyin tasks harder</a:t>
            </a:r>
          </a:p>
          <a:p xmlns:a="http://schemas.openxmlformats.org/drawingml/2006/main">
            <a:pPr marL="228600" indent="-114300">
              <a:spcAft>
                <a:spcPts val="1000"/>
              </a:spcAft>
              <a:buChar char="•"/>
              <a:defRPr sz="1575">
                <a:solidFill>
                  <a:srgbClr val="686E75"/>
                </a:solidFill>
                <a:latin typeface="Arial"/>
                <a:ea typeface="Arial"/>
                <a:cs typeface="Arial"/>
              </a:defRPr>
            </a:pPr>
            <a:r>
              <a:rPr sz="1575">
                <a:solidFill>
                  <a:srgbClr val="686E75"/>
                </a:solidFill>
                <a:latin typeface="Arial"/>
                <a:ea typeface="Arial"/>
                <a:cs typeface="Arial"/>
              </a:rPr>
              <a:t>Revise word fMRI, AFQMC, and CLUEWSC</a:t>
            </a:r>
          </a:p>
          <a:p xmlns:a="http://schemas.openxmlformats.org/drawingml/2006/main">
            <a:pPr marL="228600" indent="-114300">
              <a:spcAft>
                <a:spcPts val="1000"/>
              </a:spcAft>
              <a:buChar char="•"/>
              <a:defRPr sz="1575">
                <a:solidFill>
                  <a:srgbClr val="686E75"/>
                </a:solidFill>
                <a:latin typeface="Arial"/>
                <a:ea typeface="Arial"/>
                <a:cs typeface="Arial"/>
              </a:defRPr>
            </a:pPr>
            <a:r>
              <a:rPr sz="1575">
                <a:solidFill>
                  <a:srgbClr val="686E75"/>
                </a:solidFill>
                <a:latin typeface="Arial"/>
                <a:ea typeface="Arial"/>
                <a:cs typeface="Arial"/>
              </a:rPr>
              <a:t>Add segmentation, morphology, discourse, reading time, and acquisition measures</a:t>
            </a:r>
          </a:p>
        </p:txBody>
      </p:sp>
      <p:sp>
        <p:nvSpPr>
          <p:cNvPr id="10" name="closing-research-target">
            <a:extLst xmlns:a="http://schemas.openxmlformats.org/drawingml/2006/main">
              <a:ext uri="{FF2B5EF4-FFF2-40B4-BE49-F238E27FC236}">
                <a16:creationId xmlns:a16="http://schemas.microsoft.com/office/drawing/2014/main" id="{EC400A32-6140-4E14-8102-9D69437A5C01}"/>
              </a:ext>
            </a:extLst>
          </p:cNvPr>
          <p:cNvSpPr>
            <a:spLocks xmlns:a="http://schemas.openxmlformats.org/drawingml/2006/main" noGrp="1"/>
          </p:cNvSpPr>
          <p:nvPr/>
        </p:nvSpPr>
        <p:spPr>
          <a:xfrm xmlns:a="http://schemas.openxmlformats.org/drawingml/2006/main">
            <a:off x="685800" y="4638675"/>
            <a:ext cx="10820400" cy="1371600"/>
          </a:xfrm>
          <a:prstGeom xmlns:a="http://schemas.openxmlformats.org/drawingml/2006/main" prst="rect">
            <a:avLst/>
          </a:prstGeom>
          <a:solidFill xmlns:a="http://schemas.openxmlformats.org/drawingml/2006/main">
            <a:srgbClr val="F7ECEF"/>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82CE2D44-981B-4BC0-9858-BA6E67927CB5}"/>
              </a:ext>
            </a:extLst>
          </p:cNvPr>
          <p:cNvSpPr>
            <a:spLocks xmlns:a="http://schemas.openxmlformats.org/drawingml/2006/main" noGrp="1"/>
          </p:cNvSpPr>
          <p:nvPr/>
        </p:nvSpPr>
        <p:spPr>
          <a:xfrm xmlns:a="http://schemas.openxmlformats.org/drawingml/2006/main">
            <a:off x="962025" y="48387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125" b="1">
                <a:solidFill>
                  <a:srgbClr val="C49A2C"/>
                </a:solidFill>
                <a:latin typeface="Arial"/>
                <a:ea typeface="Arial"/>
                <a:cs typeface="Arial"/>
              </a:defRPr>
            </a:defPPr>
            <a:lvl1pPr>
              <a:buNone/>
              <a:defRPr sz="1125" b="1">
                <a:solidFill>
                  <a:srgbClr val="C49A2C"/>
                </a:solidFill>
                <a:latin typeface="Arial"/>
                <a:ea typeface="Arial"/>
                <a:cs typeface="Arial"/>
              </a:defRPr>
            </a:lvl1pPr>
            <a:lvl2pPr>
              <a:buNone/>
              <a:defRPr sz="1125" b="1">
                <a:solidFill>
                  <a:srgbClr val="C49A2C"/>
                </a:solidFill>
                <a:latin typeface="Arial"/>
                <a:ea typeface="Arial"/>
                <a:cs typeface="Arial"/>
              </a:defRPr>
            </a:lvl2pPr>
            <a:lvl3pPr>
              <a:buNone/>
              <a:defRPr sz="1125" b="1">
                <a:solidFill>
                  <a:srgbClr val="C49A2C"/>
                </a:solidFill>
                <a:latin typeface="Arial"/>
                <a:ea typeface="Arial"/>
                <a:cs typeface="Arial"/>
              </a:defRPr>
            </a:lvl3pPr>
            <a:lvl4pPr>
              <a:buNone/>
              <a:defRPr sz="1125" b="1">
                <a:solidFill>
                  <a:srgbClr val="C49A2C"/>
                </a:solidFill>
                <a:latin typeface="Arial"/>
                <a:ea typeface="Arial"/>
                <a:cs typeface="Arial"/>
              </a:defRPr>
            </a:lvl4pPr>
            <a:lvl5pPr>
              <a:buNone/>
              <a:defRPr sz="1125" b="1">
                <a:solidFill>
                  <a:srgbClr val="C49A2C"/>
                </a:solidFill>
                <a:latin typeface="Arial"/>
                <a:ea typeface="Arial"/>
                <a:cs typeface="Arial"/>
              </a:defRPr>
            </a:lvl5pPr>
            <a:lvl6pPr>
              <a:buNone/>
              <a:defRPr sz="1125" b="1">
                <a:solidFill>
                  <a:srgbClr val="C49A2C"/>
                </a:solidFill>
                <a:latin typeface="Arial"/>
                <a:ea typeface="Arial"/>
                <a:cs typeface="Arial"/>
              </a:defRPr>
            </a:lvl6pPr>
            <a:lvl7pPr>
              <a:buNone/>
              <a:defRPr sz="1125" b="1">
                <a:solidFill>
                  <a:srgbClr val="C49A2C"/>
                </a:solidFill>
                <a:latin typeface="Arial"/>
                <a:ea typeface="Arial"/>
                <a:cs typeface="Arial"/>
              </a:defRPr>
            </a:lvl7pPr>
            <a:lvl8pPr>
              <a:buNone/>
              <a:defRPr sz="1125" b="1">
                <a:solidFill>
                  <a:srgbClr val="C49A2C"/>
                </a:solidFill>
                <a:latin typeface="Arial"/>
                <a:ea typeface="Arial"/>
                <a:cs typeface="Arial"/>
              </a:defRPr>
            </a:lvl8pPr>
            <a:lvl9pPr>
              <a:buNone/>
              <a:defRPr sz="1125" b="1">
                <a:solidFill>
                  <a:srgbClr val="C49A2C"/>
                </a:solidFill>
                <a:latin typeface="Arial"/>
                <a:ea typeface="Arial"/>
                <a:cs typeface="Arial"/>
              </a:defRPr>
            </a:lvl9pPr>
          </a:lstStyle>
          <a:p xmlns:a="http://schemas.openxmlformats.org/drawingml/2006/main">
            <a:pPr>
              <a:buNone/>
              <a:defRPr sz="1125" b="1">
                <a:solidFill>
                  <a:srgbClr val="C49A2C"/>
                </a:solidFill>
                <a:latin typeface="Arial"/>
                <a:ea typeface="Arial"/>
                <a:cs typeface="Arial"/>
              </a:defRPr>
            </a:pPr>
            <a:r>
              <a:rPr sz="1125" b="1">
                <a:solidFill>
                  <a:srgbClr val="C49A2C"/>
                </a:solidFill>
                <a:latin typeface="Arial"/>
                <a:ea typeface="Arial"/>
                <a:cs typeface="Arial"/>
              </a:rPr>
              <a:t>LONG-TERM GOAL</a:t>
            </a:r>
          </a:p>
        </p:txBody>
      </p:sp>
      <p:sp>
        <p:nvSpPr>
          <p:cNvPr id="12" name="矩形 11">
            <a:extLst xmlns:a="http://schemas.openxmlformats.org/drawingml/2006/main">
              <a:ext uri="{FF2B5EF4-FFF2-40B4-BE49-F238E27FC236}">
                <a16:creationId xmlns:a16="http://schemas.microsoft.com/office/drawing/2014/main" id="{88C33783-4030-4671-82EC-500347ADE3B4}"/>
              </a:ext>
            </a:extLst>
          </p:cNvPr>
          <p:cNvSpPr>
            <a:spLocks xmlns:a="http://schemas.openxmlformats.org/drawingml/2006/main" noGrp="1"/>
          </p:cNvSpPr>
          <p:nvPr/>
        </p:nvSpPr>
        <p:spPr>
          <a:xfrm xmlns:a="http://schemas.openxmlformats.org/drawingml/2006/main">
            <a:off x="962025" y="5143500"/>
            <a:ext cx="990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lnSpcReduction="10000"/>
          </a:bodyPr>
          <a:lstStyle xmlns:a="http://schemas.openxmlformats.org/drawingml/2006/main">
            <a:defPPr>
              <a:defRPr sz="2175" b="1">
                <a:solidFill>
                  <a:srgbClr val="9E1B32"/>
                </a:solidFill>
                <a:latin typeface="Arial"/>
                <a:ea typeface="Arial"/>
                <a:cs typeface="Arial"/>
              </a:defRPr>
            </a:defPPr>
            <a:lvl1pPr>
              <a:buNone/>
              <a:defRPr sz="2400" b="1">
                <a:solidFill>
                  <a:srgbClr val="9E1B32"/>
                </a:solidFill>
                <a:latin typeface="Arial"/>
                <a:ea typeface="Arial"/>
                <a:cs typeface="Arial"/>
              </a:defRPr>
            </a:lvl1pPr>
            <a:lvl2pPr>
              <a:buNone/>
              <a:defRPr sz="2400" b="1">
                <a:solidFill>
                  <a:srgbClr val="9E1B32"/>
                </a:solidFill>
                <a:latin typeface="Arial"/>
                <a:ea typeface="Arial"/>
                <a:cs typeface="Arial"/>
              </a:defRPr>
            </a:lvl2pPr>
            <a:lvl3pPr>
              <a:buNone/>
              <a:defRPr sz="2400" b="1">
                <a:solidFill>
                  <a:srgbClr val="9E1B32"/>
                </a:solidFill>
                <a:latin typeface="Arial"/>
                <a:ea typeface="Arial"/>
                <a:cs typeface="Arial"/>
              </a:defRPr>
            </a:lvl3pPr>
            <a:lvl4pPr>
              <a:buNone/>
              <a:defRPr sz="2400" b="1">
                <a:solidFill>
                  <a:srgbClr val="9E1B32"/>
                </a:solidFill>
                <a:latin typeface="Arial"/>
                <a:ea typeface="Arial"/>
                <a:cs typeface="Arial"/>
              </a:defRPr>
            </a:lvl4pPr>
            <a:lvl5pPr>
              <a:buNone/>
              <a:defRPr sz="2400" b="1">
                <a:solidFill>
                  <a:srgbClr val="9E1B32"/>
                </a:solidFill>
                <a:latin typeface="Arial"/>
                <a:ea typeface="Arial"/>
                <a:cs typeface="Arial"/>
              </a:defRPr>
            </a:lvl5pPr>
            <a:lvl6pPr>
              <a:buNone/>
              <a:defRPr sz="2400" b="1">
                <a:solidFill>
                  <a:srgbClr val="9E1B32"/>
                </a:solidFill>
                <a:latin typeface="Arial"/>
                <a:ea typeface="Arial"/>
                <a:cs typeface="Arial"/>
              </a:defRPr>
            </a:lvl6pPr>
            <a:lvl7pPr>
              <a:buNone/>
              <a:defRPr sz="2400" b="1">
                <a:solidFill>
                  <a:srgbClr val="9E1B32"/>
                </a:solidFill>
                <a:latin typeface="Arial"/>
                <a:ea typeface="Arial"/>
                <a:cs typeface="Arial"/>
              </a:defRPr>
            </a:lvl7pPr>
            <a:lvl8pPr>
              <a:buNone/>
              <a:defRPr sz="2400" b="1">
                <a:solidFill>
                  <a:srgbClr val="9E1B32"/>
                </a:solidFill>
                <a:latin typeface="Arial"/>
                <a:ea typeface="Arial"/>
                <a:cs typeface="Arial"/>
              </a:defRPr>
            </a:lvl8pPr>
            <a:lvl9pPr>
              <a:buNone/>
              <a:defRPr sz="2400" b="1">
                <a:solidFill>
                  <a:srgbClr val="9E1B32"/>
                </a:solidFill>
                <a:latin typeface="Arial"/>
                <a:ea typeface="Arial"/>
                <a:cs typeface="Arial"/>
              </a:defRPr>
            </a:lvl9pPr>
          </a:lstStyle>
          <a:p xmlns:a="http://schemas.openxmlformats.org/drawingml/2006/main">
            <a:pPr>
              <a:lnSpc>
                <a:spcPct val="102000"/>
              </a:lnSpc>
              <a:buNone/>
              <a:defRPr sz="2175" b="1">
                <a:solidFill>
                  <a:srgbClr val="9E1B32"/>
                </a:solidFill>
                <a:latin typeface="Arial"/>
                <a:ea typeface="Arial"/>
                <a:cs typeface="Arial"/>
              </a:defRPr>
            </a:pPr>
            <a:r>
              <a:rPr sz="2175" b="1">
                <a:solidFill>
                  <a:srgbClr val="9E1B32"/>
                </a:solidFill>
                <a:latin typeface="Arial"/>
                <a:ea typeface="Arial"/>
                <a:cs typeface="Arial"/>
              </a:rPr>
              <a:t>One limited-data model that learns Chinese-specific structure</a:t>
            </a:r>
          </a:p>
          <a:p xmlns:a="http://schemas.openxmlformats.org/drawingml/2006/main">
            <a:pPr>
              <a:lnSpc>
                <a:spcPct val="102000"/>
              </a:lnSpc>
              <a:buNone/>
              <a:defRPr sz="2175" b="1">
                <a:solidFill>
                  <a:srgbClr val="9E1B32"/>
                </a:solidFill>
                <a:latin typeface="Arial"/>
                <a:ea typeface="Arial"/>
                <a:cs typeface="Arial"/>
              </a:defRPr>
            </a:pPr>
            <a:r>
              <a:rPr sz="2175" b="1">
                <a:solidFill>
                  <a:srgbClr val="9E1B32"/>
                </a:solidFill>
                <a:latin typeface="Arial"/>
                <a:ea typeface="Arial"/>
                <a:cs typeface="Arial"/>
              </a:rPr>
              <a:t>and performs well across all three tracks</a:t>
            </a:r>
          </a:p>
        </p:txBody>
      </p:sp>
      <p:sp>
        <p:nvSpPr>
          <p:cNvPr id="13" name="slide-7-footer-label">
            <a:extLst xmlns:a="http://schemas.openxmlformats.org/drawingml/2006/main">
              <a:ext uri="{FF2B5EF4-FFF2-40B4-BE49-F238E27FC236}">
                <a16:creationId xmlns:a16="http://schemas.microsoft.com/office/drawing/2014/main" id="{8D8C51E4-B97A-4804-B78B-8814DB91018E}"/>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14" name="slide-7-footer-number">
            <a:extLst xmlns:a="http://schemas.openxmlformats.org/drawingml/2006/main">
              <a:ext uri="{FF2B5EF4-FFF2-40B4-BE49-F238E27FC236}">
                <a16:creationId xmlns:a16="http://schemas.microsoft.com/office/drawing/2014/main" id="{EB9C9B66-F4E8-4260-9B16-5F11B03D9F79}"/>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10</a:t>
            </a:r>
            <a:endParaRPr sz="1050" b="1">
              <a:solidFill>
                <a:srgbClr val="9E1B32"/>
              </a:solidFill>
              <a:latin typeface="Arial"/>
              <a:ea typeface="Arial"/>
              <a:cs typeface="Arial"/>
            </a:endParaRPr>
          </a:p>
        </p:txBody>
      </p:sp>
    </p:spTree>
    <p:extLst>
      <p:ext uri="{BB962C8B-B14F-4D97-AF65-F5344CB8AC3E}">
        <p14:creationId xmlns:p14="http://schemas.microsoft.com/office/powerpoint/2010/main" val="13211490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2026-10-30T17:40:06.1980000Z</dcterms:created>
  <dcterms:modified xsi:type="dcterms:W3CDTF">2026-10-30T17:40:06.1980000Z</dcterms:modified>
</coreProperties>
</file>