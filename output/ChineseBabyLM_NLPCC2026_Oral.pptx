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4f08c470ff4c54" /><Relationship Type="http://schemas.openxmlformats.org/officeDocument/2006/relationships/extended-properties" Target="/docProps/app.xml" Id="R4446c8383955476a" /><Relationship Type="http://schemas.openxmlformats.org/officeDocument/2006/relationships/officeDocument" Target="/ppt/presentation.xml" Id="Rd2a972ac056c4f00" /></Relationships>
</file>

<file path=ppt/presentation.xml><?xml version="1.0" encoding="utf-8"?>
<p:presentation xmlns:p="http://schemas.openxmlformats.org/presentationml/2006/main">
  <p:sldMasterIdLst>
    <p:sldMasterId xmlns:r="http://schemas.openxmlformats.org/officeDocument/2006/relationships" id="2147483648" r:id="R390a715ef8a54194"/>
  </p:sldMasterIdLst>
  <p:notesMasterIdLst>
    <p:notesMasterId xmlns:r="http://schemas.openxmlformats.org/officeDocument/2006/relationships" r:id="R170799b0e9714667"/>
  </p:notesMasterIdLst>
  <p:sldIdLst>
    <p:sldId xmlns:r="http://schemas.openxmlformats.org/officeDocument/2006/relationships" id="256" r:id="Rc538d3d51b904907"/>
    <p:sldId xmlns:r="http://schemas.openxmlformats.org/officeDocument/2006/relationships" id="257" r:id="R4dac9adabac24377"/>
    <p:sldId xmlns:r="http://schemas.openxmlformats.org/officeDocument/2006/relationships" id="258" r:id="R33da657f94bf416d"/>
    <p:sldId xmlns:r="http://schemas.openxmlformats.org/officeDocument/2006/relationships" id="259" r:id="Rece98261f0be4469"/>
    <p:sldId xmlns:r="http://schemas.openxmlformats.org/officeDocument/2006/relationships" id="260" r:id="R396ac3258c834f2e"/>
    <p:sldId xmlns:r="http://schemas.openxmlformats.org/officeDocument/2006/relationships" id="261" r:id="Rf874ebaa01c14138"/>
    <p:sldId xmlns:r="http://schemas.openxmlformats.org/officeDocument/2006/relationships" id="262" r:id="Rd0008ac42f8140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0dc49389f54c43" /><Relationship Type="http://schemas.openxmlformats.org/officeDocument/2006/relationships/slideMaster" Target="/ppt/slideMasters/slideMaster1.xml" Id="R390a715ef8a54194" /><Relationship Type="http://schemas.openxmlformats.org/officeDocument/2006/relationships/notesMaster" Target="/ppt/notesMasters/notesMaster1.xml" Id="R170799b0e9714667" /><Relationship Type="http://schemas.openxmlformats.org/officeDocument/2006/relationships/presProps" Target="/ppt/presProps.xml" Id="R32130978bd28479a" /><Relationship Type="http://schemas.openxmlformats.org/officeDocument/2006/relationships/tableStyles" Target="/ppt/tableStyles.xml" Id="Rf4c49e0ff2f1402f" /><Relationship Type="http://schemas.openxmlformats.org/officeDocument/2006/relationships/slide" Target="/ppt/slides/slide1.xml" Id="Rc538d3d51b904907" /><Relationship Type="http://schemas.openxmlformats.org/officeDocument/2006/relationships/slide" Target="/ppt/slides/slide2.xml" Id="R4dac9adabac24377" /><Relationship Type="http://schemas.openxmlformats.org/officeDocument/2006/relationships/slide" Target="/ppt/slides/slide3.xml" Id="R33da657f94bf416d" /><Relationship Type="http://schemas.openxmlformats.org/officeDocument/2006/relationships/slide" Target="/ppt/slides/slide4.xml" Id="Rece98261f0be4469" /><Relationship Type="http://schemas.openxmlformats.org/officeDocument/2006/relationships/slide" Target="/ppt/slides/slide5.xml" Id="R396ac3258c834f2e" /><Relationship Type="http://schemas.openxmlformats.org/officeDocument/2006/relationships/slide" Target="/ppt/slides/slide6.xml" Id="Rf874ebaa01c14138" /><Relationship Type="http://schemas.openxmlformats.org/officeDocument/2006/relationships/slide" Target="/ppt/slides/slide7.xml" Id="Rd0008ac42f8140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8d7dda6544d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99a66fa7e54a68" /><Relationship Type="http://schemas.openxmlformats.org/officeDocument/2006/relationships/notesMaster" Target="/ppt/notesMasters/notesMaster1.xml" Id="R854994d1e96d44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fc66807615443d" /><Relationship Type="http://schemas.openxmlformats.org/officeDocument/2006/relationships/notesMaster" Target="/ppt/notesMasters/notesMaster1.xml" Id="R73bc4fb0eba644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f5e08d75974e36" /><Relationship Type="http://schemas.openxmlformats.org/officeDocument/2006/relationships/notesMaster" Target="/ppt/notesMasters/notesMaster1.xml" Id="R2c913052deb0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0b8c12dcf54b9d" /><Relationship Type="http://schemas.openxmlformats.org/officeDocument/2006/relationships/notesMaster" Target="/ppt/notesMasters/notesMaster1.xml" Id="R5f8b7fb76c0747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41df2a8557463b" /><Relationship Type="http://schemas.openxmlformats.org/officeDocument/2006/relationships/notesMaster" Target="/ppt/notesMasters/notesMaster1.xml" Id="Re4e7e562fc2247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8eeb3e1d2c4958" /><Relationship Type="http://schemas.openxmlformats.org/officeDocument/2006/relationships/notesMaster" Target="/ppt/notesMasters/notesMaster1.xml" Id="R8687f49816b64a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70f4dcfbc4008" /><Relationship Type="http://schemas.openxmlformats.org/officeDocument/2006/relationships/notesMaster" Target="/ppt/notesMasters/notesMaster1.xml" Id="R103d9bb03fc2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work, we present the first ChineseBabyLM Challenge. We ask how much Chinese linguistic competence a model can acquire from a developmentally motivated data budget. We turn this question into a shared task with controlled training data and evaluation across language understanding, Chinese character knowledge, and cognitive alignment.</a:t>
            </a:r>
          </a:p>
          <a:p xmlns:a="http://schemas.openxmlformats.org/drawingml/2006/main">
            <a:r>
              <a:t/>
            </a:r>
          </a:p>
          <a:p xmlns:a="http://schemas.openxmlformats.org/drawingml/2006/main">
            <a:r>
              <a:t>Sources</a:t>
            </a:r>
          </a:p>
          <a:p xmlns:a="http://schemas.openxmlformats.org/drawingml/2006/main">
            <a:r>
              <a:t>Song et al. (2026), abstract and Section 1</a:t>
            </a:r>
          </a:p>
          <a:p xmlns:a="http://schemas.openxmlformats.org/drawingml/2006/main">
            <a:r>
              <a:t>ChineseBabyLM official website: https://chinese-babylm.github.io/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BabyLM studies sample-efficient pretraining under data budgets inspired by human language acquisition, but previous shared tasks focused mainly on English. Chinese adds language-specific questions about segmentation, compounding, and the structural and phonological information carried by characters. Our contribution is a complete shared-task framework: a standardized corpus and evaluation pipeline, 14 tasks across three complementary tracks, and an empirical comparison of 28 submitted models from 18 teams. This setup shifts attention from access to massive corpora toward choices in data, representation, and learning objective.</a:t>
            </a:r>
          </a:p>
          <a:p xmlns:a="http://schemas.openxmlformats.org/drawingml/2006/main">
            <a:r>
              <a:t/>
            </a:r>
          </a:p>
          <a:p xmlns:a="http://schemas.openxmlformats.org/drawingml/2006/main">
            <a:r>
              <a:t>Sources</a:t>
            </a:r>
          </a:p>
          <a:p xmlns:a="http://schemas.openxmlformats.org/drawingml/2006/main">
            <a:r>
              <a:t>Song et al. (2026), Sections 1 and 3</a:t>
            </a:r>
          </a:p>
          <a:p xmlns:a="http://schemas.openxmlformats.org/drawingml/2006/main">
            <a:r>
              <a:t>ChineseBabyLM overview: https://chinese-babylm.github.io/#overview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provided a 102-million-word corpus derived from the Chinese portion of BabyBabelLM. It combines child-available and child-directed speech with books, educational material, subtitles, and child-oriented reference text. Teams could instead compile their own corpus under the same limit, measured with a fixed Jieba word-counting procedure. We placed no restriction on the tokenizer, architecture, or number of epochs. However, every model had to start from random initialization. Pretrained checkpoints and distillation from existing large models were prohibited. The protocol therefore controlled access to linguistic data while leaving the main modeling decisions open.</a:t>
            </a:r>
          </a:p>
          <a:p xmlns:a="http://schemas.openxmlformats.org/drawingml/2006/main">
            <a:r>
              <a:t/>
            </a:r>
          </a:p>
          <a:p xmlns:a="http://schemas.openxmlformats.org/drawingml/2006/main">
            <a:r>
              <a:t>Sources</a:t>
            </a:r>
          </a:p>
          <a:p xmlns:a="http://schemas.openxmlformats.org/drawingml/2006/main">
            <a:r>
              <a:t>Song et al. (2026), Section 3</a:t>
            </a:r>
          </a:p>
          <a:p xmlns:a="http://schemas.openxmlformats.org/drawingml/2006/main">
            <a:r>
              <a:t>ChineseBabyLM training data: https://chinese-babylm.github.io/#data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evaluated models on 14 tasks. The NLU track combined two zero-shot minimal-pair benchmarks with six fine-tuning tasks, covering grammar, semantic compatibility, inference, classification, coreference, and reading comprehension. The Hanzi track used four minimal-pair tasks to test character structure and pinyin, including initials, finals, and tones. Minimal-pair tasks used accuracy, while an unrecognized target or component counted as a failure in the Hanzi evaluation. The Cognitive Modeling track fitted encoding models from hidden states to human fMRI responses for isolated words and spoken stories, then used correlation-based scores. We combined open development tasks with hidden final tasks to limit direct tuning to the test set.</a:t>
            </a:r>
          </a:p>
          <a:p xmlns:a="http://schemas.openxmlformats.org/drawingml/2006/main">
            <a:r>
              <a:t/>
            </a:r>
          </a:p>
          <a:p xmlns:a="http://schemas.openxmlformats.org/drawingml/2006/main">
            <a:r>
              <a:t>Sources</a:t>
            </a:r>
          </a:p>
          <a:p xmlns:a="http://schemas.openxmlformats.org/drawingml/2006/main">
            <a:r>
              <a:t>Song et al. (2026), Section 2 and Table 1</a:t>
            </a:r>
          </a:p>
          <a:p xmlns:a="http://schemas.openxmlformats.org/drawingml/2006/main">
            <a:r>
              <a:t>ChineseBabyLM evaluation tracks: https://chinese-babylm.github.io/#tracks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received 28 distinct models and 74 result files from 18 teams. For the official leaderboard, we retained one system per team. Before the competition, our four 14-million-parameter baselines covered BERT, T5, Mamba, and Pythia. BERT was strongest on NLU and cognitive modeling, while Mamba led the Hanzi baseline results. Among submissions, BabyDragon ranked first overall with 61.49, followed by KADeBERTa-v2 and the TUM pinyin-code system. We computed the overall score as a macro-average of the three tracks, giving each track equal weight, and assigned zero to missing tasks. BabyDeBERTa-zh won NLU, RepDuet received the verified Cognitive Modeling award, and BabyDragon won Hanzi. Thirteen of the 18 ranked systems used BERT-family or DeBERTa-v2 encoders, although a decoder-only GPT-2 system placed third overall.</a:t>
            </a:r>
          </a:p>
          <a:p xmlns:a="http://schemas.openxmlformats.org/drawingml/2006/main">
            <a:r>
              <a:t/>
            </a:r>
          </a:p>
          <a:p xmlns:a="http://schemas.openxmlformats.org/drawingml/2006/main">
            <a:r>
              <a:t>Sources</a:t>
            </a:r>
          </a:p>
          <a:p xmlns:a="http://schemas.openxmlformats.org/drawingml/2006/main">
            <a:r>
              <a:t>Song et al. (2026), Section 5 and Table 4</a:t>
            </a:r>
          </a:p>
          <a:p xmlns:a="http://schemas.openxmlformats.org/drawingml/2006/main">
            <a:r>
              <a:t>ChineseBabyLM final leaderboard: https://chinese-babylm.github.io/#results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Looking across the full leaderboard, encoder-only architectures dominated. Eleven ranked systems used BERT and two used DeBERTa-v2, compared with five GPT-2 systems. The top two systems were encoder-only, although a decoder-only system placed third, so competitive performance was not limited to one architecture. The larger finding is the difference in score dispersion. NLU covered about 17 points, Cognitive Modeling fewer than four, and Hanzi about 90. Because the overall result gives equal weight to each track, the high-variance Hanzi track strongly separated systems in the final ranking. No system won every track, which confirms that the benchmark captures distinct capabilities, but the unequal spreads also reveal differences in task discriminability.</a:t>
            </a:r>
          </a:p>
          <a:p xmlns:a="http://schemas.openxmlformats.org/drawingml/2006/main">
            <a:r>
              <a:t/>
            </a:r>
          </a:p>
          <a:p xmlns:a="http://schemas.openxmlformats.org/drawingml/2006/main">
            <a:r>
              <a:t>Sources</a:t>
            </a:r>
          </a:p>
          <a:p xmlns:a="http://schemas.openxmlformats.org/drawingml/2006/main">
            <a:r>
              <a:t>Song et al. (2026), Sections 5.2 and 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suggest concrete changes for future editions. ZhoBLiMP, the NLI tasks, and the Hanzi benchmarks separated systems well and should remain, with harder variants where top scores approach the ceiling. Word-level fMRI, AFQMC, and CLUEWSC produced compressed results and should be revised or replaced. We can also expand the benchmark with Chinese word segmentation, morphology, discourse coherence, reading-time modeling, and age-of-acquisition prediction. More broadly, the comparison with English BabyLM shows why language-specific evaluation matters. Our next research target is a unified limited-data model that performs competitively across NLU, Hanzi knowledge, and cognitive alignment rather than optimizing for only one track.</a:t>
            </a:r>
          </a:p>
          <a:p xmlns:a="http://schemas.openxmlformats.org/drawingml/2006/main">
            <a:r>
              <a:t/>
            </a:r>
          </a:p>
          <a:p xmlns:a="http://schemas.openxmlformats.org/drawingml/2006/main">
            <a:r>
              <a:t>Sources</a:t>
            </a:r>
          </a:p>
          <a:p xmlns:a="http://schemas.openxmlformats.org/drawingml/2006/main">
            <a:r>
              <a:t>Song et al. (2026), Sections 6.2, 6.3,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fe32a6340548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bb63dd466944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63f071213841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0c250a280141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8839f1aa4643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695888117645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6A9673-5D07-46C3-8F83-113A27E85A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D3E1CE-BC64-4461-8A34-74C91FB8DF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434628-3155-465F-AAE1-1D0E4AF1DB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96167-7104-4B99-873C-3502EE98BA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AFDFC0-BFD8-4A57-8909-CE1338D0F4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D73B6F-16D3-4B6E-814F-70AF88F910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067351-C155-4ED4-A5C1-B3AFE04EF8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79115E-FD2D-4101-9EF1-7E3659C16C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BB8FB5-01E0-4A1D-84B6-6082729BBA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2AAB0B-F1A2-4693-ABE8-D154162C5B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d8c8f5712746f3" /><Relationship Type="http://schemas.openxmlformats.org/officeDocument/2006/relationships/slideLayout" Target="/ppt/slideLayouts/slideLayout1.xml" Id="Rd615500b4b374620" /><Relationship Type="http://schemas.openxmlformats.org/officeDocument/2006/relationships/slideLayout" Target="/ppt/slideLayouts/slideLayout2.xml" Id="R87873df0b4a648fa" /><Relationship Type="http://schemas.openxmlformats.org/officeDocument/2006/relationships/slideLayout" Target="/ppt/slideLayouts/slideLayout3.xml" Id="R775c776886f14a50" /><Relationship Type="http://schemas.openxmlformats.org/officeDocument/2006/relationships/slideLayout" Target="/ppt/slideLayouts/slideLayout4.xml" Id="R9a8bb150216d4dd3" /><Relationship Type="http://schemas.openxmlformats.org/officeDocument/2006/relationships/slideLayout" Target="/ppt/slideLayouts/slideLayout5.xml" Id="R435ea27626364cbb" /><Relationship Type="http://schemas.openxmlformats.org/officeDocument/2006/relationships/slideLayout" Target="/ppt/slideLayouts/slideLayout6.xml" Id="Rbbf41f38ac834e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15500b4b374620"/>
    <p:sldLayoutId xmlns:r="http://schemas.openxmlformats.org/officeDocument/2006/relationships" id="2147483650" r:id="R87873df0b4a648fa"/>
    <p:sldLayoutId xmlns:r="http://schemas.openxmlformats.org/officeDocument/2006/relationships" id="2147483651" r:id="R775c776886f14a50"/>
    <p:sldLayoutId xmlns:r="http://schemas.openxmlformats.org/officeDocument/2006/relationships" id="2147483652" r:id="R9a8bb150216d4dd3"/>
    <p:sldLayoutId xmlns:r="http://schemas.openxmlformats.org/officeDocument/2006/relationships" id="2147483653" r:id="R435ea27626364cbb"/>
    <p:sldLayoutId xmlns:r="http://schemas.openxmlformats.org/officeDocument/2006/relationships" id="2147483654" r:id="Rbbf41f38ac834e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ede3d31d264ee8" /><Relationship Type="http://schemas.openxmlformats.org/officeDocument/2006/relationships/notesSlide" Target="/ppt/notesSlides/notesSlide1.xml" Id="Ra14c7465dcf54d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2ffba615b44f9c" /><Relationship Type="http://schemas.openxmlformats.org/officeDocument/2006/relationships/notesSlide" Target="/ppt/notesSlides/notesSlide2.xml" Id="R9c3e88ceee444b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8a1a2f0dc4418e" /><Relationship Type="http://schemas.openxmlformats.org/officeDocument/2006/relationships/notesSlide" Target="/ppt/notesSlides/notesSlide3.xml" Id="R804e5c18343043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511d616e784ac7" /><Relationship Type="http://schemas.openxmlformats.org/officeDocument/2006/relationships/notesSlide" Target="/ppt/notesSlides/notesSlide4.xml" Id="R2ceb740db9354f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556b75cb6c4e5c" /><Relationship Type="http://schemas.openxmlformats.org/officeDocument/2006/relationships/chart" Target="/ppt/slides/charts/chart1.xml" Id="R26b3244879a24248" /><Relationship Type="http://schemas.openxmlformats.org/officeDocument/2006/relationships/notesSlide" Target="/ppt/notesSlides/notesSlide5.xml" Id="R1c2a5a3fc1e144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0328529a5d47b9" /><Relationship Type="http://schemas.openxmlformats.org/officeDocument/2006/relationships/chart" Target="/ppt/slides/charts/chart2.xml" Id="R41028b8ad29d4239" /><Relationship Type="http://schemas.openxmlformats.org/officeDocument/2006/relationships/chart" Target="/ppt/slides/charts/chart3.xml" Id="Rced63e3f1621485a" /><Relationship Type="http://schemas.openxmlformats.org/officeDocument/2006/relationships/notesSlide" Target="/ppt/notesSlides/notesSlide6.xml" Id="R0a2ebe2d98b148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5a4fe879fa4202" /><Relationship Type="http://schemas.openxmlformats.org/officeDocument/2006/relationships/notesSlide" Target="/ppt/notesSlides/notesSlide7.xml" Id="R416fedc315c0445d" /></Relationships>
</file>

<file path=ppt/slides/charts/chart1.xml><?xml version="1.0" encoding="utf-8"?>
<c:chartSpace xmlns:c="http://schemas.openxmlformats.org/drawingml/2006/chart">
  <c:lang val="en-US"/>
  <c:chart>
    <c:plotArea>
      <c:barChart>
        <c:barDir val="bar"/>
        <c:grouping val="clustered"/>
        <c:varyColors val="0"/>
        <c:ser>
          <c:idx val="0"/>
          <c:order val="0"/>
          <c:tx>
            <c:v>Overall</c:v>
          </c:tx>
          <c:spPr>
            <a:solidFill xmlns:a="http://schemas.openxmlformats.org/drawingml/2006/main">
              <a:srgbClr val="9E1B32"/>
            </a:solidFill>
          </c:spPr>
          <c:invertIfNegative val="0"/>
          <c:dPt>
            <c:idx val="0"/>
            <c:invertIfNegative val="0"/>
            <c:spPr>
              <a:solidFill xmlns:a="http://schemas.openxmlformats.org/drawingml/2006/main">
                <a:srgbClr val="9E1B32"/>
              </a:solidFill>
            </c:spPr>
          </c:dPt>
          <c:dPt>
            <c:idx val="1"/>
            <c:invertIfNegative val="0"/>
            <c:spPr>
              <a:solidFill xmlns:a="http://schemas.openxmlformats.org/drawingml/2006/main">
                <a:srgbClr val="B43A50"/>
              </a:solidFill>
            </c:spPr>
          </c:dPt>
          <c:dPt>
            <c:idx val="2"/>
            <c:invertIfNegative val="0"/>
            <c:spPr>
              <a:solidFill xmlns:a="http://schemas.openxmlformats.org/drawingml/2006/main">
                <a:srgbClr val="C49A2C"/>
              </a:solidFill>
            </c:spPr>
          </c:dPt>
          <c:cat>
            <c:strLit>
              <c:ptCount val="3"/>
              <c:pt idx="0">
                <c:v>BabyDragon-v4</c:v>
              </c:pt>
              <c:pt idx="1">
                <c:v>KADeBERTa-v2</c:v>
              </c:pt>
              <c:pt idx="2">
                <c:v>Pinyin-code-97M</c:v>
              </c:pt>
            </c:strLit>
          </c:cat>
          <c:val>
            <c:numLit>
              <c:formatCode>General</c:formatCode>
              <c:ptCount val="3"/>
              <c:pt idx="0">
                <c:v>61.49</c:v>
              </c:pt>
              <c:pt idx="1">
                <c:v>57.79</c:v>
              </c:pt>
              <c:pt idx="2">
                <c:v>54.9</c:v>
              </c:pt>
            </c:numLit>
          </c:val>
        </c:ser>
        <c:dLbls>
          <c:numFmt formatCode="0.0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7D2"/>
              </a:solidFill>
              <a:prstDash val="solid"/>
            </a:ln>
          </c:spPr>
        </c:majorGridlines>
        <c:numFmt formatCode="0"/>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75">
                <a:solidFill>
                  <a:srgbClr val="686E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Systems</c:v>
          </c:tx>
          <c:spPr>
            <a:solidFill xmlns:a="http://schemas.openxmlformats.org/drawingml/2006/main">
              <a:srgbClr val="9E1B32"/>
            </a:solidFill>
          </c:spPr>
          <c:invertIfNegative val="0"/>
          <c:dPt>
            <c:idx val="0"/>
            <c:invertIfNegative val="0"/>
            <c:spPr>
              <a:solidFill xmlns:a="http://schemas.openxmlformats.org/drawingml/2006/main">
                <a:srgbClr val="9E1B32"/>
              </a:solidFill>
            </c:spPr>
          </c:dPt>
          <c:dPt>
            <c:idx val="1"/>
            <c:invertIfNegative val="0"/>
            <c:spPr>
              <a:solidFill xmlns:a="http://schemas.openxmlformats.org/drawingml/2006/main">
                <a:srgbClr val="C49A2C"/>
              </a:solidFill>
            </c:spPr>
          </c:dPt>
          <c:cat>
            <c:strLit>
              <c:ptCount val="2"/>
              <c:pt idx="0">
                <c:v>BERT family</c:v>
              </c:pt>
              <c:pt idx="1">
                <c:v>GPT-2</c:v>
              </c:pt>
            </c:strLit>
          </c:cat>
          <c:val>
            <c:numLit>
              <c:formatCode>General</c:formatCode>
              <c:ptCount val="2"/>
              <c:pt idx="0">
                <c:v>13</c:v>
              </c:pt>
              <c:pt idx="1">
                <c:v>5</c:v>
              </c:pt>
            </c:numLit>
          </c:val>
        </c:ser>
        <c:dLbls>
          <c:numFmt formatCode="0" sourceLinked="0"/>
          <c:txPr>
            <a:bodyPr xmlns:a="http://schemas.openxmlformats.org/drawingml/2006/main" anchorCtr="1"/>
            <a:lstStyle xmlns:a="http://schemas.openxmlformats.org/drawingml/2006/main"/>
            <a:p xmlns:a="http://schemas.openxmlformats.org/drawingml/2006/main">
              <a:pPr>
                <a:defRPr sz="1200"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Spread</c:v>
          </c:tx>
          <c:spPr>
            <a:solidFill xmlns:a="http://schemas.openxmlformats.org/drawingml/2006/main">
              <a:srgbClr val="9E1B32"/>
            </a:solidFill>
          </c:spPr>
          <c:invertIfNegative val="0"/>
          <c:dPt>
            <c:idx val="0"/>
            <c:invertIfNegative val="0"/>
            <c:spPr>
              <a:solidFill xmlns:a="http://schemas.openxmlformats.org/drawingml/2006/main">
                <a:srgbClr val="233342"/>
              </a:solidFill>
            </c:spPr>
          </c:dPt>
          <c:dPt>
            <c:idx val="1"/>
            <c:invertIfNegative val="0"/>
            <c:spPr>
              <a:solidFill xmlns:a="http://schemas.openxmlformats.org/drawingml/2006/main">
                <a:srgbClr val="C49A2C"/>
              </a:solidFill>
            </c:spPr>
          </c:dPt>
          <c:dPt>
            <c:idx val="2"/>
            <c:invertIfNegative val="0"/>
            <c:spPr>
              <a:solidFill xmlns:a="http://schemas.openxmlformats.org/drawingml/2006/main">
                <a:srgbClr val="9E1B32"/>
              </a:solidFill>
            </c:spPr>
          </c:dPt>
          <c:cat>
            <c:strLit>
              <c:ptCount val="3"/>
              <c:pt idx="0">
                <c:v>NLU</c:v>
              </c:pt>
              <c:pt idx="1">
                <c:v>Cognitive</c:v>
              </c:pt>
              <c:pt idx="2">
                <c:v>Hanzi</c:v>
              </c:pt>
            </c:strLit>
          </c:cat>
          <c:val>
            <c:numLit>
              <c:formatCode>General</c:formatCode>
              <c:ptCount val="3"/>
              <c:pt idx="0">
                <c:v>17.01</c:v>
              </c:pt>
              <c:pt idx="1">
                <c:v>3.72</c:v>
              </c:pt>
              <c:pt idx="2">
                <c:v>90.37</c:v>
              </c:pt>
            </c:numLit>
          </c:val>
        </c:ser>
        <c:dLbls>
          <c:numFmt formatCode="0.0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accent-field">
            <a:extLst xmlns:a="http://schemas.openxmlformats.org/drawingml/2006/main">
              <a:ext uri="{FF2B5EF4-FFF2-40B4-BE49-F238E27FC236}">
                <a16:creationId xmlns:a16="http://schemas.microsoft.com/office/drawing/2014/main" id="{8521BB10-259A-434C-A514-70198DA6FF14}"/>
              </a:ext>
            </a:extLst>
          </p:cNvPr>
          <p:cNvSpPr>
            <a:spLocks xmlns:a="http://schemas.openxmlformats.org/drawingml/2006/main" noGrp="1"/>
          </p:cNvSpPr>
          <p:nvPr/>
        </p:nvSpPr>
        <p:spPr>
          <a:xfrm xmlns:a="http://schemas.openxmlformats.org/drawingml/2006/main">
            <a:off x="9372600" y="0"/>
            <a:ext cx="2819400" cy="68580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2" name="cover-102m">
            <a:extLst xmlns:a="http://schemas.openxmlformats.org/drawingml/2006/main">
              <a:ext uri="{FF2B5EF4-FFF2-40B4-BE49-F238E27FC236}">
                <a16:creationId xmlns:a16="http://schemas.microsoft.com/office/drawing/2014/main" id="{580D6CCE-0FD4-47CA-AC3E-2AA81E3232AF}"/>
              </a:ext>
            </a:extLst>
          </p:cNvPr>
          <p:cNvSpPr>
            <a:spLocks xmlns:a="http://schemas.openxmlformats.org/drawingml/2006/main" noGrp="1"/>
          </p:cNvSpPr>
          <p:nvPr/>
        </p:nvSpPr>
        <p:spPr>
          <a:xfrm xmlns:a="http://schemas.openxmlformats.org/drawingml/2006/main">
            <a:off x="8991600" y="1952625"/>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8400" b="1">
                <a:solidFill>
                  <a:srgbClr val="E5C9D0"/>
                </a:solidFill>
                <a:latin typeface="Arial"/>
                <a:ea typeface="Arial"/>
                <a:cs typeface="Arial"/>
              </a:defRPr>
            </a:defPPr>
            <a:lvl1pPr algn="ctr">
              <a:defRPr sz="8400" b="1">
                <a:solidFill>
                  <a:srgbClr val="E5C9D0"/>
                </a:solidFill>
                <a:latin typeface="Arial"/>
                <a:ea typeface="Arial"/>
                <a:cs typeface="Arial"/>
              </a:defRPr>
            </a:lvl1pPr>
            <a:lvl2pPr algn="ctr">
              <a:defRPr sz="8400" b="1">
                <a:solidFill>
                  <a:srgbClr val="E5C9D0"/>
                </a:solidFill>
                <a:latin typeface="Arial"/>
                <a:ea typeface="Arial"/>
                <a:cs typeface="Arial"/>
              </a:defRPr>
            </a:lvl2pPr>
            <a:lvl3pPr algn="ctr">
              <a:defRPr sz="8400" b="1">
                <a:solidFill>
                  <a:srgbClr val="E5C9D0"/>
                </a:solidFill>
                <a:latin typeface="Arial"/>
                <a:ea typeface="Arial"/>
                <a:cs typeface="Arial"/>
              </a:defRPr>
            </a:lvl3pPr>
            <a:lvl4pPr algn="ctr">
              <a:defRPr sz="8400" b="1">
                <a:solidFill>
                  <a:srgbClr val="E5C9D0"/>
                </a:solidFill>
                <a:latin typeface="Arial"/>
                <a:ea typeface="Arial"/>
                <a:cs typeface="Arial"/>
              </a:defRPr>
            </a:lvl4pPr>
            <a:lvl5pPr algn="ctr">
              <a:defRPr sz="8400" b="1">
                <a:solidFill>
                  <a:srgbClr val="E5C9D0"/>
                </a:solidFill>
                <a:latin typeface="Arial"/>
                <a:ea typeface="Arial"/>
                <a:cs typeface="Arial"/>
              </a:defRPr>
            </a:lvl5pPr>
            <a:lvl6pPr algn="ctr">
              <a:defRPr sz="8400" b="1">
                <a:solidFill>
                  <a:srgbClr val="E5C9D0"/>
                </a:solidFill>
                <a:latin typeface="Arial"/>
                <a:ea typeface="Arial"/>
                <a:cs typeface="Arial"/>
              </a:defRPr>
            </a:lvl6pPr>
            <a:lvl7pPr algn="ctr">
              <a:defRPr sz="8400" b="1">
                <a:solidFill>
                  <a:srgbClr val="E5C9D0"/>
                </a:solidFill>
                <a:latin typeface="Arial"/>
                <a:ea typeface="Arial"/>
                <a:cs typeface="Arial"/>
              </a:defRPr>
            </a:lvl7pPr>
            <a:lvl8pPr algn="ctr">
              <a:defRPr sz="8400" b="1">
                <a:solidFill>
                  <a:srgbClr val="E5C9D0"/>
                </a:solidFill>
                <a:latin typeface="Arial"/>
                <a:ea typeface="Arial"/>
                <a:cs typeface="Arial"/>
              </a:defRPr>
            </a:lvl8pPr>
            <a:lvl9pPr algn="ctr">
              <a:defRPr sz="8400" b="1">
                <a:solidFill>
                  <a:srgbClr val="E5C9D0"/>
                </a:solidFill>
                <a:latin typeface="Arial"/>
                <a:ea typeface="Arial"/>
                <a:cs typeface="Arial"/>
              </a:defRPr>
            </a:lvl9pPr>
          </a:lstStyle>
          <a:p xmlns:a="http://schemas.openxmlformats.org/drawingml/2006/main">
            <a:pPr algn="ctr">
              <a:defRPr sz="8400" b="1">
                <a:solidFill>
                  <a:srgbClr val="E5C9D0"/>
                </a:solidFill>
                <a:latin typeface="Arial"/>
                <a:ea typeface="Arial"/>
                <a:cs typeface="Arial"/>
              </a:defRPr>
            </a:pPr>
            <a:r>
              <a:rPr sz="8400" b="1">
                <a:solidFill>
                  <a:srgbClr val="E5C9D0"/>
                </a:solidFill>
                <a:latin typeface="Arial"/>
                <a:ea typeface="Arial"/>
                <a:cs typeface="Arial"/>
              </a:rPr>
              <a:t>102M</a:t>
            </a:r>
          </a:p>
        </p:txBody>
      </p:sp>
      <p:sp>
        <p:nvSpPr>
          <p:cNvPr id="3" name="cover-words">
            <a:extLst xmlns:a="http://schemas.openxmlformats.org/drawingml/2006/main">
              <a:ext uri="{FF2B5EF4-FFF2-40B4-BE49-F238E27FC236}">
                <a16:creationId xmlns:a16="http://schemas.microsoft.com/office/drawing/2014/main" id="{EA6B7D28-87A7-4D57-89CC-CA9887BB6465}"/>
              </a:ext>
            </a:extLst>
          </p:cNvPr>
          <p:cNvSpPr>
            <a:spLocks xmlns:a="http://schemas.openxmlformats.org/drawingml/2006/main" noGrp="1"/>
          </p:cNvSpPr>
          <p:nvPr/>
        </p:nvSpPr>
        <p:spPr>
          <a:xfrm xmlns:a="http://schemas.openxmlformats.org/drawingml/2006/main">
            <a:off x="9620250" y="31337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500" b="1">
                <a:solidFill>
                  <a:srgbClr val="9E1B32"/>
                </a:solidFill>
                <a:latin typeface="Arial"/>
                <a:ea typeface="Arial"/>
                <a:cs typeface="Arial"/>
              </a:defRPr>
            </a:defPPr>
            <a:lvl1pPr algn="ctr">
              <a:defRPr sz="1500" b="1">
                <a:solidFill>
                  <a:srgbClr val="9E1B32"/>
                </a:solidFill>
                <a:latin typeface="Arial"/>
                <a:ea typeface="Arial"/>
                <a:cs typeface="Arial"/>
              </a:defRPr>
            </a:lvl1pPr>
            <a:lvl2pPr algn="ctr">
              <a:defRPr sz="1500" b="1">
                <a:solidFill>
                  <a:srgbClr val="9E1B32"/>
                </a:solidFill>
                <a:latin typeface="Arial"/>
                <a:ea typeface="Arial"/>
                <a:cs typeface="Arial"/>
              </a:defRPr>
            </a:lvl2pPr>
            <a:lvl3pPr algn="ctr">
              <a:defRPr sz="1500" b="1">
                <a:solidFill>
                  <a:srgbClr val="9E1B32"/>
                </a:solidFill>
                <a:latin typeface="Arial"/>
                <a:ea typeface="Arial"/>
                <a:cs typeface="Arial"/>
              </a:defRPr>
            </a:lvl3pPr>
            <a:lvl4pPr algn="ctr">
              <a:defRPr sz="1500" b="1">
                <a:solidFill>
                  <a:srgbClr val="9E1B32"/>
                </a:solidFill>
                <a:latin typeface="Arial"/>
                <a:ea typeface="Arial"/>
                <a:cs typeface="Arial"/>
              </a:defRPr>
            </a:lvl4pPr>
            <a:lvl5pPr algn="ctr">
              <a:defRPr sz="1500" b="1">
                <a:solidFill>
                  <a:srgbClr val="9E1B32"/>
                </a:solidFill>
                <a:latin typeface="Arial"/>
                <a:ea typeface="Arial"/>
                <a:cs typeface="Arial"/>
              </a:defRPr>
            </a:lvl5pPr>
            <a:lvl6pPr algn="ctr">
              <a:defRPr sz="1500" b="1">
                <a:solidFill>
                  <a:srgbClr val="9E1B32"/>
                </a:solidFill>
                <a:latin typeface="Arial"/>
                <a:ea typeface="Arial"/>
                <a:cs typeface="Arial"/>
              </a:defRPr>
            </a:lvl6pPr>
            <a:lvl7pPr algn="ctr">
              <a:defRPr sz="1500" b="1">
                <a:solidFill>
                  <a:srgbClr val="9E1B32"/>
                </a:solidFill>
                <a:latin typeface="Arial"/>
                <a:ea typeface="Arial"/>
                <a:cs typeface="Arial"/>
              </a:defRPr>
            </a:lvl7pPr>
            <a:lvl8pPr algn="ctr">
              <a:defRPr sz="1500" b="1">
                <a:solidFill>
                  <a:srgbClr val="9E1B32"/>
                </a:solidFill>
                <a:latin typeface="Arial"/>
                <a:ea typeface="Arial"/>
                <a:cs typeface="Arial"/>
              </a:defRPr>
            </a:lvl8pPr>
            <a:lvl9pPr algn="ctr">
              <a:defRPr sz="1500" b="1">
                <a:solidFill>
                  <a:srgbClr val="9E1B32"/>
                </a:solidFill>
                <a:latin typeface="Arial"/>
                <a:ea typeface="Arial"/>
                <a:cs typeface="Arial"/>
              </a:defRPr>
            </a:lvl9pPr>
          </a:lstStyle>
          <a:p xmlns:a="http://schemas.openxmlformats.org/drawingml/2006/main">
            <a:pPr algn="ctr">
              <a:defRPr sz="1500" b="1">
                <a:solidFill>
                  <a:srgbClr val="9E1B32"/>
                </a:solidFill>
                <a:latin typeface="Arial"/>
                <a:ea typeface="Arial"/>
                <a:cs typeface="Arial"/>
              </a:defRPr>
            </a:pPr>
            <a:r>
              <a:rPr sz="1500" b="1">
                <a:solidFill>
                  <a:srgbClr val="9E1B32"/>
                </a:solidFill>
                <a:latin typeface="Arial"/>
                <a:ea typeface="Arial"/>
                <a:cs typeface="Arial"/>
              </a:rPr>
              <a:t>WORDS</a:t>
            </a:r>
          </a:p>
        </p:txBody>
      </p:sp>
      <p:sp>
        <p:nvSpPr>
          <p:cNvPr id="4" name="cover-gold-rule">
            <a:extLst xmlns:a="http://schemas.openxmlformats.org/drawingml/2006/main">
              <a:ext uri="{FF2B5EF4-FFF2-40B4-BE49-F238E27FC236}">
                <a16:creationId xmlns:a16="http://schemas.microsoft.com/office/drawing/2014/main" id="{1D993B75-2F06-4149-B1C1-49A9BEA1293D}"/>
              </a:ext>
            </a:extLst>
          </p:cNvPr>
          <p:cNvSpPr>
            <a:spLocks xmlns:a="http://schemas.openxmlformats.org/drawingml/2006/main" noGrp="1"/>
          </p:cNvSpPr>
          <p:nvPr/>
        </p:nvSpPr>
        <p:spPr>
          <a:xfrm xmlns:a="http://schemas.openxmlformats.org/drawingml/2006/main">
            <a:off x="723900" y="933450"/>
            <a:ext cx="1104900" cy="47625"/>
          </a:xfrm>
          <a:prstGeom xmlns:a="http://schemas.openxmlformats.org/drawingml/2006/main" prst="rect">
            <a:avLst/>
          </a:prstGeom>
          <a:solidFill xmlns:a="http://schemas.openxmlformats.org/drawingml/2006/main">
            <a:srgbClr val="C49A2C"/>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86CD52E3-8B61-498F-B748-4663B962EC45}"/>
              </a:ext>
            </a:extLst>
          </p:cNvPr>
          <p:cNvSpPr>
            <a:spLocks xmlns:a="http://schemas.openxmlformats.org/drawingml/2006/main" noGrp="1"/>
          </p:cNvSpPr>
          <p:nvPr/>
        </p:nvSpPr>
        <p:spPr>
          <a:xfrm xmlns:a="http://schemas.openxmlformats.org/drawingml/2006/main">
            <a:off x="723900" y="1219200"/>
            <a:ext cx="790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6667"/>
          </a:bodyPr>
          <a:lstStyle xmlns:a="http://schemas.openxmlformats.org/drawingml/2006/main">
            <a:defPPr>
              <a:defRPr sz="3750" b="1">
                <a:solidFill>
                  <a:srgbClr val="20242A"/>
                </a:solidFill>
                <a:latin typeface="Arial"/>
                <a:ea typeface="Arial"/>
                <a:cs typeface="Arial"/>
              </a:defRPr>
            </a:defPPr>
            <a:lvl1pPr>
              <a:defRPr sz="3750" b="1">
                <a:solidFill>
                  <a:srgbClr val="20242A"/>
                </a:solidFill>
                <a:latin typeface="Arial"/>
                <a:ea typeface="Arial"/>
                <a:cs typeface="Arial"/>
              </a:defRPr>
            </a:lvl1pPr>
            <a:lvl2pPr>
              <a:defRPr sz="3750" b="1">
                <a:solidFill>
                  <a:srgbClr val="20242A"/>
                </a:solidFill>
                <a:latin typeface="Arial"/>
                <a:ea typeface="Arial"/>
                <a:cs typeface="Arial"/>
              </a:defRPr>
            </a:lvl2pPr>
            <a:lvl3pPr>
              <a:defRPr sz="3750" b="1">
                <a:solidFill>
                  <a:srgbClr val="20242A"/>
                </a:solidFill>
                <a:latin typeface="Arial"/>
                <a:ea typeface="Arial"/>
                <a:cs typeface="Arial"/>
              </a:defRPr>
            </a:lvl3pPr>
            <a:lvl4pPr>
              <a:defRPr sz="3750" b="1">
                <a:solidFill>
                  <a:srgbClr val="20242A"/>
                </a:solidFill>
                <a:latin typeface="Arial"/>
                <a:ea typeface="Arial"/>
                <a:cs typeface="Arial"/>
              </a:defRPr>
            </a:lvl4pPr>
            <a:lvl5pPr>
              <a:defRPr sz="3750" b="1">
                <a:solidFill>
                  <a:srgbClr val="20242A"/>
                </a:solidFill>
                <a:latin typeface="Arial"/>
                <a:ea typeface="Arial"/>
                <a:cs typeface="Arial"/>
              </a:defRPr>
            </a:lvl5pPr>
            <a:lvl6pPr>
              <a:defRPr sz="3750" b="1">
                <a:solidFill>
                  <a:srgbClr val="20242A"/>
                </a:solidFill>
                <a:latin typeface="Arial"/>
                <a:ea typeface="Arial"/>
                <a:cs typeface="Arial"/>
              </a:defRPr>
            </a:lvl6pPr>
            <a:lvl7pPr>
              <a:defRPr sz="3750" b="1">
                <a:solidFill>
                  <a:srgbClr val="20242A"/>
                </a:solidFill>
                <a:latin typeface="Arial"/>
                <a:ea typeface="Arial"/>
                <a:cs typeface="Arial"/>
              </a:defRPr>
            </a:lvl7pPr>
            <a:lvl8pPr>
              <a:defRPr sz="3750" b="1">
                <a:solidFill>
                  <a:srgbClr val="20242A"/>
                </a:solidFill>
                <a:latin typeface="Arial"/>
                <a:ea typeface="Arial"/>
                <a:cs typeface="Arial"/>
              </a:defRPr>
            </a:lvl8pPr>
            <a:lvl9pPr>
              <a:defRPr sz="3750" b="1">
                <a:solidFill>
                  <a:srgbClr val="20242A"/>
                </a:solidFill>
                <a:latin typeface="Arial"/>
                <a:ea typeface="Arial"/>
                <a:cs typeface="Arial"/>
              </a:defRPr>
            </a:lvl9pPr>
          </a:lstStyle>
          <a:p xmlns:a="http://schemas.openxmlformats.org/drawingml/2006/main">
            <a:pPr>
              <a:defRPr sz="3750" b="1">
                <a:solidFill>
                  <a:srgbClr val="20242A"/>
                </a:solidFill>
                <a:latin typeface="Arial"/>
                <a:ea typeface="Arial"/>
                <a:cs typeface="Arial"/>
              </a:defRPr>
            </a:pPr>
            <a:r>
              <a:rPr sz="3750" b="1">
                <a:solidFill>
                  <a:srgbClr val="20242A"/>
                </a:solidFill>
                <a:latin typeface="Arial"/>
                <a:ea typeface="Arial"/>
                <a:cs typeface="Arial"/>
              </a:rPr>
              <a:t>THE FIRST CHINESEBABYLM CHALLENGE</a:t>
            </a:r>
          </a:p>
        </p:txBody>
      </p:sp>
      <p:sp>
        <p:nvSpPr>
          <p:cNvPr id="6" name="cover-subtitle">
            <a:extLst xmlns:a="http://schemas.openxmlformats.org/drawingml/2006/main">
              <a:ext uri="{FF2B5EF4-FFF2-40B4-BE49-F238E27FC236}">
                <a16:creationId xmlns:a16="http://schemas.microsoft.com/office/drawing/2014/main" id="{34EFCE2A-4707-46AB-BDE8-D8D1863EC4B6}"/>
              </a:ext>
            </a:extLst>
          </p:cNvPr>
          <p:cNvSpPr>
            <a:spLocks xmlns:a="http://schemas.openxmlformats.org/drawingml/2006/main" noGrp="1"/>
          </p:cNvSpPr>
          <p:nvPr/>
        </p:nvSpPr>
        <p:spPr>
          <a:xfrm xmlns:a="http://schemas.openxmlformats.org/drawingml/2006/main">
            <a:off x="723900" y="2505075"/>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2100">
                <a:solidFill>
                  <a:srgbClr val="233342"/>
                </a:solidFill>
                <a:latin typeface="Arial"/>
                <a:ea typeface="Arial"/>
                <a:cs typeface="Arial"/>
              </a:defRPr>
            </a:defPPr>
            <a:lvl1pPr>
              <a:defRPr sz="2100">
                <a:solidFill>
                  <a:srgbClr val="233342"/>
                </a:solidFill>
                <a:latin typeface="Arial"/>
                <a:ea typeface="Arial"/>
                <a:cs typeface="Arial"/>
              </a:defRPr>
            </a:lvl1pPr>
            <a:lvl2pPr>
              <a:defRPr sz="2100">
                <a:solidFill>
                  <a:srgbClr val="233342"/>
                </a:solidFill>
                <a:latin typeface="Arial"/>
                <a:ea typeface="Arial"/>
                <a:cs typeface="Arial"/>
              </a:defRPr>
            </a:lvl2pPr>
            <a:lvl3pPr>
              <a:defRPr sz="2100">
                <a:solidFill>
                  <a:srgbClr val="233342"/>
                </a:solidFill>
                <a:latin typeface="Arial"/>
                <a:ea typeface="Arial"/>
                <a:cs typeface="Arial"/>
              </a:defRPr>
            </a:lvl3pPr>
            <a:lvl4pPr>
              <a:defRPr sz="2100">
                <a:solidFill>
                  <a:srgbClr val="233342"/>
                </a:solidFill>
                <a:latin typeface="Arial"/>
                <a:ea typeface="Arial"/>
                <a:cs typeface="Arial"/>
              </a:defRPr>
            </a:lvl4pPr>
            <a:lvl5pPr>
              <a:defRPr sz="2100">
                <a:solidFill>
                  <a:srgbClr val="233342"/>
                </a:solidFill>
                <a:latin typeface="Arial"/>
                <a:ea typeface="Arial"/>
                <a:cs typeface="Arial"/>
              </a:defRPr>
            </a:lvl5pPr>
            <a:lvl6pPr>
              <a:defRPr sz="2100">
                <a:solidFill>
                  <a:srgbClr val="233342"/>
                </a:solidFill>
                <a:latin typeface="Arial"/>
                <a:ea typeface="Arial"/>
                <a:cs typeface="Arial"/>
              </a:defRPr>
            </a:lvl6pPr>
            <a:lvl7pPr>
              <a:defRPr sz="2100">
                <a:solidFill>
                  <a:srgbClr val="233342"/>
                </a:solidFill>
                <a:latin typeface="Arial"/>
                <a:ea typeface="Arial"/>
                <a:cs typeface="Arial"/>
              </a:defRPr>
            </a:lvl7pPr>
            <a:lvl8pPr>
              <a:defRPr sz="2100">
                <a:solidFill>
                  <a:srgbClr val="233342"/>
                </a:solidFill>
                <a:latin typeface="Arial"/>
                <a:ea typeface="Arial"/>
                <a:cs typeface="Arial"/>
              </a:defRPr>
            </a:lvl8pPr>
            <a:lvl9pPr>
              <a:defRPr sz="2100">
                <a:solidFill>
                  <a:srgbClr val="233342"/>
                </a:solidFill>
                <a:latin typeface="Arial"/>
                <a:ea typeface="Arial"/>
                <a:cs typeface="Arial"/>
              </a:defRPr>
            </a:lvl9pPr>
          </a:lstStyle>
          <a:p xmlns:a="http://schemas.openxmlformats.org/drawingml/2006/main">
            <a:pPr>
              <a:lnSpc>
                <a:spcPct val="105000"/>
              </a:lnSpc>
              <a:buNone/>
              <a:defRPr sz="2100">
                <a:solidFill>
                  <a:srgbClr val="233342"/>
                </a:solidFill>
                <a:latin typeface="Arial"/>
                <a:ea typeface="Arial"/>
                <a:cs typeface="Arial"/>
              </a:defRPr>
            </a:pPr>
            <a:r>
              <a:rPr sz="2100">
                <a:solidFill>
                  <a:srgbClr val="233342"/>
                </a:solidFill>
                <a:latin typeface="Arial"/>
                <a:ea typeface="Arial"/>
                <a:cs typeface="Arial"/>
              </a:rPr>
              <a:t>Training Data-efficient and Cognitively Plausible</a:t>
            </a:r>
          </a:p>
          <a:p xmlns:a="http://schemas.openxmlformats.org/drawingml/2006/main">
            <a:pPr>
              <a:lnSpc>
                <a:spcPct val="105000"/>
              </a:lnSpc>
              <a:buNone/>
              <a:defRPr sz="2100">
                <a:solidFill>
                  <a:srgbClr val="233342"/>
                </a:solidFill>
                <a:latin typeface="Arial"/>
                <a:ea typeface="Arial"/>
                <a:cs typeface="Arial"/>
              </a:defRPr>
            </a:pPr>
            <a:r>
              <a:rPr sz="2100">
                <a:solidFill>
                  <a:srgbClr val="233342"/>
                </a:solidFill>
                <a:latin typeface="Arial"/>
                <a:ea typeface="Arial"/>
                <a:cs typeface="Arial"/>
              </a:rPr>
              <a:t>Language Models for Chinese</a:t>
            </a:r>
          </a:p>
        </p:txBody>
      </p:sp>
      <p:sp>
        <p:nvSpPr>
          <p:cNvPr id="7" name="cover-authors">
            <a:extLst xmlns:a="http://schemas.openxmlformats.org/drawingml/2006/main">
              <a:ext uri="{FF2B5EF4-FFF2-40B4-BE49-F238E27FC236}">
                <a16:creationId xmlns:a16="http://schemas.microsoft.com/office/drawing/2014/main" id="{651678BC-4E56-48E5-8D90-36736FADC88E}"/>
              </a:ext>
            </a:extLst>
          </p:cNvPr>
          <p:cNvSpPr>
            <a:spLocks xmlns:a="http://schemas.openxmlformats.org/drawingml/2006/main" noGrp="1"/>
          </p:cNvSpPr>
          <p:nvPr/>
        </p:nvSpPr>
        <p:spPr>
          <a:xfrm xmlns:a="http://schemas.openxmlformats.org/drawingml/2006/main">
            <a:off x="723900" y="38957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20242A"/>
                </a:solidFill>
                <a:latin typeface="Arial"/>
                <a:ea typeface="Arial"/>
                <a:cs typeface="Arial"/>
              </a:defRPr>
            </a:defPPr>
            <a:lvl1pPr>
              <a:defRPr sz="1500">
                <a:solidFill>
                  <a:srgbClr val="20242A"/>
                </a:solidFill>
                <a:latin typeface="Arial"/>
                <a:ea typeface="Arial"/>
                <a:cs typeface="Arial"/>
              </a:defRPr>
            </a:lvl1pPr>
            <a:lvl2pPr>
              <a:defRPr sz="1500">
                <a:solidFill>
                  <a:srgbClr val="20242A"/>
                </a:solidFill>
                <a:latin typeface="Arial"/>
                <a:ea typeface="Arial"/>
                <a:cs typeface="Arial"/>
              </a:defRPr>
            </a:lvl2pPr>
            <a:lvl3pPr>
              <a:defRPr sz="1500">
                <a:solidFill>
                  <a:srgbClr val="20242A"/>
                </a:solidFill>
                <a:latin typeface="Arial"/>
                <a:ea typeface="Arial"/>
                <a:cs typeface="Arial"/>
              </a:defRPr>
            </a:lvl3pPr>
            <a:lvl4pPr>
              <a:defRPr sz="1500">
                <a:solidFill>
                  <a:srgbClr val="20242A"/>
                </a:solidFill>
                <a:latin typeface="Arial"/>
                <a:ea typeface="Arial"/>
                <a:cs typeface="Arial"/>
              </a:defRPr>
            </a:lvl4pPr>
            <a:lvl5pPr>
              <a:defRPr sz="1500">
                <a:solidFill>
                  <a:srgbClr val="20242A"/>
                </a:solidFill>
                <a:latin typeface="Arial"/>
                <a:ea typeface="Arial"/>
                <a:cs typeface="Arial"/>
              </a:defRPr>
            </a:lvl5pPr>
            <a:lvl6pPr>
              <a:defRPr sz="1500">
                <a:solidFill>
                  <a:srgbClr val="20242A"/>
                </a:solidFill>
                <a:latin typeface="Arial"/>
                <a:ea typeface="Arial"/>
                <a:cs typeface="Arial"/>
              </a:defRPr>
            </a:lvl6pPr>
            <a:lvl7pPr>
              <a:defRPr sz="1500">
                <a:solidFill>
                  <a:srgbClr val="20242A"/>
                </a:solidFill>
                <a:latin typeface="Arial"/>
                <a:ea typeface="Arial"/>
                <a:cs typeface="Arial"/>
              </a:defRPr>
            </a:lvl7pPr>
            <a:lvl8pPr>
              <a:defRPr sz="1500">
                <a:solidFill>
                  <a:srgbClr val="20242A"/>
                </a:solidFill>
                <a:latin typeface="Arial"/>
                <a:ea typeface="Arial"/>
                <a:cs typeface="Arial"/>
              </a:defRPr>
            </a:lvl8pPr>
            <a:lvl9pPr>
              <a:defRPr sz="1500">
                <a:solidFill>
                  <a:srgbClr val="20242A"/>
                </a:solidFill>
                <a:latin typeface="Arial"/>
                <a:ea typeface="Arial"/>
                <a:cs typeface="Arial"/>
              </a:defRPr>
            </a:lvl9pPr>
          </a:lstStyle>
          <a:p xmlns:a="http://schemas.openxmlformats.org/drawingml/2006/main">
            <a:pPr>
              <a:defRPr sz="1500">
                <a:solidFill>
                  <a:srgbClr val="20242A"/>
                </a:solidFill>
                <a:latin typeface="Arial"/>
                <a:ea typeface="Arial"/>
                <a:cs typeface="Arial"/>
              </a:defRPr>
            </a:pPr>
            <a:r>
              <a:rPr sz="1500">
                <a:solidFill>
                  <a:srgbClr val="20242A"/>
                </a:solidFill>
                <a:latin typeface="Arial"/>
                <a:ea typeface="Arial"/>
                <a:cs typeface="Arial"/>
              </a:rPr>
              <a:t>Siyuan Song, </a:t>
            </a:r>
            <a:r>
              <a:rPr sz="1500" b="1">
                <a:solidFill>
                  <a:srgbClr val="20242A"/>
                </a:solidFill>
                <a:latin typeface="Arial"/>
                <a:ea typeface="Arial"/>
                <a:cs typeface="Arial"/>
              </a:rPr>
              <a:t>Zhiheng Qian</a:t>
            </a:r>
            <a:r>
              <a:rPr sz="1500">
                <a:solidFill>
                  <a:srgbClr val="20242A"/>
                </a:solidFill>
                <a:latin typeface="Arial"/>
                <a:ea typeface="Arial"/>
                <a:cs typeface="Arial"/>
              </a:rPr>
              <a:t>, Yunhao Zhang, Linyang He, et al.</a:t>
            </a:r>
          </a:p>
        </p:txBody>
      </p:sp>
      <p:sp>
        <p:nvSpPr>
          <p:cNvPr id="8" name="cover-venue">
            <a:extLst xmlns:a="http://schemas.openxmlformats.org/drawingml/2006/main">
              <a:ext uri="{FF2B5EF4-FFF2-40B4-BE49-F238E27FC236}">
                <a16:creationId xmlns:a16="http://schemas.microsoft.com/office/drawing/2014/main" id="{82FD933C-F450-4A30-9093-7EB89AADBA58}"/>
              </a:ext>
            </a:extLst>
          </p:cNvPr>
          <p:cNvSpPr>
            <a:spLocks xmlns:a="http://schemas.openxmlformats.org/drawingml/2006/main" noGrp="1"/>
          </p:cNvSpPr>
          <p:nvPr/>
        </p:nvSpPr>
        <p:spPr>
          <a:xfrm xmlns:a="http://schemas.openxmlformats.org/drawingml/2006/main">
            <a:off x="723900" y="4476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9E1B32"/>
                </a:solidFill>
                <a:latin typeface="Arial"/>
                <a:ea typeface="Arial"/>
                <a:cs typeface="Arial"/>
              </a:defRPr>
            </a:defPPr>
            <a:lvl1pPr>
              <a:defRPr sz="1500" b="1">
                <a:solidFill>
                  <a:srgbClr val="9E1B32"/>
                </a:solidFill>
                <a:latin typeface="Arial"/>
                <a:ea typeface="Arial"/>
                <a:cs typeface="Arial"/>
              </a:defRPr>
            </a:lvl1pPr>
            <a:lvl2pPr>
              <a:defRPr sz="1500" b="1">
                <a:solidFill>
                  <a:srgbClr val="9E1B32"/>
                </a:solidFill>
                <a:latin typeface="Arial"/>
                <a:ea typeface="Arial"/>
                <a:cs typeface="Arial"/>
              </a:defRPr>
            </a:lvl2pPr>
            <a:lvl3pPr>
              <a:defRPr sz="1500" b="1">
                <a:solidFill>
                  <a:srgbClr val="9E1B32"/>
                </a:solidFill>
                <a:latin typeface="Arial"/>
                <a:ea typeface="Arial"/>
                <a:cs typeface="Arial"/>
              </a:defRPr>
            </a:lvl3pPr>
            <a:lvl4pPr>
              <a:defRPr sz="1500" b="1">
                <a:solidFill>
                  <a:srgbClr val="9E1B32"/>
                </a:solidFill>
                <a:latin typeface="Arial"/>
                <a:ea typeface="Arial"/>
                <a:cs typeface="Arial"/>
              </a:defRPr>
            </a:lvl4pPr>
            <a:lvl5pPr>
              <a:defRPr sz="1500" b="1">
                <a:solidFill>
                  <a:srgbClr val="9E1B32"/>
                </a:solidFill>
                <a:latin typeface="Arial"/>
                <a:ea typeface="Arial"/>
                <a:cs typeface="Arial"/>
              </a:defRPr>
            </a:lvl5pPr>
            <a:lvl6pPr>
              <a:defRPr sz="1500" b="1">
                <a:solidFill>
                  <a:srgbClr val="9E1B32"/>
                </a:solidFill>
                <a:latin typeface="Arial"/>
                <a:ea typeface="Arial"/>
                <a:cs typeface="Arial"/>
              </a:defRPr>
            </a:lvl6pPr>
            <a:lvl7pPr>
              <a:defRPr sz="1500" b="1">
                <a:solidFill>
                  <a:srgbClr val="9E1B32"/>
                </a:solidFill>
                <a:latin typeface="Arial"/>
                <a:ea typeface="Arial"/>
                <a:cs typeface="Arial"/>
              </a:defRPr>
            </a:lvl7pPr>
            <a:lvl8pPr>
              <a:defRPr sz="1500" b="1">
                <a:solidFill>
                  <a:srgbClr val="9E1B32"/>
                </a:solidFill>
                <a:latin typeface="Arial"/>
                <a:ea typeface="Arial"/>
                <a:cs typeface="Arial"/>
              </a:defRPr>
            </a:lvl8pPr>
            <a:lvl9pPr>
              <a:defRPr sz="1500" b="1">
                <a:solidFill>
                  <a:srgbClr val="9E1B32"/>
                </a:solidFill>
                <a:latin typeface="Arial"/>
                <a:ea typeface="Arial"/>
                <a:cs typeface="Arial"/>
              </a:defRPr>
            </a:lvl9pPr>
          </a:lstStyle>
          <a:p xmlns:a="http://schemas.openxmlformats.org/drawingml/2006/main">
            <a:pPr>
              <a:defRPr sz="1500" b="1">
                <a:solidFill>
                  <a:srgbClr val="9E1B32"/>
                </a:solidFill>
                <a:latin typeface="Arial"/>
                <a:ea typeface="Arial"/>
                <a:cs typeface="Arial"/>
              </a:defRPr>
            </a:pPr>
            <a:r>
              <a:rPr sz="1500" b="1">
                <a:solidFill>
                  <a:srgbClr val="9E1B32"/>
                </a:solidFill>
                <a:latin typeface="Arial"/>
                <a:ea typeface="Arial"/>
                <a:cs typeface="Arial"/>
              </a:rPr>
              <a:t>NLPCC 2026  •  Shared Task Oral</a:t>
            </a:r>
          </a:p>
        </p:txBody>
      </p:sp>
      <p:sp>
        <p:nvSpPr>
          <p:cNvPr id="9" name="cover-footer">
            <a:extLst xmlns:a="http://schemas.openxmlformats.org/drawingml/2006/main">
              <a:ext uri="{FF2B5EF4-FFF2-40B4-BE49-F238E27FC236}">
                <a16:creationId xmlns:a16="http://schemas.microsoft.com/office/drawing/2014/main" id="{86BC35B5-27DA-44D5-A3B3-63A331EDCA0E}"/>
              </a:ext>
            </a:extLst>
          </p:cNvPr>
          <p:cNvSpPr>
            <a:spLocks xmlns:a="http://schemas.openxmlformats.org/drawingml/2006/main" noGrp="1"/>
          </p:cNvSpPr>
          <p:nvPr/>
        </p:nvSpPr>
        <p:spPr>
          <a:xfrm xmlns:a="http://schemas.openxmlformats.org/drawingml/2006/main">
            <a:off x="723900" y="590550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a:solidFill>
                  <a:srgbClr val="A5A9AE"/>
                </a:solidFill>
                <a:latin typeface="Arial"/>
                <a:ea typeface="Arial"/>
                <a:cs typeface="Arial"/>
              </a:defRPr>
            </a:defPPr>
            <a:lvl1pPr>
              <a:defRPr sz="1200">
                <a:solidFill>
                  <a:srgbClr val="A5A9AE"/>
                </a:solidFill>
                <a:latin typeface="Arial"/>
                <a:ea typeface="Arial"/>
                <a:cs typeface="Arial"/>
              </a:defRPr>
            </a:lvl1pPr>
            <a:lvl2pPr>
              <a:defRPr sz="1200">
                <a:solidFill>
                  <a:srgbClr val="A5A9AE"/>
                </a:solidFill>
                <a:latin typeface="Arial"/>
                <a:ea typeface="Arial"/>
                <a:cs typeface="Arial"/>
              </a:defRPr>
            </a:lvl2pPr>
            <a:lvl3pPr>
              <a:defRPr sz="1200">
                <a:solidFill>
                  <a:srgbClr val="A5A9AE"/>
                </a:solidFill>
                <a:latin typeface="Arial"/>
                <a:ea typeface="Arial"/>
                <a:cs typeface="Arial"/>
              </a:defRPr>
            </a:lvl3pPr>
            <a:lvl4pPr>
              <a:defRPr sz="1200">
                <a:solidFill>
                  <a:srgbClr val="A5A9AE"/>
                </a:solidFill>
                <a:latin typeface="Arial"/>
                <a:ea typeface="Arial"/>
                <a:cs typeface="Arial"/>
              </a:defRPr>
            </a:lvl4pPr>
            <a:lvl5pPr>
              <a:defRPr sz="1200">
                <a:solidFill>
                  <a:srgbClr val="A5A9AE"/>
                </a:solidFill>
                <a:latin typeface="Arial"/>
                <a:ea typeface="Arial"/>
                <a:cs typeface="Arial"/>
              </a:defRPr>
            </a:lvl5pPr>
            <a:lvl6pPr>
              <a:defRPr sz="1200">
                <a:solidFill>
                  <a:srgbClr val="A5A9AE"/>
                </a:solidFill>
                <a:latin typeface="Arial"/>
                <a:ea typeface="Arial"/>
                <a:cs typeface="Arial"/>
              </a:defRPr>
            </a:lvl6pPr>
            <a:lvl7pPr>
              <a:defRPr sz="1200">
                <a:solidFill>
                  <a:srgbClr val="A5A9AE"/>
                </a:solidFill>
                <a:latin typeface="Arial"/>
                <a:ea typeface="Arial"/>
                <a:cs typeface="Arial"/>
              </a:defRPr>
            </a:lvl7pPr>
            <a:lvl8pPr>
              <a:defRPr sz="1200">
                <a:solidFill>
                  <a:srgbClr val="A5A9AE"/>
                </a:solidFill>
                <a:latin typeface="Arial"/>
                <a:ea typeface="Arial"/>
                <a:cs typeface="Arial"/>
              </a:defRPr>
            </a:lvl8pPr>
            <a:lvl9pPr>
              <a:defRPr sz="1200">
                <a:solidFill>
                  <a:srgbClr val="A5A9AE"/>
                </a:solidFill>
                <a:latin typeface="Arial"/>
                <a:ea typeface="Arial"/>
                <a:cs typeface="Arial"/>
              </a:defRPr>
            </a:lvl9pPr>
          </a:lstStyle>
          <a:p xmlns:a="http://schemas.openxmlformats.org/drawingml/2006/main">
            <a:pPr>
              <a:defRPr sz="1200">
                <a:solidFill>
                  <a:srgbClr val="A5A9AE"/>
                </a:solidFill>
                <a:latin typeface="Arial"/>
                <a:ea typeface="Arial"/>
                <a:cs typeface="Arial"/>
              </a:defRPr>
            </a:pPr>
            <a:r>
              <a:rPr sz="1200">
                <a:solidFill>
                  <a:srgbClr val="A5A9AE"/>
                </a:solidFill>
                <a:latin typeface="Arial"/>
                <a:ea typeface="Arial"/>
                <a:cs typeface="Arial"/>
              </a:rPr>
              <a:t>Data-efficient pretraining  /  Chinese-specific evaluation</a:t>
            </a:r>
          </a:p>
        </p:txBody>
      </p:sp>
    </p:spTree>
    <p:extLst>
      <p:ext uri="{BB962C8B-B14F-4D97-AF65-F5344CB8AC3E}">
        <p14:creationId xmlns:p14="http://schemas.microsoft.com/office/powerpoint/2010/main" val="20348555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2-title">
            <a:extLst xmlns:a="http://schemas.openxmlformats.org/drawingml/2006/main">
              <a:ext uri="{FF2B5EF4-FFF2-40B4-BE49-F238E27FC236}">
                <a16:creationId xmlns:a16="http://schemas.microsoft.com/office/drawing/2014/main" id="{1222668C-8B8A-4CED-A4E1-8413C4CCFB20}"/>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Motivation and contributions</a:t>
            </a:r>
          </a:p>
        </p:txBody>
      </p:sp>
      <p:sp>
        <p:nvSpPr>
          <p:cNvPr id="2" name="slide-2-top-rule">
            <a:extLst xmlns:a="http://schemas.openxmlformats.org/drawingml/2006/main">
              <a:ext uri="{FF2B5EF4-FFF2-40B4-BE49-F238E27FC236}">
                <a16:creationId xmlns:a16="http://schemas.microsoft.com/office/drawing/2014/main" id="{85EF1B92-BDC6-4476-A465-23A8CD1E899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307627-2A3F-4FA0-84BB-40C5E7F08BA0}"/>
              </a:ext>
            </a:extLst>
          </p:cNvPr>
          <p:cNvSpPr>
            <a:spLocks xmlns:a="http://schemas.openxmlformats.org/drawingml/2006/main" noGrp="1"/>
          </p:cNvSpPr>
          <p:nvPr/>
        </p:nvSpPr>
        <p:spPr>
          <a:xfrm xmlns:a="http://schemas.openxmlformats.org/drawingml/2006/main">
            <a:off x="685800" y="13430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xmlns:a="http://schemas.openxmlformats.org/drawingml/2006/main">
            <a:pPr>
              <a:defRPr sz="1125" b="1">
                <a:solidFill>
                  <a:srgbClr val="C49A2C"/>
                </a:solidFill>
                <a:latin typeface="Arial"/>
                <a:ea typeface="Arial"/>
                <a:cs typeface="Arial"/>
              </a:defRPr>
            </a:pPr>
            <a:r>
              <a:rPr sz="1125" b="1">
                <a:solidFill>
                  <a:srgbClr val="C49A2C"/>
                </a:solidFill>
                <a:latin typeface="Arial"/>
                <a:ea typeface="Arial"/>
                <a:cs typeface="Arial"/>
              </a:rPr>
              <a:t>RESEARCH QUESTION</a:t>
            </a:r>
          </a:p>
        </p:txBody>
      </p:sp>
      <p:sp>
        <p:nvSpPr>
          <p:cNvPr id="4" name="research-question">
            <a:extLst xmlns:a="http://schemas.openxmlformats.org/drawingml/2006/main">
              <a:ext uri="{FF2B5EF4-FFF2-40B4-BE49-F238E27FC236}">
                <a16:creationId xmlns:a16="http://schemas.microsoft.com/office/drawing/2014/main" id="{7B5011C6-C379-4C21-8281-DA4B28DEE36B}"/>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625">
                <a:solidFill>
                  <a:srgbClr val="20242A"/>
                </a:solidFill>
                <a:latin typeface="Arial"/>
                <a:ea typeface="Arial"/>
                <a:cs typeface="Arial"/>
              </a:defRPr>
            </a:defPPr>
            <a:lvl1pPr>
              <a:defRPr sz="2625">
                <a:solidFill>
                  <a:srgbClr val="20242A"/>
                </a:solidFill>
                <a:latin typeface="Arial"/>
                <a:ea typeface="Arial"/>
                <a:cs typeface="Arial"/>
              </a:defRPr>
            </a:lvl1pPr>
            <a:lvl2pPr>
              <a:defRPr sz="2625">
                <a:solidFill>
                  <a:srgbClr val="20242A"/>
                </a:solidFill>
                <a:latin typeface="Arial"/>
                <a:ea typeface="Arial"/>
                <a:cs typeface="Arial"/>
              </a:defRPr>
            </a:lvl2pPr>
            <a:lvl3pPr>
              <a:defRPr sz="2625">
                <a:solidFill>
                  <a:srgbClr val="20242A"/>
                </a:solidFill>
                <a:latin typeface="Arial"/>
                <a:ea typeface="Arial"/>
                <a:cs typeface="Arial"/>
              </a:defRPr>
            </a:lvl3pPr>
            <a:lvl4pPr>
              <a:defRPr sz="2625">
                <a:solidFill>
                  <a:srgbClr val="20242A"/>
                </a:solidFill>
                <a:latin typeface="Arial"/>
                <a:ea typeface="Arial"/>
                <a:cs typeface="Arial"/>
              </a:defRPr>
            </a:lvl4pPr>
            <a:lvl5pPr>
              <a:defRPr sz="2625">
                <a:solidFill>
                  <a:srgbClr val="20242A"/>
                </a:solidFill>
                <a:latin typeface="Arial"/>
                <a:ea typeface="Arial"/>
                <a:cs typeface="Arial"/>
              </a:defRPr>
            </a:lvl5pPr>
            <a:lvl6pPr>
              <a:defRPr sz="2625">
                <a:solidFill>
                  <a:srgbClr val="20242A"/>
                </a:solidFill>
                <a:latin typeface="Arial"/>
                <a:ea typeface="Arial"/>
                <a:cs typeface="Arial"/>
              </a:defRPr>
            </a:lvl6pPr>
            <a:lvl7pPr>
              <a:defRPr sz="2625">
                <a:solidFill>
                  <a:srgbClr val="20242A"/>
                </a:solidFill>
                <a:latin typeface="Arial"/>
                <a:ea typeface="Arial"/>
                <a:cs typeface="Arial"/>
              </a:defRPr>
            </a:lvl7pPr>
            <a:lvl8pPr>
              <a:defRPr sz="2625">
                <a:solidFill>
                  <a:srgbClr val="20242A"/>
                </a:solidFill>
                <a:latin typeface="Arial"/>
                <a:ea typeface="Arial"/>
                <a:cs typeface="Arial"/>
              </a:defRPr>
            </a:lvl8pPr>
            <a:lvl9pPr>
              <a:defRPr sz="2625">
                <a:solidFill>
                  <a:srgbClr val="20242A"/>
                </a:solidFill>
                <a:latin typeface="Arial"/>
                <a:ea typeface="Arial"/>
                <a:cs typeface="Arial"/>
              </a:defRPr>
            </a:lvl9pPr>
          </a:lstStyle>
          <a:p xmlns:a="http://schemas.openxmlformats.org/drawingml/2006/main">
            <a:pPr>
              <a:defRPr sz="2625">
                <a:solidFill>
                  <a:srgbClr val="20242A"/>
                </a:solidFill>
                <a:latin typeface="Arial"/>
                <a:ea typeface="Arial"/>
                <a:cs typeface="Arial"/>
              </a:defRPr>
            </a:pPr>
            <a:r>
              <a:rPr sz="2625" b="1">
                <a:solidFill>
                  <a:srgbClr val="20242A"/>
                </a:solidFill>
                <a:latin typeface="Arial"/>
                <a:ea typeface="Arial"/>
                <a:cs typeface="Arial"/>
              </a:rPr>
              <a:t>How well can models learn Chinese from </a:t>
            </a:r>
            <a:r>
              <a:rPr sz="2625" b="1">
                <a:solidFill>
                  <a:srgbClr val="20242A"/>
                </a:solidFill>
                <a:latin typeface="Arial"/>
                <a:ea typeface="Arial"/>
                <a:cs typeface="Arial"/>
              </a:rPr>
              <a:t>no more than 102M words</a:t>
            </a:r>
            <a:r>
              <a:rPr sz="2625" b="1">
                <a:solidFill>
                  <a:srgbClr val="20242A"/>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8B8D1B34-5E92-43DF-825F-0B808BD0EE9E}"/>
              </a:ext>
            </a:extLst>
          </p:cNvPr>
          <p:cNvSpPr>
            <a:spLocks xmlns:a="http://schemas.openxmlformats.org/drawingml/2006/main" noGrp="1"/>
          </p:cNvSpPr>
          <p:nvPr/>
        </p:nvSpPr>
        <p:spPr>
          <a:xfrm xmlns:a="http://schemas.openxmlformats.org/drawingml/2006/main">
            <a:off x="685800" y="274320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24C17C-C1EB-4A2A-8897-FC338785C3AF}"/>
              </a:ext>
            </a:extLst>
          </p:cNvPr>
          <p:cNvSpPr>
            <a:spLocks xmlns:a="http://schemas.openxmlformats.org/drawingml/2006/main" noGrp="1"/>
          </p:cNvSpPr>
          <p:nvPr/>
        </p:nvSpPr>
        <p:spPr>
          <a:xfrm xmlns:a="http://schemas.openxmlformats.org/drawingml/2006/main">
            <a:off x="685800" y="30956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xmlns:a="http://schemas.openxmlformats.org/drawingml/2006/main">
            <a:pPr>
              <a:defRPr sz="1500" b="1">
                <a:solidFill>
                  <a:srgbClr val="C49A2C"/>
                </a:solidFill>
                <a:latin typeface="Arial"/>
                <a:ea typeface="Arial"/>
                <a:cs typeface="Arial"/>
              </a:defRPr>
            </a:pPr>
            <a:r>
              <a:rPr sz="1500" b="1">
                <a:solidFill>
                  <a:srgbClr val="C49A2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9FC1477-953A-480C-9017-9B5A191E8AA6}"/>
              </a:ext>
            </a:extLst>
          </p:cNvPr>
          <p:cNvSpPr>
            <a:spLocks xmlns:a="http://schemas.openxmlformats.org/drawingml/2006/main" noGrp="1"/>
          </p:cNvSpPr>
          <p:nvPr/>
        </p:nvSpPr>
        <p:spPr>
          <a:xfrm xmlns:a="http://schemas.openxmlformats.org/drawingml/2006/main">
            <a:off x="685800" y="35909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xmlns:a="http://schemas.openxmlformats.org/drawingml/2006/main">
            <a:pPr>
              <a:defRPr sz="1875" b="1">
                <a:solidFill>
                  <a:srgbClr val="20242A"/>
                </a:solidFill>
                <a:latin typeface="Arial"/>
                <a:ea typeface="Arial"/>
                <a:cs typeface="Arial"/>
              </a:defRPr>
            </a:pPr>
            <a:r>
              <a:rPr sz="1875" b="1">
                <a:solidFill>
                  <a:srgbClr val="20242A"/>
                </a:solidFill>
                <a:latin typeface="Arial"/>
                <a:ea typeface="Arial"/>
                <a:cs typeface="Arial"/>
              </a:rPr>
              <a:t>Standardized resources</a:t>
            </a:r>
          </a:p>
        </p:txBody>
      </p:sp>
      <p:sp>
        <p:nvSpPr>
          <p:cNvPr id="8" name="">
            <a:extLst xmlns:a="http://schemas.openxmlformats.org/drawingml/2006/main">
              <a:ext uri="{FF2B5EF4-FFF2-40B4-BE49-F238E27FC236}">
                <a16:creationId xmlns:a16="http://schemas.microsoft.com/office/drawing/2014/main" id="{4960DA70-A167-4124-ABDC-307DE29468AE}"/>
              </a:ext>
            </a:extLst>
          </p:cNvPr>
          <p:cNvSpPr>
            <a:spLocks xmlns:a="http://schemas.openxmlformats.org/drawingml/2006/main" noGrp="1"/>
          </p:cNvSpPr>
          <p:nvPr/>
        </p:nvSpPr>
        <p:spPr>
          <a:xfrm xmlns:a="http://schemas.openxmlformats.org/drawingml/2006/main">
            <a:off x="685800" y="43338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A 102M-word corpus, open evaluation pipeline, and reproducible baselines</a:t>
            </a:r>
          </a:p>
        </p:txBody>
      </p:sp>
      <p:sp>
        <p:nvSpPr>
          <p:cNvPr id="9" name="">
            <a:extLst xmlns:a="http://schemas.openxmlformats.org/drawingml/2006/main">
              <a:ext uri="{FF2B5EF4-FFF2-40B4-BE49-F238E27FC236}">
                <a16:creationId xmlns:a16="http://schemas.microsoft.com/office/drawing/2014/main" id="{38DF9C2B-ED4F-4F4A-ACB2-73586EEDEF91}"/>
              </a:ext>
            </a:extLst>
          </p:cNvPr>
          <p:cNvSpPr>
            <a:spLocks xmlns:a="http://schemas.openxmlformats.org/drawingml/2006/main" noGrp="1"/>
          </p:cNvSpPr>
          <p:nvPr/>
        </p:nvSpPr>
        <p:spPr>
          <a:xfrm xmlns:a="http://schemas.openxmlformats.org/drawingml/2006/main">
            <a:off x="4124325" y="3105150"/>
            <a:ext cx="19050" cy="22669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215267-14A3-4C42-923B-58CF56B41C67}"/>
              </a:ext>
            </a:extLst>
          </p:cNvPr>
          <p:cNvSpPr>
            <a:spLocks xmlns:a="http://schemas.openxmlformats.org/drawingml/2006/main" noGrp="1"/>
          </p:cNvSpPr>
          <p:nvPr/>
        </p:nvSpPr>
        <p:spPr>
          <a:xfrm xmlns:a="http://schemas.openxmlformats.org/drawingml/2006/main">
            <a:off x="4391025" y="30956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xmlns:a="http://schemas.openxmlformats.org/drawingml/2006/main">
            <a:pPr>
              <a:defRPr sz="1500" b="1">
                <a:solidFill>
                  <a:srgbClr val="C49A2C"/>
                </a:solidFill>
                <a:latin typeface="Arial"/>
                <a:ea typeface="Arial"/>
                <a:cs typeface="Arial"/>
              </a:defRPr>
            </a:pPr>
            <a:r>
              <a:rPr sz="1500" b="1">
                <a:solidFill>
                  <a:srgbClr val="C49A2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3D77F583-7F46-488E-A33C-95768B55969B}"/>
              </a:ext>
            </a:extLst>
          </p:cNvPr>
          <p:cNvSpPr>
            <a:spLocks xmlns:a="http://schemas.openxmlformats.org/drawingml/2006/main" noGrp="1"/>
          </p:cNvSpPr>
          <p:nvPr/>
        </p:nvSpPr>
        <p:spPr>
          <a:xfrm xmlns:a="http://schemas.openxmlformats.org/drawingml/2006/main">
            <a:off x="4391025" y="35909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7146"/>
          </a:bodyPr>
          <a:lstStyle xmlns:a="http://schemas.openxmlformats.org/drawingml/2006/main">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xmlns:a="http://schemas.openxmlformats.org/drawingml/2006/main">
            <a:pPr>
              <a:defRPr sz="1875" b="1">
                <a:solidFill>
                  <a:srgbClr val="20242A"/>
                </a:solidFill>
                <a:latin typeface="Arial"/>
                <a:ea typeface="Arial"/>
                <a:cs typeface="Arial"/>
              </a:defRPr>
            </a:pPr>
            <a:r>
              <a:rPr sz="1875" b="1">
                <a:solidFill>
                  <a:srgbClr val="20242A"/>
                </a:solidFill>
                <a:latin typeface="Arial"/>
                <a:ea typeface="Arial"/>
                <a:cs typeface="Arial"/>
              </a:rPr>
              <a:t>Chinese-specific evaluation</a:t>
            </a:r>
          </a:p>
        </p:txBody>
      </p:sp>
      <p:sp>
        <p:nvSpPr>
          <p:cNvPr id="12" name="">
            <a:extLst xmlns:a="http://schemas.openxmlformats.org/drawingml/2006/main">
              <a:ext uri="{FF2B5EF4-FFF2-40B4-BE49-F238E27FC236}">
                <a16:creationId xmlns:a16="http://schemas.microsoft.com/office/drawing/2014/main" id="{B1AF02BA-7462-425E-B5B3-D1CD6470AD45}"/>
              </a:ext>
            </a:extLst>
          </p:cNvPr>
          <p:cNvSpPr>
            <a:spLocks xmlns:a="http://schemas.openxmlformats.org/drawingml/2006/main" noGrp="1"/>
          </p:cNvSpPr>
          <p:nvPr/>
        </p:nvSpPr>
        <p:spPr>
          <a:xfrm xmlns:a="http://schemas.openxmlformats.org/drawingml/2006/main">
            <a:off x="4391025" y="43338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Fourteen tasks spanning NLU, Hanzi knowledge, and cognitive alignment</a:t>
            </a:r>
          </a:p>
        </p:txBody>
      </p:sp>
      <p:sp>
        <p:nvSpPr>
          <p:cNvPr id="13" name="">
            <a:extLst xmlns:a="http://schemas.openxmlformats.org/drawingml/2006/main">
              <a:ext uri="{FF2B5EF4-FFF2-40B4-BE49-F238E27FC236}">
                <a16:creationId xmlns:a16="http://schemas.microsoft.com/office/drawing/2014/main" id="{916E349D-9E10-430D-A166-24198E5EC837}"/>
              </a:ext>
            </a:extLst>
          </p:cNvPr>
          <p:cNvSpPr>
            <a:spLocks xmlns:a="http://schemas.openxmlformats.org/drawingml/2006/main" noGrp="1"/>
          </p:cNvSpPr>
          <p:nvPr/>
        </p:nvSpPr>
        <p:spPr>
          <a:xfrm xmlns:a="http://schemas.openxmlformats.org/drawingml/2006/main">
            <a:off x="7829550" y="3105150"/>
            <a:ext cx="19050" cy="22669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78EC55-2FB7-40A7-9446-3BC748675EFF}"/>
              </a:ext>
            </a:extLst>
          </p:cNvPr>
          <p:cNvSpPr>
            <a:spLocks xmlns:a="http://schemas.openxmlformats.org/drawingml/2006/main" noGrp="1"/>
          </p:cNvSpPr>
          <p:nvPr/>
        </p:nvSpPr>
        <p:spPr>
          <a:xfrm xmlns:a="http://schemas.openxmlformats.org/drawingml/2006/main">
            <a:off x="8096250" y="30956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xmlns:a="http://schemas.openxmlformats.org/drawingml/2006/main">
            <a:pPr>
              <a:defRPr sz="1500" b="1">
                <a:solidFill>
                  <a:srgbClr val="C49A2C"/>
                </a:solidFill>
                <a:latin typeface="Arial"/>
                <a:ea typeface="Arial"/>
                <a:cs typeface="Arial"/>
              </a:defRPr>
            </a:pPr>
            <a:r>
              <a:rPr sz="1500" b="1">
                <a:solidFill>
                  <a:srgbClr val="C49A2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53D2353-5435-4417-BDC6-31B8436A24D0}"/>
              </a:ext>
            </a:extLst>
          </p:cNvPr>
          <p:cNvSpPr>
            <a:spLocks xmlns:a="http://schemas.openxmlformats.org/drawingml/2006/main" noGrp="1"/>
          </p:cNvSpPr>
          <p:nvPr/>
        </p:nvSpPr>
        <p:spPr>
          <a:xfrm xmlns:a="http://schemas.openxmlformats.org/drawingml/2006/main">
            <a:off x="8096250" y="35909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xmlns:a="http://schemas.openxmlformats.org/drawingml/2006/main">
            <a:pPr>
              <a:defRPr sz="1875" b="1">
                <a:solidFill>
                  <a:srgbClr val="20242A"/>
                </a:solidFill>
                <a:latin typeface="Arial"/>
                <a:ea typeface="Arial"/>
                <a:cs typeface="Arial"/>
              </a:defRPr>
            </a:pPr>
            <a:r>
              <a:rPr sz="1875" b="1">
                <a:solidFill>
                  <a:srgbClr val="20242A"/>
                </a:solidFill>
                <a:latin typeface="Arial"/>
                <a:ea typeface="Arial"/>
                <a:cs typeface="Arial"/>
              </a:rPr>
              <a:t>Shared-task evidence</a:t>
            </a:r>
          </a:p>
        </p:txBody>
      </p:sp>
      <p:sp>
        <p:nvSpPr>
          <p:cNvPr id="16" name="">
            <a:extLst xmlns:a="http://schemas.openxmlformats.org/drawingml/2006/main">
              <a:ext uri="{FF2B5EF4-FFF2-40B4-BE49-F238E27FC236}">
                <a16:creationId xmlns:a16="http://schemas.microsoft.com/office/drawing/2014/main" id="{F027E4DD-1D62-49A6-A276-6F1EF77866F1}"/>
              </a:ext>
            </a:extLst>
          </p:cNvPr>
          <p:cNvSpPr>
            <a:spLocks xmlns:a="http://schemas.openxmlformats.org/drawingml/2006/main" noGrp="1"/>
          </p:cNvSpPr>
          <p:nvPr/>
        </p:nvSpPr>
        <p:spPr>
          <a:xfrm xmlns:a="http://schemas.openxmlformats.org/drawingml/2006/main">
            <a:off x="8096250" y="43338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Twenty-eight submitted models from eighteen teams</a:t>
            </a:r>
          </a:p>
        </p:txBody>
      </p:sp>
      <p:sp>
        <p:nvSpPr>
          <p:cNvPr id="17" name="">
            <a:extLst xmlns:a="http://schemas.openxmlformats.org/drawingml/2006/main">
              <a:ext uri="{FF2B5EF4-FFF2-40B4-BE49-F238E27FC236}">
                <a16:creationId xmlns:a16="http://schemas.microsoft.com/office/drawing/2014/main" id="{1A9CC01D-2DE3-48BD-86FD-8B3E85738376}"/>
              </a:ext>
            </a:extLst>
          </p:cNvPr>
          <p:cNvSpPr>
            <a:spLocks xmlns:a="http://schemas.openxmlformats.org/drawingml/2006/main" noGrp="1"/>
          </p:cNvSpPr>
          <p:nvPr/>
        </p:nvSpPr>
        <p:spPr>
          <a:xfrm xmlns:a="http://schemas.openxmlformats.org/drawingml/2006/main">
            <a:off x="685800" y="57245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1425" i="1">
                <a:solidFill>
                  <a:srgbClr val="233342"/>
                </a:solidFill>
                <a:latin typeface="Arial"/>
                <a:ea typeface="Arial"/>
                <a:cs typeface="Arial"/>
              </a:defRPr>
            </a:defPPr>
            <a:lvl1pPr algn="ctr">
              <a:defRPr sz="1425" i="1">
                <a:solidFill>
                  <a:srgbClr val="233342"/>
                </a:solidFill>
                <a:latin typeface="Arial"/>
                <a:ea typeface="Arial"/>
                <a:cs typeface="Arial"/>
              </a:defRPr>
            </a:lvl1pPr>
            <a:lvl2pPr algn="ctr">
              <a:defRPr sz="1425" i="1">
                <a:solidFill>
                  <a:srgbClr val="233342"/>
                </a:solidFill>
                <a:latin typeface="Arial"/>
                <a:ea typeface="Arial"/>
                <a:cs typeface="Arial"/>
              </a:defRPr>
            </a:lvl2pPr>
            <a:lvl3pPr algn="ctr">
              <a:defRPr sz="1425" i="1">
                <a:solidFill>
                  <a:srgbClr val="233342"/>
                </a:solidFill>
                <a:latin typeface="Arial"/>
                <a:ea typeface="Arial"/>
                <a:cs typeface="Arial"/>
              </a:defRPr>
            </a:lvl3pPr>
            <a:lvl4pPr algn="ctr">
              <a:defRPr sz="1425" i="1">
                <a:solidFill>
                  <a:srgbClr val="233342"/>
                </a:solidFill>
                <a:latin typeface="Arial"/>
                <a:ea typeface="Arial"/>
                <a:cs typeface="Arial"/>
              </a:defRPr>
            </a:lvl4pPr>
            <a:lvl5pPr algn="ctr">
              <a:defRPr sz="1425" i="1">
                <a:solidFill>
                  <a:srgbClr val="233342"/>
                </a:solidFill>
                <a:latin typeface="Arial"/>
                <a:ea typeface="Arial"/>
                <a:cs typeface="Arial"/>
              </a:defRPr>
            </a:lvl5pPr>
            <a:lvl6pPr algn="ctr">
              <a:defRPr sz="1425" i="1">
                <a:solidFill>
                  <a:srgbClr val="233342"/>
                </a:solidFill>
                <a:latin typeface="Arial"/>
                <a:ea typeface="Arial"/>
                <a:cs typeface="Arial"/>
              </a:defRPr>
            </a:lvl6pPr>
            <a:lvl7pPr algn="ctr">
              <a:defRPr sz="1425" i="1">
                <a:solidFill>
                  <a:srgbClr val="233342"/>
                </a:solidFill>
                <a:latin typeface="Arial"/>
                <a:ea typeface="Arial"/>
                <a:cs typeface="Arial"/>
              </a:defRPr>
            </a:lvl7pPr>
            <a:lvl8pPr algn="ctr">
              <a:defRPr sz="1425" i="1">
                <a:solidFill>
                  <a:srgbClr val="233342"/>
                </a:solidFill>
                <a:latin typeface="Arial"/>
                <a:ea typeface="Arial"/>
                <a:cs typeface="Arial"/>
              </a:defRPr>
            </a:lvl8pPr>
            <a:lvl9pPr algn="ctr">
              <a:defRPr sz="1425" i="1">
                <a:solidFill>
                  <a:srgbClr val="233342"/>
                </a:solidFill>
                <a:latin typeface="Arial"/>
                <a:ea typeface="Arial"/>
                <a:cs typeface="Arial"/>
              </a:defRPr>
            </a:lvl9pPr>
          </a:lstStyle>
          <a:p xmlns:a="http://schemas.openxmlformats.org/drawingml/2006/main">
            <a:pPr algn="ctr">
              <a:defRPr sz="1425" i="1">
                <a:solidFill>
                  <a:srgbClr val="233342"/>
                </a:solidFill>
                <a:latin typeface="Arial"/>
                <a:ea typeface="Arial"/>
                <a:cs typeface="Arial"/>
              </a:defRPr>
            </a:pPr>
            <a:r>
              <a:rPr sz="1425" i="1">
                <a:solidFill>
                  <a:srgbClr val="233342"/>
                </a:solidFill>
                <a:latin typeface="Arial"/>
                <a:ea typeface="Arial"/>
                <a:cs typeface="Arial"/>
              </a:rPr>
              <a:t>The comparison centers on data, representation, and learning objective rather than access to massive corpora.</a:t>
            </a:r>
          </a:p>
        </p:txBody>
      </p:sp>
      <p:sp>
        <p:nvSpPr>
          <p:cNvPr id="18" name="slide-2-footer-label">
            <a:extLst xmlns:a="http://schemas.openxmlformats.org/drawingml/2006/main">
              <a:ext uri="{FF2B5EF4-FFF2-40B4-BE49-F238E27FC236}">
                <a16:creationId xmlns:a16="http://schemas.microsoft.com/office/drawing/2014/main" id="{50677860-466F-4A29-AAD6-C69077BD7F83}"/>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9" name="slide-2-footer-number">
            <a:extLst xmlns:a="http://schemas.openxmlformats.org/drawingml/2006/main">
              <a:ext uri="{FF2B5EF4-FFF2-40B4-BE49-F238E27FC236}">
                <a16:creationId xmlns:a16="http://schemas.microsoft.com/office/drawing/2014/main" id="{7F833FC2-A230-475C-9562-DADA27811CA6}"/>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02</a:t>
            </a:r>
          </a:p>
        </p:txBody>
      </p:sp>
    </p:spTree>
    <p:extLst>
      <p:ext uri="{BB962C8B-B14F-4D97-AF65-F5344CB8AC3E}">
        <p14:creationId xmlns:p14="http://schemas.microsoft.com/office/powerpoint/2010/main" val="1675511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3-title">
            <a:extLst xmlns:a="http://schemas.openxmlformats.org/drawingml/2006/main">
              <a:ext uri="{FF2B5EF4-FFF2-40B4-BE49-F238E27FC236}">
                <a16:creationId xmlns:a16="http://schemas.microsoft.com/office/drawing/2014/main" id="{D2814737-4EBD-4095-AA80-48F42322EECF}"/>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Training protocol</a:t>
            </a:r>
          </a:p>
        </p:txBody>
      </p:sp>
      <p:sp>
        <p:nvSpPr>
          <p:cNvPr id="2" name="slide-3-top-rule">
            <a:extLst xmlns:a="http://schemas.openxmlformats.org/drawingml/2006/main">
              <a:ext uri="{FF2B5EF4-FFF2-40B4-BE49-F238E27FC236}">
                <a16:creationId xmlns:a16="http://schemas.microsoft.com/office/drawing/2014/main" id="{8A2CBF5F-AF85-4AA2-BD46-DE1E2C4C352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D721D6-09C0-4236-8D76-0C01EC17182E}"/>
              </a:ext>
            </a:extLst>
          </p:cNvPr>
          <p:cNvSpPr>
            <a:spLocks xmlns:a="http://schemas.openxmlformats.org/drawingml/2006/main" noGrp="1"/>
          </p:cNvSpPr>
          <p:nvPr/>
        </p:nvSpPr>
        <p:spPr>
          <a:xfrm xmlns:a="http://schemas.openxmlformats.org/drawingml/2006/main">
            <a:off x="685800" y="1438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xmlns:a="http://schemas.openxmlformats.org/drawingml/2006/main">
            <a:pPr>
              <a:defRPr sz="1050" b="1">
                <a:solidFill>
                  <a:srgbClr val="C49A2C"/>
                </a:solidFill>
                <a:latin typeface="Arial"/>
                <a:ea typeface="Arial"/>
                <a:cs typeface="Arial"/>
              </a:defRPr>
            </a:pPr>
            <a:r>
              <a:rPr sz="1050" b="1">
                <a:solidFill>
                  <a:srgbClr val="C49A2C"/>
                </a:solidFill>
                <a:latin typeface="Arial"/>
                <a:ea typeface="Arial"/>
                <a:cs typeface="Arial"/>
              </a:rPr>
              <a:t>DEVELOPMENTAL SOURCES</a:t>
            </a:r>
          </a:p>
        </p:txBody>
      </p:sp>
      <p:sp>
        <p:nvSpPr>
          <p:cNvPr id="4" name="">
            <a:extLst xmlns:a="http://schemas.openxmlformats.org/drawingml/2006/main">
              <a:ext uri="{FF2B5EF4-FFF2-40B4-BE49-F238E27FC236}">
                <a16:creationId xmlns:a16="http://schemas.microsoft.com/office/drawing/2014/main" id="{78BFF810-D1D0-47E8-B547-4B1FC2C14848}"/>
              </a:ext>
            </a:extLst>
          </p:cNvPr>
          <p:cNvSpPr>
            <a:spLocks xmlns:a="http://schemas.openxmlformats.org/drawingml/2006/main" noGrp="1"/>
          </p:cNvSpPr>
          <p:nvPr/>
        </p:nvSpPr>
        <p:spPr>
          <a:xfrm xmlns:a="http://schemas.openxmlformats.org/drawingml/2006/main">
            <a:off x="685800" y="1857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2550" b="1">
                <a:solidFill>
                  <a:srgbClr val="20242A"/>
                </a:solidFill>
                <a:latin typeface="Arial"/>
                <a:ea typeface="Arial"/>
                <a:cs typeface="Arial"/>
              </a:defRPr>
            </a:defPPr>
            <a:lvl1pPr>
              <a:defRPr sz="2550" b="1">
                <a:solidFill>
                  <a:srgbClr val="20242A"/>
                </a:solidFill>
                <a:latin typeface="Arial"/>
                <a:ea typeface="Arial"/>
                <a:cs typeface="Arial"/>
              </a:defRPr>
            </a:lvl1pPr>
            <a:lvl2pPr>
              <a:defRPr sz="2550" b="1">
                <a:solidFill>
                  <a:srgbClr val="20242A"/>
                </a:solidFill>
                <a:latin typeface="Arial"/>
                <a:ea typeface="Arial"/>
                <a:cs typeface="Arial"/>
              </a:defRPr>
            </a:lvl2pPr>
            <a:lvl3pPr>
              <a:defRPr sz="2550" b="1">
                <a:solidFill>
                  <a:srgbClr val="20242A"/>
                </a:solidFill>
                <a:latin typeface="Arial"/>
                <a:ea typeface="Arial"/>
                <a:cs typeface="Arial"/>
              </a:defRPr>
            </a:lvl3pPr>
            <a:lvl4pPr>
              <a:defRPr sz="2550" b="1">
                <a:solidFill>
                  <a:srgbClr val="20242A"/>
                </a:solidFill>
                <a:latin typeface="Arial"/>
                <a:ea typeface="Arial"/>
                <a:cs typeface="Arial"/>
              </a:defRPr>
            </a:lvl4pPr>
            <a:lvl5pPr>
              <a:defRPr sz="2550" b="1">
                <a:solidFill>
                  <a:srgbClr val="20242A"/>
                </a:solidFill>
                <a:latin typeface="Arial"/>
                <a:ea typeface="Arial"/>
                <a:cs typeface="Arial"/>
              </a:defRPr>
            </a:lvl5pPr>
            <a:lvl6pPr>
              <a:defRPr sz="2550" b="1">
                <a:solidFill>
                  <a:srgbClr val="20242A"/>
                </a:solidFill>
                <a:latin typeface="Arial"/>
                <a:ea typeface="Arial"/>
                <a:cs typeface="Arial"/>
              </a:defRPr>
            </a:lvl6pPr>
            <a:lvl7pPr>
              <a:defRPr sz="2550" b="1">
                <a:solidFill>
                  <a:srgbClr val="20242A"/>
                </a:solidFill>
                <a:latin typeface="Arial"/>
                <a:ea typeface="Arial"/>
                <a:cs typeface="Arial"/>
              </a:defRPr>
            </a:lvl7pPr>
            <a:lvl8pPr>
              <a:defRPr sz="2550" b="1">
                <a:solidFill>
                  <a:srgbClr val="20242A"/>
                </a:solidFill>
                <a:latin typeface="Arial"/>
                <a:ea typeface="Arial"/>
                <a:cs typeface="Arial"/>
              </a:defRPr>
            </a:lvl8pPr>
            <a:lvl9pPr>
              <a:defRPr sz="2550" b="1">
                <a:solidFill>
                  <a:srgbClr val="20242A"/>
                </a:solidFill>
                <a:latin typeface="Arial"/>
                <a:ea typeface="Arial"/>
                <a:cs typeface="Arial"/>
              </a:defRPr>
            </a:lvl9pPr>
          </a:lstStyle>
          <a:p xmlns:a="http://schemas.openxmlformats.org/drawingml/2006/main">
            <a:pPr>
              <a:defRPr sz="2550" b="1">
                <a:solidFill>
                  <a:srgbClr val="20242A"/>
                </a:solidFill>
                <a:latin typeface="Arial"/>
                <a:ea typeface="Arial"/>
                <a:cs typeface="Arial"/>
              </a:defRPr>
            </a:pPr>
            <a:r>
              <a:rPr sz="2550" b="1">
                <a:solidFill>
                  <a:srgbClr val="20242A"/>
                </a:solidFill>
                <a:latin typeface="Arial"/>
                <a:ea typeface="Arial"/>
                <a:cs typeface="Arial"/>
              </a:rPr>
              <a:t>Speech + text</a:t>
            </a:r>
          </a:p>
        </p:txBody>
      </p:sp>
      <p:sp>
        <p:nvSpPr>
          <p:cNvPr id="5" name="">
            <a:extLst xmlns:a="http://schemas.openxmlformats.org/drawingml/2006/main">
              <a:ext uri="{FF2B5EF4-FFF2-40B4-BE49-F238E27FC236}">
                <a16:creationId xmlns:a16="http://schemas.microsoft.com/office/drawing/2014/main" id="{F236A7F4-49C6-47B5-A771-2A9C52EE54FA}"/>
              </a:ext>
            </a:extLst>
          </p:cNvPr>
          <p:cNvSpPr>
            <a:spLocks xmlns:a="http://schemas.openxmlformats.org/drawingml/2006/main" noGrp="1"/>
          </p:cNvSpPr>
          <p:nvPr/>
        </p:nvSpPr>
        <p:spPr>
          <a:xfrm xmlns:a="http://schemas.openxmlformats.org/drawingml/2006/main">
            <a:off x="685800" y="2571750"/>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58E18BF-AC98-46AE-9503-163BBA9B47ED}"/>
              </a:ext>
            </a:extLst>
          </p:cNvPr>
          <p:cNvSpPr>
            <a:spLocks xmlns:a="http://schemas.openxmlformats.org/drawingml/2006/main" noGrp="1"/>
          </p:cNvSpPr>
          <p:nvPr/>
        </p:nvSpPr>
        <p:spPr>
          <a:xfrm xmlns:a="http://schemas.openxmlformats.org/drawingml/2006/main">
            <a:off x="685800" y="285750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Child-available speech, child-directed speech, books, educational text, subtitles, and reference text</a:t>
            </a:r>
          </a:p>
        </p:txBody>
      </p:sp>
      <p:sp>
        <p:nvSpPr>
          <p:cNvPr id="7" name="">
            <a:extLst xmlns:a="http://schemas.openxmlformats.org/drawingml/2006/main">
              <a:ext uri="{FF2B5EF4-FFF2-40B4-BE49-F238E27FC236}">
                <a16:creationId xmlns:a16="http://schemas.microsoft.com/office/drawing/2014/main" id="{CA510E61-D2F4-42C0-B24C-F8397580BE85}"/>
              </a:ext>
            </a:extLst>
          </p:cNvPr>
          <p:cNvSpPr>
            <a:spLocks xmlns:a="http://schemas.openxmlformats.org/drawingml/2006/main" noGrp="1"/>
          </p:cNvSpPr>
          <p:nvPr/>
        </p:nvSpPr>
        <p:spPr>
          <a:xfrm xmlns:a="http://schemas.openxmlformats.org/drawingml/2006/main">
            <a:off x="3819525" y="2105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2025" b="1">
                <a:solidFill>
                  <a:srgbClr val="A5A9AE"/>
                </a:solidFill>
                <a:latin typeface="Arial"/>
                <a:ea typeface="Arial"/>
                <a:cs typeface="Arial"/>
              </a:defRPr>
            </a:defPPr>
            <a:lvl1pPr algn="ctr">
              <a:defRPr sz="2025" b="1">
                <a:solidFill>
                  <a:srgbClr val="A5A9AE"/>
                </a:solidFill>
                <a:latin typeface="Arial"/>
                <a:ea typeface="Arial"/>
                <a:cs typeface="Arial"/>
              </a:defRPr>
            </a:lvl1pPr>
            <a:lvl2pPr algn="ctr">
              <a:defRPr sz="2025" b="1">
                <a:solidFill>
                  <a:srgbClr val="A5A9AE"/>
                </a:solidFill>
                <a:latin typeface="Arial"/>
                <a:ea typeface="Arial"/>
                <a:cs typeface="Arial"/>
              </a:defRPr>
            </a:lvl2pPr>
            <a:lvl3pPr algn="ctr">
              <a:defRPr sz="2025" b="1">
                <a:solidFill>
                  <a:srgbClr val="A5A9AE"/>
                </a:solidFill>
                <a:latin typeface="Arial"/>
                <a:ea typeface="Arial"/>
                <a:cs typeface="Arial"/>
              </a:defRPr>
            </a:lvl3pPr>
            <a:lvl4pPr algn="ctr">
              <a:defRPr sz="2025" b="1">
                <a:solidFill>
                  <a:srgbClr val="A5A9AE"/>
                </a:solidFill>
                <a:latin typeface="Arial"/>
                <a:ea typeface="Arial"/>
                <a:cs typeface="Arial"/>
              </a:defRPr>
            </a:lvl4pPr>
            <a:lvl5pPr algn="ctr">
              <a:defRPr sz="2025" b="1">
                <a:solidFill>
                  <a:srgbClr val="A5A9AE"/>
                </a:solidFill>
                <a:latin typeface="Arial"/>
                <a:ea typeface="Arial"/>
                <a:cs typeface="Arial"/>
              </a:defRPr>
            </a:lvl5pPr>
            <a:lvl6pPr algn="ctr">
              <a:defRPr sz="2025" b="1">
                <a:solidFill>
                  <a:srgbClr val="A5A9AE"/>
                </a:solidFill>
                <a:latin typeface="Arial"/>
                <a:ea typeface="Arial"/>
                <a:cs typeface="Arial"/>
              </a:defRPr>
            </a:lvl6pPr>
            <a:lvl7pPr algn="ctr">
              <a:defRPr sz="2025" b="1">
                <a:solidFill>
                  <a:srgbClr val="A5A9AE"/>
                </a:solidFill>
                <a:latin typeface="Arial"/>
                <a:ea typeface="Arial"/>
                <a:cs typeface="Arial"/>
              </a:defRPr>
            </a:lvl7pPr>
            <a:lvl8pPr algn="ctr">
              <a:defRPr sz="2025" b="1">
                <a:solidFill>
                  <a:srgbClr val="A5A9AE"/>
                </a:solidFill>
                <a:latin typeface="Arial"/>
                <a:ea typeface="Arial"/>
                <a:cs typeface="Arial"/>
              </a:defRPr>
            </a:lvl8pPr>
            <a:lvl9pPr algn="ctr">
              <a:defRPr sz="2025" b="1">
                <a:solidFill>
                  <a:srgbClr val="A5A9AE"/>
                </a:solidFill>
                <a:latin typeface="Arial"/>
                <a:ea typeface="Arial"/>
                <a:cs typeface="Arial"/>
              </a:defRPr>
            </a:lvl9pPr>
          </a:lstStyle>
          <a:p xmlns:a="http://schemas.openxmlformats.org/drawingml/2006/main">
            <a:pPr algn="ctr">
              <a:defRPr sz="2025" b="1">
                <a:solidFill>
                  <a:srgbClr val="A5A9AE"/>
                </a:solidFill>
                <a:latin typeface="Arial"/>
                <a:ea typeface="Arial"/>
                <a:cs typeface="Arial"/>
              </a:defRPr>
            </a:pPr>
            <a:r>
              <a:rPr sz="2025" b="1">
                <a:solidFill>
                  <a:srgbClr val="A5A9AE"/>
                </a:solidFill>
                <a:latin typeface="Arial"/>
                <a:ea typeface="Arial"/>
                <a:cs typeface="Arial"/>
              </a:rPr>
              <a:t>&gt;</a:t>
            </a:r>
          </a:p>
        </p:txBody>
      </p:sp>
      <p:sp>
        <p:nvSpPr>
          <p:cNvPr id="8" name="">
            <a:extLst xmlns:a="http://schemas.openxmlformats.org/drawingml/2006/main">
              <a:ext uri="{FF2B5EF4-FFF2-40B4-BE49-F238E27FC236}">
                <a16:creationId xmlns:a16="http://schemas.microsoft.com/office/drawing/2014/main" id="{4EEE5B38-41AB-4A3D-9421-44CE883F982B}"/>
              </a:ext>
            </a:extLst>
          </p:cNvPr>
          <p:cNvSpPr>
            <a:spLocks xmlns:a="http://schemas.openxmlformats.org/drawingml/2006/main" noGrp="1"/>
          </p:cNvSpPr>
          <p:nvPr/>
        </p:nvSpPr>
        <p:spPr>
          <a:xfrm xmlns:a="http://schemas.openxmlformats.org/drawingml/2006/main">
            <a:off x="4362450" y="1438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xmlns:a="http://schemas.openxmlformats.org/drawingml/2006/main">
            <a:pPr>
              <a:defRPr sz="1050" b="1">
                <a:solidFill>
                  <a:srgbClr val="C49A2C"/>
                </a:solidFill>
                <a:latin typeface="Arial"/>
                <a:ea typeface="Arial"/>
                <a:cs typeface="Arial"/>
              </a:defRPr>
            </a:pPr>
            <a:r>
              <a:rPr sz="1050" b="1">
                <a:solidFill>
                  <a:srgbClr val="C49A2C"/>
                </a:solidFill>
                <a:latin typeface="Arial"/>
                <a:ea typeface="Arial"/>
                <a:cs typeface="Arial"/>
              </a:rPr>
              <a:t>DATA CONSTRAINT</a:t>
            </a:r>
          </a:p>
        </p:txBody>
      </p:sp>
      <p:sp>
        <p:nvSpPr>
          <p:cNvPr id="9" name="">
            <a:extLst xmlns:a="http://schemas.openxmlformats.org/drawingml/2006/main">
              <a:ext uri="{FF2B5EF4-FFF2-40B4-BE49-F238E27FC236}">
                <a16:creationId xmlns:a16="http://schemas.microsoft.com/office/drawing/2014/main" id="{99F54BCB-6FE8-4B7D-AD83-9557334F8A91}"/>
              </a:ext>
            </a:extLst>
          </p:cNvPr>
          <p:cNvSpPr>
            <a:spLocks xmlns:a="http://schemas.openxmlformats.org/drawingml/2006/main" noGrp="1"/>
          </p:cNvSpPr>
          <p:nvPr/>
        </p:nvSpPr>
        <p:spPr>
          <a:xfrm xmlns:a="http://schemas.openxmlformats.org/drawingml/2006/main">
            <a:off x="4362450" y="1857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2550" b="1">
                <a:solidFill>
                  <a:srgbClr val="9E1B32"/>
                </a:solidFill>
                <a:latin typeface="Arial"/>
                <a:ea typeface="Arial"/>
                <a:cs typeface="Arial"/>
              </a:defRPr>
            </a:defPPr>
            <a:lvl1pPr>
              <a:defRPr sz="2550" b="1">
                <a:solidFill>
                  <a:srgbClr val="9E1B32"/>
                </a:solidFill>
                <a:latin typeface="Arial"/>
                <a:ea typeface="Arial"/>
                <a:cs typeface="Arial"/>
              </a:defRPr>
            </a:lvl1pPr>
            <a:lvl2pPr>
              <a:defRPr sz="2550" b="1">
                <a:solidFill>
                  <a:srgbClr val="9E1B32"/>
                </a:solidFill>
                <a:latin typeface="Arial"/>
                <a:ea typeface="Arial"/>
                <a:cs typeface="Arial"/>
              </a:defRPr>
            </a:lvl2pPr>
            <a:lvl3pPr>
              <a:defRPr sz="2550" b="1">
                <a:solidFill>
                  <a:srgbClr val="9E1B32"/>
                </a:solidFill>
                <a:latin typeface="Arial"/>
                <a:ea typeface="Arial"/>
                <a:cs typeface="Arial"/>
              </a:defRPr>
            </a:lvl3pPr>
            <a:lvl4pPr>
              <a:defRPr sz="2550" b="1">
                <a:solidFill>
                  <a:srgbClr val="9E1B32"/>
                </a:solidFill>
                <a:latin typeface="Arial"/>
                <a:ea typeface="Arial"/>
                <a:cs typeface="Arial"/>
              </a:defRPr>
            </a:lvl4pPr>
            <a:lvl5pPr>
              <a:defRPr sz="2550" b="1">
                <a:solidFill>
                  <a:srgbClr val="9E1B32"/>
                </a:solidFill>
                <a:latin typeface="Arial"/>
                <a:ea typeface="Arial"/>
                <a:cs typeface="Arial"/>
              </a:defRPr>
            </a:lvl5pPr>
            <a:lvl6pPr>
              <a:defRPr sz="2550" b="1">
                <a:solidFill>
                  <a:srgbClr val="9E1B32"/>
                </a:solidFill>
                <a:latin typeface="Arial"/>
                <a:ea typeface="Arial"/>
                <a:cs typeface="Arial"/>
              </a:defRPr>
            </a:lvl6pPr>
            <a:lvl7pPr>
              <a:defRPr sz="2550" b="1">
                <a:solidFill>
                  <a:srgbClr val="9E1B32"/>
                </a:solidFill>
                <a:latin typeface="Arial"/>
                <a:ea typeface="Arial"/>
                <a:cs typeface="Arial"/>
              </a:defRPr>
            </a:lvl7pPr>
            <a:lvl8pPr>
              <a:defRPr sz="2550" b="1">
                <a:solidFill>
                  <a:srgbClr val="9E1B32"/>
                </a:solidFill>
                <a:latin typeface="Arial"/>
                <a:ea typeface="Arial"/>
                <a:cs typeface="Arial"/>
              </a:defRPr>
            </a:lvl8pPr>
            <a:lvl9pPr>
              <a:defRPr sz="2550" b="1">
                <a:solidFill>
                  <a:srgbClr val="9E1B32"/>
                </a:solidFill>
                <a:latin typeface="Arial"/>
                <a:ea typeface="Arial"/>
                <a:cs typeface="Arial"/>
              </a:defRPr>
            </a:lvl9pPr>
          </a:lstStyle>
          <a:p xmlns:a="http://schemas.openxmlformats.org/drawingml/2006/main">
            <a:pPr>
              <a:defRPr sz="2550" b="1">
                <a:solidFill>
                  <a:srgbClr val="9E1B32"/>
                </a:solidFill>
                <a:latin typeface="Arial"/>
                <a:ea typeface="Arial"/>
                <a:cs typeface="Arial"/>
              </a:defRPr>
            </a:pPr>
            <a:r>
              <a:rPr sz="2550" b="1">
                <a:solidFill>
                  <a:srgbClr val="9E1B32"/>
                </a:solidFill>
                <a:latin typeface="Arial"/>
                <a:ea typeface="Arial"/>
                <a:cs typeface="Arial"/>
              </a:rPr>
              <a:t>≤102M words</a:t>
            </a:r>
          </a:p>
        </p:txBody>
      </p:sp>
      <p:sp>
        <p:nvSpPr>
          <p:cNvPr id="10" name="">
            <a:extLst xmlns:a="http://schemas.openxmlformats.org/drawingml/2006/main">
              <a:ext uri="{FF2B5EF4-FFF2-40B4-BE49-F238E27FC236}">
                <a16:creationId xmlns:a16="http://schemas.microsoft.com/office/drawing/2014/main" id="{067ED0CF-8E90-41F0-8B89-015FFB99EF3D}"/>
              </a:ext>
            </a:extLst>
          </p:cNvPr>
          <p:cNvSpPr>
            <a:spLocks xmlns:a="http://schemas.openxmlformats.org/drawingml/2006/main" noGrp="1"/>
          </p:cNvSpPr>
          <p:nvPr/>
        </p:nvSpPr>
        <p:spPr>
          <a:xfrm xmlns:a="http://schemas.openxmlformats.org/drawingml/2006/main">
            <a:off x="4362450" y="2571750"/>
            <a:ext cx="2952750" cy="38100"/>
          </a:xfrm>
          <a:prstGeom xmlns:a="http://schemas.openxmlformats.org/drawingml/2006/main" prst="rect">
            <a:avLst/>
          </a:prstGeom>
          <a:solidFill xmlns:a="http://schemas.openxmlformats.org/drawingml/2006/main">
            <a:srgbClr val="9E1B3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0AC9A1C-8E05-4724-A58F-9950FD3C5847}"/>
              </a:ext>
            </a:extLst>
          </p:cNvPr>
          <p:cNvSpPr>
            <a:spLocks xmlns:a="http://schemas.openxmlformats.org/drawingml/2006/main" noGrp="1"/>
          </p:cNvSpPr>
          <p:nvPr/>
        </p:nvSpPr>
        <p:spPr>
          <a:xfrm xmlns:a="http://schemas.openxmlformats.org/drawingml/2006/main">
            <a:off x="4362450" y="285750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Official BabyBabelLM-derived corpus, or a self-compiled corpus measured with the same Jieba procedure</a:t>
            </a:r>
          </a:p>
        </p:txBody>
      </p:sp>
      <p:sp>
        <p:nvSpPr>
          <p:cNvPr id="12" name="">
            <a:extLst xmlns:a="http://schemas.openxmlformats.org/drawingml/2006/main">
              <a:ext uri="{FF2B5EF4-FFF2-40B4-BE49-F238E27FC236}">
                <a16:creationId xmlns:a16="http://schemas.microsoft.com/office/drawing/2014/main" id="{4F8CA6D8-17E9-45E8-88B2-598401EE05B4}"/>
              </a:ext>
            </a:extLst>
          </p:cNvPr>
          <p:cNvSpPr>
            <a:spLocks xmlns:a="http://schemas.openxmlformats.org/drawingml/2006/main" noGrp="1"/>
          </p:cNvSpPr>
          <p:nvPr/>
        </p:nvSpPr>
        <p:spPr>
          <a:xfrm xmlns:a="http://schemas.openxmlformats.org/drawingml/2006/main">
            <a:off x="7496175" y="2105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2025" b="1">
                <a:solidFill>
                  <a:srgbClr val="A5A9AE"/>
                </a:solidFill>
                <a:latin typeface="Arial"/>
                <a:ea typeface="Arial"/>
                <a:cs typeface="Arial"/>
              </a:defRPr>
            </a:defPPr>
            <a:lvl1pPr algn="ctr">
              <a:defRPr sz="2025" b="1">
                <a:solidFill>
                  <a:srgbClr val="A5A9AE"/>
                </a:solidFill>
                <a:latin typeface="Arial"/>
                <a:ea typeface="Arial"/>
                <a:cs typeface="Arial"/>
              </a:defRPr>
            </a:lvl1pPr>
            <a:lvl2pPr algn="ctr">
              <a:defRPr sz="2025" b="1">
                <a:solidFill>
                  <a:srgbClr val="A5A9AE"/>
                </a:solidFill>
                <a:latin typeface="Arial"/>
                <a:ea typeface="Arial"/>
                <a:cs typeface="Arial"/>
              </a:defRPr>
            </a:lvl2pPr>
            <a:lvl3pPr algn="ctr">
              <a:defRPr sz="2025" b="1">
                <a:solidFill>
                  <a:srgbClr val="A5A9AE"/>
                </a:solidFill>
                <a:latin typeface="Arial"/>
                <a:ea typeface="Arial"/>
                <a:cs typeface="Arial"/>
              </a:defRPr>
            </a:lvl3pPr>
            <a:lvl4pPr algn="ctr">
              <a:defRPr sz="2025" b="1">
                <a:solidFill>
                  <a:srgbClr val="A5A9AE"/>
                </a:solidFill>
                <a:latin typeface="Arial"/>
                <a:ea typeface="Arial"/>
                <a:cs typeface="Arial"/>
              </a:defRPr>
            </a:lvl4pPr>
            <a:lvl5pPr algn="ctr">
              <a:defRPr sz="2025" b="1">
                <a:solidFill>
                  <a:srgbClr val="A5A9AE"/>
                </a:solidFill>
                <a:latin typeface="Arial"/>
                <a:ea typeface="Arial"/>
                <a:cs typeface="Arial"/>
              </a:defRPr>
            </a:lvl5pPr>
            <a:lvl6pPr algn="ctr">
              <a:defRPr sz="2025" b="1">
                <a:solidFill>
                  <a:srgbClr val="A5A9AE"/>
                </a:solidFill>
                <a:latin typeface="Arial"/>
                <a:ea typeface="Arial"/>
                <a:cs typeface="Arial"/>
              </a:defRPr>
            </a:lvl6pPr>
            <a:lvl7pPr algn="ctr">
              <a:defRPr sz="2025" b="1">
                <a:solidFill>
                  <a:srgbClr val="A5A9AE"/>
                </a:solidFill>
                <a:latin typeface="Arial"/>
                <a:ea typeface="Arial"/>
                <a:cs typeface="Arial"/>
              </a:defRPr>
            </a:lvl7pPr>
            <a:lvl8pPr algn="ctr">
              <a:defRPr sz="2025" b="1">
                <a:solidFill>
                  <a:srgbClr val="A5A9AE"/>
                </a:solidFill>
                <a:latin typeface="Arial"/>
                <a:ea typeface="Arial"/>
                <a:cs typeface="Arial"/>
              </a:defRPr>
            </a:lvl8pPr>
            <a:lvl9pPr algn="ctr">
              <a:defRPr sz="2025" b="1">
                <a:solidFill>
                  <a:srgbClr val="A5A9AE"/>
                </a:solidFill>
                <a:latin typeface="Arial"/>
                <a:ea typeface="Arial"/>
                <a:cs typeface="Arial"/>
              </a:defRPr>
            </a:lvl9pPr>
          </a:lstStyle>
          <a:p xmlns:a="http://schemas.openxmlformats.org/drawingml/2006/main">
            <a:pPr algn="ctr">
              <a:defRPr sz="2025" b="1">
                <a:solidFill>
                  <a:srgbClr val="A5A9AE"/>
                </a:solidFill>
                <a:latin typeface="Arial"/>
                <a:ea typeface="Arial"/>
                <a:cs typeface="Arial"/>
              </a:defRPr>
            </a:pPr>
            <a:r>
              <a:rPr sz="2025" b="1">
                <a:solidFill>
                  <a:srgbClr val="A5A9AE"/>
                </a:solidFill>
                <a:latin typeface="Arial"/>
                <a:ea typeface="Arial"/>
                <a:cs typeface="Arial"/>
              </a:rPr>
              <a:t>&gt;</a:t>
            </a:r>
          </a:p>
        </p:txBody>
      </p:sp>
      <p:sp>
        <p:nvSpPr>
          <p:cNvPr id="13" name="">
            <a:extLst xmlns:a="http://schemas.openxmlformats.org/drawingml/2006/main">
              <a:ext uri="{FF2B5EF4-FFF2-40B4-BE49-F238E27FC236}">
                <a16:creationId xmlns:a16="http://schemas.microsoft.com/office/drawing/2014/main" id="{11760B97-501C-42FF-9C89-E3975C8C278A}"/>
              </a:ext>
            </a:extLst>
          </p:cNvPr>
          <p:cNvSpPr>
            <a:spLocks xmlns:a="http://schemas.openxmlformats.org/drawingml/2006/main" noGrp="1"/>
          </p:cNvSpPr>
          <p:nvPr/>
        </p:nvSpPr>
        <p:spPr>
          <a:xfrm xmlns:a="http://schemas.openxmlformats.org/drawingml/2006/main">
            <a:off x="8039100" y="1438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xmlns:a="http://schemas.openxmlformats.org/drawingml/2006/main">
            <a:pPr>
              <a:defRPr sz="1050" b="1">
                <a:solidFill>
                  <a:srgbClr val="C49A2C"/>
                </a:solidFill>
                <a:latin typeface="Arial"/>
                <a:ea typeface="Arial"/>
                <a:cs typeface="Arial"/>
              </a:defRPr>
            </a:pPr>
            <a:r>
              <a:rPr sz="1050" b="1">
                <a:solidFill>
                  <a:srgbClr val="C49A2C"/>
                </a:solidFill>
                <a:latin typeface="Arial"/>
                <a:ea typeface="Arial"/>
                <a:cs typeface="Arial"/>
              </a:rPr>
              <a:t>MODEL TRAINING</a:t>
            </a:r>
          </a:p>
        </p:txBody>
      </p:sp>
      <p:sp>
        <p:nvSpPr>
          <p:cNvPr id="14" name="">
            <a:extLst xmlns:a="http://schemas.openxmlformats.org/drawingml/2006/main">
              <a:ext uri="{FF2B5EF4-FFF2-40B4-BE49-F238E27FC236}">
                <a16:creationId xmlns:a16="http://schemas.microsoft.com/office/drawing/2014/main" id="{8AC907EB-CA92-4432-9B03-27EBB26B458B}"/>
              </a:ext>
            </a:extLst>
          </p:cNvPr>
          <p:cNvSpPr>
            <a:spLocks xmlns:a="http://schemas.openxmlformats.org/drawingml/2006/main" noGrp="1"/>
          </p:cNvSpPr>
          <p:nvPr/>
        </p:nvSpPr>
        <p:spPr>
          <a:xfrm xmlns:a="http://schemas.openxmlformats.org/drawingml/2006/main">
            <a:off x="8039100" y="1857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2550" b="1">
                <a:solidFill>
                  <a:srgbClr val="20242A"/>
                </a:solidFill>
                <a:latin typeface="Arial"/>
                <a:ea typeface="Arial"/>
                <a:cs typeface="Arial"/>
              </a:defRPr>
            </a:defPPr>
            <a:lvl1pPr>
              <a:defRPr sz="2550" b="1">
                <a:solidFill>
                  <a:srgbClr val="20242A"/>
                </a:solidFill>
                <a:latin typeface="Arial"/>
                <a:ea typeface="Arial"/>
                <a:cs typeface="Arial"/>
              </a:defRPr>
            </a:lvl1pPr>
            <a:lvl2pPr>
              <a:defRPr sz="2550" b="1">
                <a:solidFill>
                  <a:srgbClr val="20242A"/>
                </a:solidFill>
                <a:latin typeface="Arial"/>
                <a:ea typeface="Arial"/>
                <a:cs typeface="Arial"/>
              </a:defRPr>
            </a:lvl2pPr>
            <a:lvl3pPr>
              <a:defRPr sz="2550" b="1">
                <a:solidFill>
                  <a:srgbClr val="20242A"/>
                </a:solidFill>
                <a:latin typeface="Arial"/>
                <a:ea typeface="Arial"/>
                <a:cs typeface="Arial"/>
              </a:defRPr>
            </a:lvl3pPr>
            <a:lvl4pPr>
              <a:defRPr sz="2550" b="1">
                <a:solidFill>
                  <a:srgbClr val="20242A"/>
                </a:solidFill>
                <a:latin typeface="Arial"/>
                <a:ea typeface="Arial"/>
                <a:cs typeface="Arial"/>
              </a:defRPr>
            </a:lvl4pPr>
            <a:lvl5pPr>
              <a:defRPr sz="2550" b="1">
                <a:solidFill>
                  <a:srgbClr val="20242A"/>
                </a:solidFill>
                <a:latin typeface="Arial"/>
                <a:ea typeface="Arial"/>
                <a:cs typeface="Arial"/>
              </a:defRPr>
            </a:lvl5pPr>
            <a:lvl6pPr>
              <a:defRPr sz="2550" b="1">
                <a:solidFill>
                  <a:srgbClr val="20242A"/>
                </a:solidFill>
                <a:latin typeface="Arial"/>
                <a:ea typeface="Arial"/>
                <a:cs typeface="Arial"/>
              </a:defRPr>
            </a:lvl6pPr>
            <a:lvl7pPr>
              <a:defRPr sz="2550" b="1">
                <a:solidFill>
                  <a:srgbClr val="20242A"/>
                </a:solidFill>
                <a:latin typeface="Arial"/>
                <a:ea typeface="Arial"/>
                <a:cs typeface="Arial"/>
              </a:defRPr>
            </a:lvl7pPr>
            <a:lvl8pPr>
              <a:defRPr sz="2550" b="1">
                <a:solidFill>
                  <a:srgbClr val="20242A"/>
                </a:solidFill>
                <a:latin typeface="Arial"/>
                <a:ea typeface="Arial"/>
                <a:cs typeface="Arial"/>
              </a:defRPr>
            </a:lvl8pPr>
            <a:lvl9pPr>
              <a:defRPr sz="2550" b="1">
                <a:solidFill>
                  <a:srgbClr val="20242A"/>
                </a:solidFill>
                <a:latin typeface="Arial"/>
                <a:ea typeface="Arial"/>
                <a:cs typeface="Arial"/>
              </a:defRPr>
            </a:lvl9pPr>
          </a:lstStyle>
          <a:p xmlns:a="http://schemas.openxmlformats.org/drawingml/2006/main">
            <a:pPr>
              <a:defRPr sz="2550" b="1">
                <a:solidFill>
                  <a:srgbClr val="20242A"/>
                </a:solidFill>
                <a:latin typeface="Arial"/>
                <a:ea typeface="Arial"/>
                <a:cs typeface="Arial"/>
              </a:defRPr>
            </a:pPr>
            <a:r>
              <a:rPr sz="2550" b="1">
                <a:solidFill>
                  <a:srgbClr val="20242A"/>
                </a:solidFill>
                <a:latin typeface="Arial"/>
                <a:ea typeface="Arial"/>
                <a:cs typeface="Arial"/>
              </a:rPr>
              <a:t>From scratch</a:t>
            </a:r>
          </a:p>
        </p:txBody>
      </p:sp>
      <p:sp>
        <p:nvSpPr>
          <p:cNvPr id="15" name="">
            <a:extLst xmlns:a="http://schemas.openxmlformats.org/drawingml/2006/main">
              <a:ext uri="{FF2B5EF4-FFF2-40B4-BE49-F238E27FC236}">
                <a16:creationId xmlns:a16="http://schemas.microsoft.com/office/drawing/2014/main" id="{54ED44BA-E908-43EB-BCD8-250BB689BB25}"/>
              </a:ext>
            </a:extLst>
          </p:cNvPr>
          <p:cNvSpPr>
            <a:spLocks xmlns:a="http://schemas.openxmlformats.org/drawingml/2006/main" noGrp="1"/>
          </p:cNvSpPr>
          <p:nvPr/>
        </p:nvSpPr>
        <p:spPr>
          <a:xfrm xmlns:a="http://schemas.openxmlformats.org/drawingml/2006/main">
            <a:off x="8039100" y="2571750"/>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8E9005-890A-4E3E-88AB-28BAE819A55C}"/>
              </a:ext>
            </a:extLst>
          </p:cNvPr>
          <p:cNvSpPr>
            <a:spLocks xmlns:a="http://schemas.openxmlformats.org/drawingml/2006/main" noGrp="1"/>
          </p:cNvSpPr>
          <p:nvPr/>
        </p:nvSpPr>
        <p:spPr>
          <a:xfrm xmlns:a="http://schemas.openxmlformats.org/drawingml/2006/main">
            <a:off x="8039100" y="285750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Random initialization only. No pretrained checkpoints and no distillation from existing large models</a:t>
            </a:r>
          </a:p>
        </p:txBody>
      </p:sp>
      <p:sp>
        <p:nvSpPr>
          <p:cNvPr id="17" name="">
            <a:extLst xmlns:a="http://schemas.openxmlformats.org/drawingml/2006/main">
              <a:ext uri="{FF2B5EF4-FFF2-40B4-BE49-F238E27FC236}">
                <a16:creationId xmlns:a16="http://schemas.microsoft.com/office/drawing/2014/main" id="{1B51B4E1-1A75-4394-A529-33A53101B7D2}"/>
              </a:ext>
            </a:extLst>
          </p:cNvPr>
          <p:cNvSpPr>
            <a:spLocks xmlns:a="http://schemas.openxmlformats.org/drawingml/2006/main" noGrp="1"/>
          </p:cNvSpPr>
          <p:nvPr/>
        </p:nvSpPr>
        <p:spPr>
          <a:xfrm xmlns:a="http://schemas.openxmlformats.org/drawingml/2006/main">
            <a:off x="685800" y="459105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76599F7-108D-4FC0-844A-24683FABE034}"/>
              </a:ext>
            </a:extLst>
          </p:cNvPr>
          <p:cNvSpPr>
            <a:spLocks xmlns:a="http://schemas.openxmlformats.org/drawingml/2006/main" noGrp="1"/>
          </p:cNvSpPr>
          <p:nvPr/>
        </p:nvSpPr>
        <p:spPr>
          <a:xfrm xmlns:a="http://schemas.openxmlformats.org/drawingml/2006/main">
            <a:off x="685800" y="4867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xmlns:a="http://schemas.openxmlformats.org/drawingml/2006/main">
            <a:pPr>
              <a:defRPr sz="1050" b="1">
                <a:solidFill>
                  <a:srgbClr val="C49A2C"/>
                </a:solidFill>
                <a:latin typeface="Arial"/>
                <a:ea typeface="Arial"/>
                <a:cs typeface="Arial"/>
              </a:defRPr>
            </a:pPr>
            <a:r>
              <a:rPr sz="1050" b="1">
                <a:solidFill>
                  <a:srgbClr val="C49A2C"/>
                </a:solidFill>
                <a:latin typeface="Arial"/>
                <a:ea typeface="Arial"/>
                <a:cs typeface="Arial"/>
              </a:rPr>
              <a:t>OPEN DESIGN SPACE</a:t>
            </a:r>
          </a:p>
        </p:txBody>
      </p:sp>
      <p:sp>
        <p:nvSpPr>
          <p:cNvPr id="19" name="">
            <a:extLst xmlns:a="http://schemas.openxmlformats.org/drawingml/2006/main">
              <a:ext uri="{FF2B5EF4-FFF2-40B4-BE49-F238E27FC236}">
                <a16:creationId xmlns:a16="http://schemas.microsoft.com/office/drawing/2014/main" id="{89F7F1E4-6EAD-4066-8D14-42190DA7CC2E}"/>
              </a:ext>
            </a:extLst>
          </p:cNvPr>
          <p:cNvSpPr>
            <a:spLocks xmlns:a="http://schemas.openxmlformats.org/drawingml/2006/main" noGrp="1"/>
          </p:cNvSpPr>
          <p:nvPr/>
        </p:nvSpPr>
        <p:spPr>
          <a:xfrm xmlns:a="http://schemas.openxmlformats.org/drawingml/2006/main">
            <a:off x="685800" y="52768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xmlns:a="http://schemas.openxmlformats.org/drawingml/2006/main">
            <a:pPr algn="ctr">
              <a:defRPr sz="1800" b="1">
                <a:solidFill>
                  <a:srgbClr val="233342"/>
                </a:solidFill>
                <a:latin typeface="Arial"/>
                <a:ea typeface="Arial"/>
                <a:cs typeface="Arial"/>
              </a:defRPr>
            </a:pPr>
            <a:r>
              <a:rPr sz="1800" b="1">
                <a:solidFill>
                  <a:srgbClr val="233342"/>
                </a:solidFill>
                <a:latin typeface="Arial"/>
                <a:ea typeface="Arial"/>
                <a:cs typeface="Arial"/>
              </a:rPr>
              <a:t>Tokenizer</a:t>
            </a:r>
          </a:p>
        </p:txBody>
      </p:sp>
      <p:sp>
        <p:nvSpPr>
          <p:cNvPr id="20" name="">
            <a:extLst xmlns:a="http://schemas.openxmlformats.org/drawingml/2006/main">
              <a:ext uri="{FF2B5EF4-FFF2-40B4-BE49-F238E27FC236}">
                <a16:creationId xmlns:a16="http://schemas.microsoft.com/office/drawing/2014/main" id="{D837C4B8-C914-4F0A-81F7-0BE1FCCF07D8}"/>
              </a:ext>
            </a:extLst>
          </p:cNvPr>
          <p:cNvSpPr>
            <a:spLocks xmlns:a="http://schemas.openxmlformats.org/drawingml/2006/main" noGrp="1"/>
          </p:cNvSpPr>
          <p:nvPr/>
        </p:nvSpPr>
        <p:spPr>
          <a:xfrm xmlns:a="http://schemas.openxmlformats.org/drawingml/2006/main">
            <a:off x="3257550" y="5267325"/>
            <a:ext cx="19050" cy="4191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1012EB6-F367-4833-9A84-BC67307D27C8}"/>
              </a:ext>
            </a:extLst>
          </p:cNvPr>
          <p:cNvSpPr>
            <a:spLocks xmlns:a="http://schemas.openxmlformats.org/drawingml/2006/main" noGrp="1"/>
          </p:cNvSpPr>
          <p:nvPr/>
        </p:nvSpPr>
        <p:spPr>
          <a:xfrm xmlns:a="http://schemas.openxmlformats.org/drawingml/2006/main">
            <a:off x="3390900" y="52768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xmlns:a="http://schemas.openxmlformats.org/drawingml/2006/main">
            <a:pPr algn="ctr">
              <a:defRPr sz="1800" b="1">
                <a:solidFill>
                  <a:srgbClr val="233342"/>
                </a:solidFill>
                <a:latin typeface="Arial"/>
                <a:ea typeface="Arial"/>
                <a:cs typeface="Arial"/>
              </a:defRPr>
            </a:pPr>
            <a:r>
              <a:rPr sz="1800" b="1">
                <a:solidFill>
                  <a:srgbClr val="233342"/>
                </a:solidFill>
                <a:latin typeface="Arial"/>
                <a:ea typeface="Arial"/>
                <a:cs typeface="Arial"/>
              </a:rPr>
              <a:t>Architecture</a:t>
            </a:r>
          </a:p>
        </p:txBody>
      </p:sp>
      <p:sp>
        <p:nvSpPr>
          <p:cNvPr id="22" name="">
            <a:extLst xmlns:a="http://schemas.openxmlformats.org/drawingml/2006/main">
              <a:ext uri="{FF2B5EF4-FFF2-40B4-BE49-F238E27FC236}">
                <a16:creationId xmlns:a16="http://schemas.microsoft.com/office/drawing/2014/main" id="{2FCDF66F-43C7-49F7-94FE-30A2CA2FC57D}"/>
              </a:ext>
            </a:extLst>
          </p:cNvPr>
          <p:cNvSpPr>
            <a:spLocks xmlns:a="http://schemas.openxmlformats.org/drawingml/2006/main" noGrp="1"/>
          </p:cNvSpPr>
          <p:nvPr/>
        </p:nvSpPr>
        <p:spPr>
          <a:xfrm xmlns:a="http://schemas.openxmlformats.org/drawingml/2006/main">
            <a:off x="5962650" y="5267325"/>
            <a:ext cx="19050" cy="4191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92DF04F-90A1-4856-8959-1ECBF2FF4760}"/>
              </a:ext>
            </a:extLst>
          </p:cNvPr>
          <p:cNvSpPr>
            <a:spLocks xmlns:a="http://schemas.openxmlformats.org/drawingml/2006/main" noGrp="1"/>
          </p:cNvSpPr>
          <p:nvPr/>
        </p:nvSpPr>
        <p:spPr>
          <a:xfrm xmlns:a="http://schemas.openxmlformats.org/drawingml/2006/main">
            <a:off x="6096000" y="52768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xmlns:a="http://schemas.openxmlformats.org/drawingml/2006/main">
            <a:pPr algn="ctr">
              <a:defRPr sz="1800" b="1">
                <a:solidFill>
                  <a:srgbClr val="233342"/>
                </a:solidFill>
                <a:latin typeface="Arial"/>
                <a:ea typeface="Arial"/>
                <a:cs typeface="Arial"/>
              </a:defRPr>
            </a:pPr>
            <a:r>
              <a:rPr sz="1800" b="1">
                <a:solidFill>
                  <a:srgbClr val="233342"/>
                </a:solidFill>
                <a:latin typeface="Arial"/>
                <a:ea typeface="Arial"/>
                <a:cs typeface="Arial"/>
              </a:rPr>
              <a:t>Epochs</a:t>
            </a:r>
          </a:p>
        </p:txBody>
      </p:sp>
      <p:sp>
        <p:nvSpPr>
          <p:cNvPr id="24" name="">
            <a:extLst xmlns:a="http://schemas.openxmlformats.org/drawingml/2006/main">
              <a:ext uri="{FF2B5EF4-FFF2-40B4-BE49-F238E27FC236}">
                <a16:creationId xmlns:a16="http://schemas.microsoft.com/office/drawing/2014/main" id="{17331BB3-C8F1-4233-9985-09EDFCDC51A8}"/>
              </a:ext>
            </a:extLst>
          </p:cNvPr>
          <p:cNvSpPr>
            <a:spLocks xmlns:a="http://schemas.openxmlformats.org/drawingml/2006/main" noGrp="1"/>
          </p:cNvSpPr>
          <p:nvPr/>
        </p:nvSpPr>
        <p:spPr>
          <a:xfrm xmlns:a="http://schemas.openxmlformats.org/drawingml/2006/main">
            <a:off x="8667750" y="5267325"/>
            <a:ext cx="19050" cy="4191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F01805-14AB-4BDB-8073-A13A010AE615}"/>
              </a:ext>
            </a:extLst>
          </p:cNvPr>
          <p:cNvSpPr>
            <a:spLocks xmlns:a="http://schemas.openxmlformats.org/drawingml/2006/main" noGrp="1"/>
          </p:cNvSpPr>
          <p:nvPr/>
        </p:nvSpPr>
        <p:spPr>
          <a:xfrm xmlns:a="http://schemas.openxmlformats.org/drawingml/2006/main">
            <a:off x="8801100" y="52768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xmlns:a="http://schemas.openxmlformats.org/drawingml/2006/main">
            <a:pPr algn="ctr">
              <a:defRPr sz="1800" b="1">
                <a:solidFill>
                  <a:srgbClr val="233342"/>
                </a:solidFill>
                <a:latin typeface="Arial"/>
                <a:ea typeface="Arial"/>
                <a:cs typeface="Arial"/>
              </a:defRPr>
            </a:pPr>
            <a:r>
              <a:rPr sz="1800" b="1">
                <a:solidFill>
                  <a:srgbClr val="233342"/>
                </a:solidFill>
                <a:latin typeface="Arial"/>
                <a:ea typeface="Arial"/>
                <a:cs typeface="Arial"/>
              </a:rPr>
              <a:t>Training strategy</a:t>
            </a:r>
          </a:p>
        </p:txBody>
      </p:sp>
      <p:sp>
        <p:nvSpPr>
          <p:cNvPr id="26" name="">
            <a:extLst xmlns:a="http://schemas.openxmlformats.org/drawingml/2006/main">
              <a:ext uri="{FF2B5EF4-FFF2-40B4-BE49-F238E27FC236}">
                <a16:creationId xmlns:a16="http://schemas.microsoft.com/office/drawing/2014/main" id="{25846606-02C5-49D3-8484-B359AEB7D0D3}"/>
              </a:ext>
            </a:extLst>
          </p:cNvPr>
          <p:cNvSpPr>
            <a:spLocks xmlns:a="http://schemas.openxmlformats.org/drawingml/2006/main" noGrp="1"/>
          </p:cNvSpPr>
          <p:nvPr/>
        </p:nvSpPr>
        <p:spPr>
          <a:xfrm xmlns:a="http://schemas.openxmlformats.org/drawingml/2006/main">
            <a:off x="685800" y="59340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350" i="1">
                <a:solidFill>
                  <a:srgbClr val="9E1B32"/>
                </a:solidFill>
                <a:latin typeface="Arial"/>
                <a:ea typeface="Arial"/>
                <a:cs typeface="Arial"/>
              </a:defRPr>
            </a:defPPr>
            <a:lvl1pPr algn="ctr">
              <a:defRPr sz="1350" i="1">
                <a:solidFill>
                  <a:srgbClr val="9E1B32"/>
                </a:solidFill>
                <a:latin typeface="Arial"/>
                <a:ea typeface="Arial"/>
                <a:cs typeface="Arial"/>
              </a:defRPr>
            </a:lvl1pPr>
            <a:lvl2pPr algn="ctr">
              <a:defRPr sz="1350" i="1">
                <a:solidFill>
                  <a:srgbClr val="9E1B32"/>
                </a:solidFill>
                <a:latin typeface="Arial"/>
                <a:ea typeface="Arial"/>
                <a:cs typeface="Arial"/>
              </a:defRPr>
            </a:lvl2pPr>
            <a:lvl3pPr algn="ctr">
              <a:defRPr sz="1350" i="1">
                <a:solidFill>
                  <a:srgbClr val="9E1B32"/>
                </a:solidFill>
                <a:latin typeface="Arial"/>
                <a:ea typeface="Arial"/>
                <a:cs typeface="Arial"/>
              </a:defRPr>
            </a:lvl3pPr>
            <a:lvl4pPr algn="ctr">
              <a:defRPr sz="1350" i="1">
                <a:solidFill>
                  <a:srgbClr val="9E1B32"/>
                </a:solidFill>
                <a:latin typeface="Arial"/>
                <a:ea typeface="Arial"/>
                <a:cs typeface="Arial"/>
              </a:defRPr>
            </a:lvl4pPr>
            <a:lvl5pPr algn="ctr">
              <a:defRPr sz="1350" i="1">
                <a:solidFill>
                  <a:srgbClr val="9E1B32"/>
                </a:solidFill>
                <a:latin typeface="Arial"/>
                <a:ea typeface="Arial"/>
                <a:cs typeface="Arial"/>
              </a:defRPr>
            </a:lvl5pPr>
            <a:lvl6pPr algn="ctr">
              <a:defRPr sz="1350" i="1">
                <a:solidFill>
                  <a:srgbClr val="9E1B32"/>
                </a:solidFill>
                <a:latin typeface="Arial"/>
                <a:ea typeface="Arial"/>
                <a:cs typeface="Arial"/>
              </a:defRPr>
            </a:lvl6pPr>
            <a:lvl7pPr algn="ctr">
              <a:defRPr sz="1350" i="1">
                <a:solidFill>
                  <a:srgbClr val="9E1B32"/>
                </a:solidFill>
                <a:latin typeface="Arial"/>
                <a:ea typeface="Arial"/>
                <a:cs typeface="Arial"/>
              </a:defRPr>
            </a:lvl7pPr>
            <a:lvl8pPr algn="ctr">
              <a:defRPr sz="1350" i="1">
                <a:solidFill>
                  <a:srgbClr val="9E1B32"/>
                </a:solidFill>
                <a:latin typeface="Arial"/>
                <a:ea typeface="Arial"/>
                <a:cs typeface="Arial"/>
              </a:defRPr>
            </a:lvl8pPr>
            <a:lvl9pPr algn="ctr">
              <a:defRPr sz="1350" i="1">
                <a:solidFill>
                  <a:srgbClr val="9E1B32"/>
                </a:solidFill>
                <a:latin typeface="Arial"/>
                <a:ea typeface="Arial"/>
                <a:cs typeface="Arial"/>
              </a:defRPr>
            </a:lvl9pPr>
          </a:lstStyle>
          <a:p xmlns:a="http://schemas.openxmlformats.org/drawingml/2006/main">
            <a:pPr algn="ctr">
              <a:defRPr sz="1350" i="1">
                <a:solidFill>
                  <a:srgbClr val="9E1B32"/>
                </a:solidFill>
                <a:latin typeface="Arial"/>
                <a:ea typeface="Arial"/>
                <a:cs typeface="Arial"/>
              </a:defRPr>
            </a:pPr>
            <a:r>
              <a:rPr sz="1350" i="1">
                <a:solidFill>
                  <a:srgbClr val="9E1B32"/>
                </a:solidFill>
                <a:latin typeface="Arial"/>
                <a:ea typeface="Arial"/>
                <a:cs typeface="Arial"/>
              </a:rPr>
              <a:t>One controlled input budget, many possible modeling choices</a:t>
            </a:r>
          </a:p>
        </p:txBody>
      </p:sp>
      <p:sp>
        <p:nvSpPr>
          <p:cNvPr id="27" name="slide-3-footer-label">
            <a:extLst xmlns:a="http://schemas.openxmlformats.org/drawingml/2006/main">
              <a:ext uri="{FF2B5EF4-FFF2-40B4-BE49-F238E27FC236}">
                <a16:creationId xmlns:a16="http://schemas.microsoft.com/office/drawing/2014/main" id="{1409641D-964A-4DFE-8B33-E6DE81447CA5}"/>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3-footer-number">
            <a:extLst xmlns:a="http://schemas.openxmlformats.org/drawingml/2006/main">
              <a:ext uri="{FF2B5EF4-FFF2-40B4-BE49-F238E27FC236}">
                <a16:creationId xmlns:a16="http://schemas.microsoft.com/office/drawing/2014/main" id="{253574A2-FC33-49A9-A7E0-4C28092885CB}"/>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03</a:t>
            </a:r>
          </a:p>
        </p:txBody>
      </p:sp>
    </p:spTree>
    <p:extLst>
      <p:ext uri="{BB962C8B-B14F-4D97-AF65-F5344CB8AC3E}">
        <p14:creationId xmlns:p14="http://schemas.microsoft.com/office/powerpoint/2010/main" val="16814287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1DE92F85-853F-4622-B851-F3D4995041B5}"/>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Evaluation design</a:t>
            </a:r>
          </a:p>
        </p:txBody>
      </p:sp>
      <p:sp>
        <p:nvSpPr>
          <p:cNvPr id="2" name="slide-4-top-rule">
            <a:extLst xmlns:a="http://schemas.openxmlformats.org/drawingml/2006/main">
              <a:ext uri="{FF2B5EF4-FFF2-40B4-BE49-F238E27FC236}">
                <a16:creationId xmlns:a16="http://schemas.microsoft.com/office/drawing/2014/main" id="{FA0FDB81-48CF-4CED-A548-CFDEFA9D39A3}"/>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42CEDD-801A-4AF1-8733-FD9A785DA354}"/>
              </a:ext>
            </a:extLst>
          </p:cNvPr>
          <p:cNvSpPr>
            <a:spLocks xmlns:a="http://schemas.openxmlformats.org/drawingml/2006/main" noGrp="1"/>
          </p:cNvSpPr>
          <p:nvPr/>
        </p:nvSpPr>
        <p:spPr>
          <a:xfrm xmlns:a="http://schemas.openxmlformats.org/drawingml/2006/main">
            <a:off x="685800" y="1304925"/>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xmlns:a="http://schemas.openxmlformats.org/drawingml/2006/main">
            <a:pPr>
              <a:defRPr sz="1125" b="1">
                <a:solidFill>
                  <a:srgbClr val="C49A2C"/>
                </a:solidFill>
                <a:latin typeface="Arial"/>
                <a:ea typeface="Arial"/>
                <a:cs typeface="Arial"/>
              </a:defRPr>
            </a:pPr>
            <a:r>
              <a:rPr sz="1125" b="1">
                <a:solidFill>
                  <a:srgbClr val="C49A2C"/>
                </a:solidFill>
                <a:latin typeface="Arial"/>
                <a:ea typeface="Arial"/>
                <a:cs typeface="Arial"/>
              </a:rPr>
              <a:t>14 TASKS IN THREE COMPLEMENTARY TRACKS</a:t>
            </a:r>
          </a:p>
        </p:txBody>
      </p:sp>
      <p:sp>
        <p:nvSpPr>
          <p:cNvPr id="4" name="">
            <a:extLst xmlns:a="http://schemas.openxmlformats.org/drawingml/2006/main">
              <a:ext uri="{FF2B5EF4-FFF2-40B4-BE49-F238E27FC236}">
                <a16:creationId xmlns:a16="http://schemas.microsoft.com/office/drawing/2014/main" id="{EAB62F37-5E60-4CEB-A68F-C8C84730651F}"/>
              </a:ext>
            </a:extLst>
          </p:cNvPr>
          <p:cNvSpPr>
            <a:spLocks xmlns:a="http://schemas.openxmlformats.org/drawingml/2006/main" noGrp="1"/>
          </p:cNvSpPr>
          <p:nvPr/>
        </p:nvSpPr>
        <p:spPr>
          <a:xfrm xmlns:a="http://schemas.openxmlformats.org/drawingml/2006/main">
            <a:off x="68580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xmlns:a="http://schemas.openxmlformats.org/drawingml/2006/main">
            <a:pPr>
              <a:defRPr sz="4950" b="1">
                <a:solidFill>
                  <a:srgbClr val="9E1B32"/>
                </a:solidFill>
                <a:latin typeface="Arial"/>
                <a:ea typeface="Arial"/>
                <a:cs typeface="Arial"/>
              </a:defRPr>
            </a:pPr>
            <a:r>
              <a:rPr sz="4950" b="1">
                <a:solidFill>
                  <a:srgbClr val="9E1B32"/>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6E77A273-48FD-46B8-9FDF-BDFCE300F33A}"/>
              </a:ext>
            </a:extLst>
          </p:cNvPr>
          <p:cNvSpPr>
            <a:spLocks xmlns:a="http://schemas.openxmlformats.org/drawingml/2006/main" noGrp="1"/>
          </p:cNvSpPr>
          <p:nvPr/>
        </p:nvSpPr>
        <p:spPr>
          <a:xfrm xmlns:a="http://schemas.openxmlformats.org/drawingml/2006/main">
            <a:off x="685800" y="2571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xmlns:a="http://schemas.openxmlformats.org/drawingml/2006/main">
            <a:pPr>
              <a:defRPr sz="1725" b="1">
                <a:solidFill>
                  <a:srgbClr val="20242A"/>
                </a:solidFill>
                <a:latin typeface="Arial"/>
                <a:ea typeface="Arial"/>
                <a:cs typeface="Arial"/>
              </a:defRPr>
            </a:pPr>
            <a:r>
              <a:rPr sz="1725" b="1">
                <a:solidFill>
                  <a:srgbClr val="20242A"/>
                </a:solidFill>
                <a:latin typeface="Arial"/>
                <a:ea typeface="Arial"/>
                <a:cs typeface="Arial"/>
              </a:rPr>
              <a:t>NLU</a:t>
            </a:r>
          </a:p>
        </p:txBody>
      </p:sp>
      <p:sp>
        <p:nvSpPr>
          <p:cNvPr id="6" name="">
            <a:extLst xmlns:a="http://schemas.openxmlformats.org/drawingml/2006/main">
              <a:ext uri="{FF2B5EF4-FFF2-40B4-BE49-F238E27FC236}">
                <a16:creationId xmlns:a16="http://schemas.microsoft.com/office/drawing/2014/main" id="{207BFB3E-8AE6-4ACF-B9A7-B129AE0B6FE7}"/>
              </a:ext>
            </a:extLst>
          </p:cNvPr>
          <p:cNvSpPr>
            <a:spLocks xmlns:a="http://schemas.openxmlformats.org/drawingml/2006/main" noGrp="1"/>
          </p:cNvSpPr>
          <p:nvPr/>
        </p:nvSpPr>
        <p:spPr>
          <a:xfrm xmlns:a="http://schemas.openxmlformats.org/drawingml/2006/main">
            <a:off x="685800" y="3133725"/>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6792"/>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Grammar, semantic judgments, inference, classification, coreference, and reading comprehension</a:t>
            </a:r>
          </a:p>
        </p:txBody>
      </p:sp>
      <p:sp>
        <p:nvSpPr>
          <p:cNvPr id="7" name="">
            <a:extLst xmlns:a="http://schemas.openxmlformats.org/drawingml/2006/main">
              <a:ext uri="{FF2B5EF4-FFF2-40B4-BE49-F238E27FC236}">
                <a16:creationId xmlns:a16="http://schemas.microsoft.com/office/drawing/2014/main" id="{5F2B160B-4F10-43FC-99DA-92BDFC18C5E1}"/>
              </a:ext>
            </a:extLst>
          </p:cNvPr>
          <p:cNvSpPr>
            <a:spLocks xmlns:a="http://schemas.openxmlformats.org/drawingml/2006/main" noGrp="1"/>
          </p:cNvSpPr>
          <p:nvPr/>
        </p:nvSpPr>
        <p:spPr>
          <a:xfrm xmlns:a="http://schemas.openxmlformats.org/drawingml/2006/main">
            <a:off x="685800" y="4343400"/>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5ED476-40C8-4BB9-B8C9-1D4EFA91E31E}"/>
              </a:ext>
            </a:extLst>
          </p:cNvPr>
          <p:cNvSpPr>
            <a:spLocks xmlns:a="http://schemas.openxmlformats.org/drawingml/2006/main" noGrp="1"/>
          </p:cNvSpPr>
          <p:nvPr/>
        </p:nvSpPr>
        <p:spPr>
          <a:xfrm xmlns:a="http://schemas.openxmlformats.org/drawingml/2006/main">
            <a:off x="685800" y="45529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xmlns:a="http://schemas.openxmlformats.org/drawingml/2006/main">
            <a:pPr>
              <a:defRPr sz="1200" b="1">
                <a:solidFill>
                  <a:srgbClr val="233342"/>
                </a:solidFill>
                <a:latin typeface="Arial"/>
                <a:ea typeface="Arial"/>
                <a:cs typeface="Arial"/>
              </a:defRPr>
            </a:pPr>
            <a:r>
              <a:rPr sz="1200" b="1">
                <a:solidFill>
                  <a:srgbClr val="233342"/>
                </a:solidFill>
                <a:latin typeface="Arial"/>
                <a:ea typeface="Arial"/>
                <a:cs typeface="Arial"/>
              </a:rPr>
              <a:t>Minimal-pair accuracy + fine-tuned task scores</a:t>
            </a:r>
          </a:p>
        </p:txBody>
      </p:sp>
      <p:sp>
        <p:nvSpPr>
          <p:cNvPr id="9" name="">
            <a:extLst xmlns:a="http://schemas.openxmlformats.org/drawingml/2006/main">
              <a:ext uri="{FF2B5EF4-FFF2-40B4-BE49-F238E27FC236}">
                <a16:creationId xmlns:a16="http://schemas.microsoft.com/office/drawing/2014/main" id="{F7CDBFFE-A9D4-4420-8283-A0B264E8F88B}"/>
              </a:ext>
            </a:extLst>
          </p:cNvPr>
          <p:cNvSpPr>
            <a:spLocks xmlns:a="http://schemas.openxmlformats.org/drawingml/2006/main" noGrp="1"/>
          </p:cNvSpPr>
          <p:nvPr/>
        </p:nvSpPr>
        <p:spPr>
          <a:xfrm xmlns:a="http://schemas.openxmlformats.org/drawingml/2006/main">
            <a:off x="4124325"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EDEAB9-2E5F-4C99-917C-F90079C66416}"/>
              </a:ext>
            </a:extLst>
          </p:cNvPr>
          <p:cNvSpPr>
            <a:spLocks xmlns:a="http://schemas.openxmlformats.org/drawingml/2006/main" noGrp="1"/>
          </p:cNvSpPr>
          <p:nvPr/>
        </p:nvSpPr>
        <p:spPr>
          <a:xfrm xmlns:a="http://schemas.openxmlformats.org/drawingml/2006/main">
            <a:off x="436245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xmlns:a="http://schemas.openxmlformats.org/drawingml/2006/main">
            <a:pPr>
              <a:defRPr sz="4950" b="1">
                <a:solidFill>
                  <a:srgbClr val="9E1B32"/>
                </a:solidFill>
                <a:latin typeface="Arial"/>
                <a:ea typeface="Arial"/>
                <a:cs typeface="Arial"/>
              </a:defRPr>
            </a:pPr>
            <a:r>
              <a:rPr sz="4950" b="1">
                <a:solidFill>
                  <a:srgbClr val="9E1B32"/>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BDF8CC27-1E3D-4E7B-828F-26744827FC06}"/>
              </a:ext>
            </a:extLst>
          </p:cNvPr>
          <p:cNvSpPr>
            <a:spLocks xmlns:a="http://schemas.openxmlformats.org/drawingml/2006/main" noGrp="1"/>
          </p:cNvSpPr>
          <p:nvPr/>
        </p:nvSpPr>
        <p:spPr>
          <a:xfrm xmlns:a="http://schemas.openxmlformats.org/drawingml/2006/main">
            <a:off x="4362450" y="2571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xmlns:a="http://schemas.openxmlformats.org/drawingml/2006/main">
            <a:pPr>
              <a:defRPr sz="1725" b="1">
                <a:solidFill>
                  <a:srgbClr val="20242A"/>
                </a:solidFill>
                <a:latin typeface="Arial"/>
                <a:ea typeface="Arial"/>
                <a:cs typeface="Arial"/>
              </a:defRPr>
            </a:pPr>
            <a:r>
              <a:rPr sz="1725" b="1">
                <a:solidFill>
                  <a:srgbClr val="20242A"/>
                </a:solidFill>
                <a:latin typeface="Arial"/>
                <a:ea typeface="Arial"/>
                <a:cs typeface="Arial"/>
              </a:rPr>
              <a:t>HANZI</a:t>
            </a:r>
          </a:p>
        </p:txBody>
      </p:sp>
      <p:sp>
        <p:nvSpPr>
          <p:cNvPr id="12" name="">
            <a:extLst xmlns:a="http://schemas.openxmlformats.org/drawingml/2006/main">
              <a:ext uri="{FF2B5EF4-FFF2-40B4-BE49-F238E27FC236}">
                <a16:creationId xmlns:a16="http://schemas.microsoft.com/office/drawing/2014/main" id="{974B45E2-168C-45DC-815B-75A8BC296BC2}"/>
              </a:ext>
            </a:extLst>
          </p:cNvPr>
          <p:cNvSpPr>
            <a:spLocks xmlns:a="http://schemas.openxmlformats.org/drawingml/2006/main" noGrp="1"/>
          </p:cNvSpPr>
          <p:nvPr/>
        </p:nvSpPr>
        <p:spPr>
          <a:xfrm xmlns:a="http://schemas.openxmlformats.org/drawingml/2006/main">
            <a:off x="4362450" y="3133725"/>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Character structure and pinyin through zero-shot minimal pairs</a:t>
            </a:r>
          </a:p>
        </p:txBody>
      </p:sp>
      <p:sp>
        <p:nvSpPr>
          <p:cNvPr id="13" name="">
            <a:extLst xmlns:a="http://schemas.openxmlformats.org/drawingml/2006/main">
              <a:ext uri="{FF2B5EF4-FFF2-40B4-BE49-F238E27FC236}">
                <a16:creationId xmlns:a16="http://schemas.microsoft.com/office/drawing/2014/main" id="{59B0E232-AEF4-4BEC-B403-90096A4CA96F}"/>
              </a:ext>
            </a:extLst>
          </p:cNvPr>
          <p:cNvSpPr>
            <a:spLocks xmlns:a="http://schemas.openxmlformats.org/drawingml/2006/main" noGrp="1"/>
          </p:cNvSpPr>
          <p:nvPr/>
        </p:nvSpPr>
        <p:spPr>
          <a:xfrm xmlns:a="http://schemas.openxmlformats.org/drawingml/2006/main">
            <a:off x="4362450" y="4343400"/>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E705F49-9ECF-4388-AE3B-B03ED9FEAB0E}"/>
              </a:ext>
            </a:extLst>
          </p:cNvPr>
          <p:cNvSpPr>
            <a:spLocks xmlns:a="http://schemas.openxmlformats.org/drawingml/2006/main" noGrp="1"/>
          </p:cNvSpPr>
          <p:nvPr/>
        </p:nvSpPr>
        <p:spPr>
          <a:xfrm xmlns:a="http://schemas.openxmlformats.org/drawingml/2006/main">
            <a:off x="4362450" y="45529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xmlns:a="http://schemas.openxmlformats.org/drawingml/2006/main">
            <a:pPr>
              <a:defRPr sz="1200" b="1">
                <a:solidFill>
                  <a:srgbClr val="233342"/>
                </a:solidFill>
                <a:latin typeface="Arial"/>
                <a:ea typeface="Arial"/>
                <a:cs typeface="Arial"/>
              </a:defRPr>
            </a:pPr>
            <a:r>
              <a:rPr sz="1200" b="1">
                <a:solidFill>
                  <a:srgbClr val="233342"/>
                </a:solidFill>
                <a:latin typeface="Arial"/>
                <a:ea typeface="Arial"/>
                <a:cs typeface="Arial"/>
              </a:rPr>
              <a:t>Zero-shot minimal-pair accuracy</a:t>
            </a:r>
          </a:p>
        </p:txBody>
      </p:sp>
      <p:sp>
        <p:nvSpPr>
          <p:cNvPr id="15" name="">
            <a:extLst xmlns:a="http://schemas.openxmlformats.org/drawingml/2006/main">
              <a:ext uri="{FF2B5EF4-FFF2-40B4-BE49-F238E27FC236}">
                <a16:creationId xmlns:a16="http://schemas.microsoft.com/office/drawing/2014/main" id="{2003E03A-026E-4046-9027-49BE3E7FEA30}"/>
              </a:ext>
            </a:extLst>
          </p:cNvPr>
          <p:cNvSpPr>
            <a:spLocks xmlns:a="http://schemas.openxmlformats.org/drawingml/2006/main" noGrp="1"/>
          </p:cNvSpPr>
          <p:nvPr/>
        </p:nvSpPr>
        <p:spPr>
          <a:xfrm xmlns:a="http://schemas.openxmlformats.org/drawingml/2006/main">
            <a:off x="7800975"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DCCB2D-4E5E-4C1F-A5E2-22C9D14ACD97}"/>
              </a:ext>
            </a:extLst>
          </p:cNvPr>
          <p:cNvSpPr>
            <a:spLocks xmlns:a="http://schemas.openxmlformats.org/drawingml/2006/main" noGrp="1"/>
          </p:cNvSpPr>
          <p:nvPr/>
        </p:nvSpPr>
        <p:spPr>
          <a:xfrm xmlns:a="http://schemas.openxmlformats.org/drawingml/2006/main">
            <a:off x="803910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xmlns:a="http://schemas.openxmlformats.org/drawingml/2006/main">
            <a:pPr>
              <a:defRPr sz="4950" b="1">
                <a:solidFill>
                  <a:srgbClr val="9E1B32"/>
                </a:solidFill>
                <a:latin typeface="Arial"/>
                <a:ea typeface="Arial"/>
                <a:cs typeface="Arial"/>
              </a:defRPr>
            </a:pPr>
            <a:r>
              <a:rPr sz="4950" b="1">
                <a:solidFill>
                  <a:srgbClr val="9E1B32"/>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2CE2FD60-D733-4753-BE9B-3847A62F2195}"/>
              </a:ext>
            </a:extLst>
          </p:cNvPr>
          <p:cNvSpPr>
            <a:spLocks xmlns:a="http://schemas.openxmlformats.org/drawingml/2006/main" noGrp="1"/>
          </p:cNvSpPr>
          <p:nvPr/>
        </p:nvSpPr>
        <p:spPr>
          <a:xfrm xmlns:a="http://schemas.openxmlformats.org/drawingml/2006/main">
            <a:off x="8039100" y="2571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xmlns:a="http://schemas.openxmlformats.org/drawingml/2006/main">
            <a:pPr>
              <a:defRPr sz="1725" b="1">
                <a:solidFill>
                  <a:srgbClr val="20242A"/>
                </a:solidFill>
                <a:latin typeface="Arial"/>
                <a:ea typeface="Arial"/>
                <a:cs typeface="Arial"/>
              </a:defRPr>
            </a:pPr>
            <a:r>
              <a:rPr sz="1725" b="1">
                <a:solidFill>
                  <a:srgbClr val="20242A"/>
                </a:solidFill>
                <a:latin typeface="Arial"/>
                <a:ea typeface="Arial"/>
                <a:cs typeface="Arial"/>
              </a:rPr>
              <a:t>COGNITIVE MODELING</a:t>
            </a:r>
          </a:p>
        </p:txBody>
      </p:sp>
      <p:sp>
        <p:nvSpPr>
          <p:cNvPr id="18" name="">
            <a:extLst xmlns:a="http://schemas.openxmlformats.org/drawingml/2006/main">
              <a:ext uri="{FF2B5EF4-FFF2-40B4-BE49-F238E27FC236}">
                <a16:creationId xmlns:a16="http://schemas.microsoft.com/office/drawing/2014/main" id="{A1F79832-8219-47D4-A43E-3BA97C2238FC}"/>
              </a:ext>
            </a:extLst>
          </p:cNvPr>
          <p:cNvSpPr>
            <a:spLocks xmlns:a="http://schemas.openxmlformats.org/drawingml/2006/main" noGrp="1"/>
          </p:cNvSpPr>
          <p:nvPr/>
        </p:nvSpPr>
        <p:spPr>
          <a:xfrm xmlns:a="http://schemas.openxmlformats.org/drawingml/2006/main">
            <a:off x="8039100" y="3133725"/>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Word- and discourse-level alignment with human fMRI responses</a:t>
            </a:r>
          </a:p>
        </p:txBody>
      </p:sp>
      <p:sp>
        <p:nvSpPr>
          <p:cNvPr id="19" name="">
            <a:extLst xmlns:a="http://schemas.openxmlformats.org/drawingml/2006/main">
              <a:ext uri="{FF2B5EF4-FFF2-40B4-BE49-F238E27FC236}">
                <a16:creationId xmlns:a16="http://schemas.microsoft.com/office/drawing/2014/main" id="{93D37FD4-61CE-4E8F-9E12-1A990FCD0012}"/>
              </a:ext>
            </a:extLst>
          </p:cNvPr>
          <p:cNvSpPr>
            <a:spLocks xmlns:a="http://schemas.openxmlformats.org/drawingml/2006/main" noGrp="1"/>
          </p:cNvSpPr>
          <p:nvPr/>
        </p:nvSpPr>
        <p:spPr>
          <a:xfrm xmlns:a="http://schemas.openxmlformats.org/drawingml/2006/main">
            <a:off x="8039100" y="4343400"/>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53264DA-7E80-4D70-84AD-FD7AEEAA0905}"/>
              </a:ext>
            </a:extLst>
          </p:cNvPr>
          <p:cNvSpPr>
            <a:spLocks xmlns:a="http://schemas.openxmlformats.org/drawingml/2006/main" noGrp="1"/>
          </p:cNvSpPr>
          <p:nvPr/>
        </p:nvSpPr>
        <p:spPr>
          <a:xfrm xmlns:a="http://schemas.openxmlformats.org/drawingml/2006/main">
            <a:off x="8039100" y="45529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xmlns:a="http://schemas.openxmlformats.org/drawingml/2006/main">
            <a:pPr>
              <a:defRPr sz="1200" b="1">
                <a:solidFill>
                  <a:srgbClr val="233342"/>
                </a:solidFill>
                <a:latin typeface="Arial"/>
                <a:ea typeface="Arial"/>
                <a:cs typeface="Arial"/>
              </a:defRPr>
            </a:pPr>
            <a:r>
              <a:rPr sz="1200" b="1">
                <a:solidFill>
                  <a:srgbClr val="233342"/>
                </a:solidFill>
                <a:latin typeface="Arial"/>
                <a:ea typeface="Arial"/>
                <a:cs typeface="Arial"/>
              </a:rPr>
              <a:t>Correlation-based encoding scores</a:t>
            </a:r>
          </a:p>
        </p:txBody>
      </p:sp>
      <p:sp>
        <p:nvSpPr>
          <p:cNvPr id="21" name="evaluation-protocol-strip">
            <a:extLst xmlns:a="http://schemas.openxmlformats.org/drawingml/2006/main">
              <a:ext uri="{FF2B5EF4-FFF2-40B4-BE49-F238E27FC236}">
                <a16:creationId xmlns:a16="http://schemas.microsoft.com/office/drawing/2014/main" id="{5DAF9C50-37A3-422A-A599-70BEDB1FCB8E}"/>
              </a:ext>
            </a:extLst>
          </p:cNvPr>
          <p:cNvSpPr>
            <a:spLocks xmlns:a="http://schemas.openxmlformats.org/drawingml/2006/main" noGrp="1"/>
          </p:cNvSpPr>
          <p:nvPr/>
        </p:nvSpPr>
        <p:spPr>
          <a:xfrm xmlns:a="http://schemas.openxmlformats.org/drawingml/2006/main">
            <a:off x="685800" y="5457825"/>
            <a:ext cx="10820400" cy="685800"/>
          </a:xfrm>
          <a:prstGeom xmlns:a="http://schemas.openxmlformats.org/drawingml/2006/main" prst="rect">
            <a:avLst/>
          </a:prstGeom>
          <a:solidFill xmlns:a="http://schemas.openxmlformats.org/drawingml/2006/main">
            <a:srgbClr val="F4F3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0AAD700-60D0-4E90-955E-392141E1D24B}"/>
              </a:ext>
            </a:extLst>
          </p:cNvPr>
          <p:cNvSpPr>
            <a:spLocks xmlns:a="http://schemas.openxmlformats.org/drawingml/2006/main" noGrp="1"/>
          </p:cNvSpPr>
          <p:nvPr/>
        </p:nvSpPr>
        <p:spPr>
          <a:xfrm xmlns:a="http://schemas.openxmlformats.org/drawingml/2006/main">
            <a:off x="971550" y="5619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233342"/>
                </a:solidFill>
                <a:latin typeface="Arial"/>
                <a:ea typeface="Arial"/>
                <a:cs typeface="Arial"/>
              </a:defRPr>
            </a:defPPr>
            <a:lvl1pPr algn="ctr">
              <a:defRPr sz="1425" b="1">
                <a:solidFill>
                  <a:srgbClr val="233342"/>
                </a:solidFill>
                <a:latin typeface="Arial"/>
                <a:ea typeface="Arial"/>
                <a:cs typeface="Arial"/>
              </a:defRPr>
            </a:lvl1pPr>
            <a:lvl2pPr algn="ctr">
              <a:defRPr sz="1425" b="1">
                <a:solidFill>
                  <a:srgbClr val="233342"/>
                </a:solidFill>
                <a:latin typeface="Arial"/>
                <a:ea typeface="Arial"/>
                <a:cs typeface="Arial"/>
              </a:defRPr>
            </a:lvl2pPr>
            <a:lvl3pPr algn="ctr">
              <a:defRPr sz="1425" b="1">
                <a:solidFill>
                  <a:srgbClr val="233342"/>
                </a:solidFill>
                <a:latin typeface="Arial"/>
                <a:ea typeface="Arial"/>
                <a:cs typeface="Arial"/>
              </a:defRPr>
            </a:lvl3pPr>
            <a:lvl4pPr algn="ctr">
              <a:defRPr sz="1425" b="1">
                <a:solidFill>
                  <a:srgbClr val="233342"/>
                </a:solidFill>
                <a:latin typeface="Arial"/>
                <a:ea typeface="Arial"/>
                <a:cs typeface="Arial"/>
              </a:defRPr>
            </a:lvl4pPr>
            <a:lvl5pPr algn="ctr">
              <a:defRPr sz="1425" b="1">
                <a:solidFill>
                  <a:srgbClr val="233342"/>
                </a:solidFill>
                <a:latin typeface="Arial"/>
                <a:ea typeface="Arial"/>
                <a:cs typeface="Arial"/>
              </a:defRPr>
            </a:lvl5pPr>
            <a:lvl6pPr algn="ctr">
              <a:defRPr sz="1425" b="1">
                <a:solidFill>
                  <a:srgbClr val="233342"/>
                </a:solidFill>
                <a:latin typeface="Arial"/>
                <a:ea typeface="Arial"/>
                <a:cs typeface="Arial"/>
              </a:defRPr>
            </a:lvl6pPr>
            <a:lvl7pPr algn="ctr">
              <a:defRPr sz="1425" b="1">
                <a:solidFill>
                  <a:srgbClr val="233342"/>
                </a:solidFill>
                <a:latin typeface="Arial"/>
                <a:ea typeface="Arial"/>
                <a:cs typeface="Arial"/>
              </a:defRPr>
            </a:lvl7pPr>
            <a:lvl8pPr algn="ctr">
              <a:defRPr sz="1425" b="1">
                <a:solidFill>
                  <a:srgbClr val="233342"/>
                </a:solidFill>
                <a:latin typeface="Arial"/>
                <a:ea typeface="Arial"/>
                <a:cs typeface="Arial"/>
              </a:defRPr>
            </a:lvl8pPr>
            <a:lvl9pPr algn="ctr">
              <a:defRPr sz="1425" b="1">
                <a:solidFill>
                  <a:srgbClr val="233342"/>
                </a:solidFill>
                <a:latin typeface="Arial"/>
                <a:ea typeface="Arial"/>
                <a:cs typeface="Arial"/>
              </a:defRPr>
            </a:lvl9pPr>
          </a:lstStyle>
          <a:p xmlns:a="http://schemas.openxmlformats.org/drawingml/2006/main">
            <a:pPr algn="ctr">
              <a:defRPr sz="1425" b="1">
                <a:solidFill>
                  <a:srgbClr val="233342"/>
                </a:solidFill>
                <a:latin typeface="Arial"/>
                <a:ea typeface="Arial"/>
                <a:cs typeface="Arial"/>
              </a:defRPr>
            </a:pPr>
            <a:r>
              <a:rPr sz="1425" b="1">
                <a:solidFill>
                  <a:srgbClr val="233342"/>
                </a:solidFill>
                <a:latin typeface="Arial"/>
                <a:ea typeface="Arial"/>
                <a:cs typeface="Arial"/>
              </a:rPr>
              <a:t>OPEN DEVELOPMENT TASKS</a:t>
            </a:r>
          </a:p>
        </p:txBody>
      </p:sp>
      <p:sp>
        <p:nvSpPr>
          <p:cNvPr id="23" name="">
            <a:extLst xmlns:a="http://schemas.openxmlformats.org/drawingml/2006/main">
              <a:ext uri="{FF2B5EF4-FFF2-40B4-BE49-F238E27FC236}">
                <a16:creationId xmlns:a16="http://schemas.microsoft.com/office/drawing/2014/main" id="{F37CE6B0-2953-4CDF-ABBD-BE13354021CB}"/>
              </a:ext>
            </a:extLst>
          </p:cNvPr>
          <p:cNvSpPr>
            <a:spLocks xmlns:a="http://schemas.openxmlformats.org/drawingml/2006/main" noGrp="1"/>
          </p:cNvSpPr>
          <p:nvPr/>
        </p:nvSpPr>
        <p:spPr>
          <a:xfrm xmlns:a="http://schemas.openxmlformats.org/drawingml/2006/main">
            <a:off x="5810250" y="56197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800" b="1">
                <a:solidFill>
                  <a:srgbClr val="C49A2C"/>
                </a:solidFill>
                <a:latin typeface="Arial"/>
                <a:ea typeface="Arial"/>
                <a:cs typeface="Arial"/>
              </a:defRPr>
            </a:defPPr>
            <a:lvl1pPr algn="ctr">
              <a:defRPr sz="1800" b="1">
                <a:solidFill>
                  <a:srgbClr val="C49A2C"/>
                </a:solidFill>
                <a:latin typeface="Arial"/>
                <a:ea typeface="Arial"/>
                <a:cs typeface="Arial"/>
              </a:defRPr>
            </a:lvl1pPr>
            <a:lvl2pPr algn="ctr">
              <a:defRPr sz="1800" b="1">
                <a:solidFill>
                  <a:srgbClr val="C49A2C"/>
                </a:solidFill>
                <a:latin typeface="Arial"/>
                <a:ea typeface="Arial"/>
                <a:cs typeface="Arial"/>
              </a:defRPr>
            </a:lvl2pPr>
            <a:lvl3pPr algn="ctr">
              <a:defRPr sz="1800" b="1">
                <a:solidFill>
                  <a:srgbClr val="C49A2C"/>
                </a:solidFill>
                <a:latin typeface="Arial"/>
                <a:ea typeface="Arial"/>
                <a:cs typeface="Arial"/>
              </a:defRPr>
            </a:lvl3pPr>
            <a:lvl4pPr algn="ctr">
              <a:defRPr sz="1800" b="1">
                <a:solidFill>
                  <a:srgbClr val="C49A2C"/>
                </a:solidFill>
                <a:latin typeface="Arial"/>
                <a:ea typeface="Arial"/>
                <a:cs typeface="Arial"/>
              </a:defRPr>
            </a:lvl4pPr>
            <a:lvl5pPr algn="ctr">
              <a:defRPr sz="1800" b="1">
                <a:solidFill>
                  <a:srgbClr val="C49A2C"/>
                </a:solidFill>
                <a:latin typeface="Arial"/>
                <a:ea typeface="Arial"/>
                <a:cs typeface="Arial"/>
              </a:defRPr>
            </a:lvl5pPr>
            <a:lvl6pPr algn="ctr">
              <a:defRPr sz="1800" b="1">
                <a:solidFill>
                  <a:srgbClr val="C49A2C"/>
                </a:solidFill>
                <a:latin typeface="Arial"/>
                <a:ea typeface="Arial"/>
                <a:cs typeface="Arial"/>
              </a:defRPr>
            </a:lvl6pPr>
            <a:lvl7pPr algn="ctr">
              <a:defRPr sz="1800" b="1">
                <a:solidFill>
                  <a:srgbClr val="C49A2C"/>
                </a:solidFill>
                <a:latin typeface="Arial"/>
                <a:ea typeface="Arial"/>
                <a:cs typeface="Arial"/>
              </a:defRPr>
            </a:lvl7pPr>
            <a:lvl8pPr algn="ctr">
              <a:defRPr sz="1800" b="1">
                <a:solidFill>
                  <a:srgbClr val="C49A2C"/>
                </a:solidFill>
                <a:latin typeface="Arial"/>
                <a:ea typeface="Arial"/>
                <a:cs typeface="Arial"/>
              </a:defRPr>
            </a:lvl8pPr>
            <a:lvl9pPr algn="ctr">
              <a:defRPr sz="1800" b="1">
                <a:solidFill>
                  <a:srgbClr val="C49A2C"/>
                </a:solidFill>
                <a:latin typeface="Arial"/>
                <a:ea typeface="Arial"/>
                <a:cs typeface="Arial"/>
              </a:defRPr>
            </a:lvl9pPr>
          </a:lstStyle>
          <a:p xmlns:a="http://schemas.openxmlformats.org/drawingml/2006/main">
            <a:pPr algn="ctr">
              <a:defRPr sz="1800" b="1">
                <a:solidFill>
                  <a:srgbClr val="C49A2C"/>
                </a:solidFill>
                <a:latin typeface="Arial"/>
                <a:ea typeface="Arial"/>
                <a:cs typeface="Arial"/>
              </a:defRPr>
            </a:pPr>
            <a:r>
              <a:rPr sz="1800" b="1">
                <a:solidFill>
                  <a:srgbClr val="C49A2C"/>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26A2DBF2-6FD8-430D-AA58-C5811EA10D9B}"/>
              </a:ext>
            </a:extLst>
          </p:cNvPr>
          <p:cNvSpPr>
            <a:spLocks xmlns:a="http://schemas.openxmlformats.org/drawingml/2006/main" noGrp="1"/>
          </p:cNvSpPr>
          <p:nvPr/>
        </p:nvSpPr>
        <p:spPr>
          <a:xfrm xmlns:a="http://schemas.openxmlformats.org/drawingml/2006/main">
            <a:off x="7162800" y="56197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9E1B32"/>
                </a:solidFill>
                <a:latin typeface="Arial"/>
                <a:ea typeface="Arial"/>
                <a:cs typeface="Arial"/>
              </a:defRPr>
            </a:defPPr>
            <a:lvl1pPr algn="ctr">
              <a:defRPr sz="1425" b="1">
                <a:solidFill>
                  <a:srgbClr val="9E1B32"/>
                </a:solidFill>
                <a:latin typeface="Arial"/>
                <a:ea typeface="Arial"/>
                <a:cs typeface="Arial"/>
              </a:defRPr>
            </a:lvl1pPr>
            <a:lvl2pPr algn="ctr">
              <a:defRPr sz="1425" b="1">
                <a:solidFill>
                  <a:srgbClr val="9E1B32"/>
                </a:solidFill>
                <a:latin typeface="Arial"/>
                <a:ea typeface="Arial"/>
                <a:cs typeface="Arial"/>
              </a:defRPr>
            </a:lvl2pPr>
            <a:lvl3pPr algn="ctr">
              <a:defRPr sz="1425" b="1">
                <a:solidFill>
                  <a:srgbClr val="9E1B32"/>
                </a:solidFill>
                <a:latin typeface="Arial"/>
                <a:ea typeface="Arial"/>
                <a:cs typeface="Arial"/>
              </a:defRPr>
            </a:lvl3pPr>
            <a:lvl4pPr algn="ctr">
              <a:defRPr sz="1425" b="1">
                <a:solidFill>
                  <a:srgbClr val="9E1B32"/>
                </a:solidFill>
                <a:latin typeface="Arial"/>
                <a:ea typeface="Arial"/>
                <a:cs typeface="Arial"/>
              </a:defRPr>
            </a:lvl4pPr>
            <a:lvl5pPr algn="ctr">
              <a:defRPr sz="1425" b="1">
                <a:solidFill>
                  <a:srgbClr val="9E1B32"/>
                </a:solidFill>
                <a:latin typeface="Arial"/>
                <a:ea typeface="Arial"/>
                <a:cs typeface="Arial"/>
              </a:defRPr>
            </a:lvl5pPr>
            <a:lvl6pPr algn="ctr">
              <a:defRPr sz="1425" b="1">
                <a:solidFill>
                  <a:srgbClr val="9E1B32"/>
                </a:solidFill>
                <a:latin typeface="Arial"/>
                <a:ea typeface="Arial"/>
                <a:cs typeface="Arial"/>
              </a:defRPr>
            </a:lvl6pPr>
            <a:lvl7pPr algn="ctr">
              <a:defRPr sz="1425" b="1">
                <a:solidFill>
                  <a:srgbClr val="9E1B32"/>
                </a:solidFill>
                <a:latin typeface="Arial"/>
                <a:ea typeface="Arial"/>
                <a:cs typeface="Arial"/>
              </a:defRPr>
            </a:lvl7pPr>
            <a:lvl8pPr algn="ctr">
              <a:defRPr sz="1425" b="1">
                <a:solidFill>
                  <a:srgbClr val="9E1B32"/>
                </a:solidFill>
                <a:latin typeface="Arial"/>
                <a:ea typeface="Arial"/>
                <a:cs typeface="Arial"/>
              </a:defRPr>
            </a:lvl8pPr>
            <a:lvl9pPr algn="ctr">
              <a:defRPr sz="1425" b="1">
                <a:solidFill>
                  <a:srgbClr val="9E1B32"/>
                </a:solidFill>
                <a:latin typeface="Arial"/>
                <a:ea typeface="Arial"/>
                <a:cs typeface="Arial"/>
              </a:defRPr>
            </a:lvl9pPr>
          </a:lstStyle>
          <a:p xmlns:a="http://schemas.openxmlformats.org/drawingml/2006/main">
            <a:pPr algn="ctr">
              <a:defRPr sz="1425" b="1">
                <a:solidFill>
                  <a:srgbClr val="9E1B32"/>
                </a:solidFill>
                <a:latin typeface="Arial"/>
                <a:ea typeface="Arial"/>
                <a:cs typeface="Arial"/>
              </a:defRPr>
            </a:pPr>
            <a:r>
              <a:rPr sz="1425" b="1">
                <a:solidFill>
                  <a:srgbClr val="9E1B32"/>
                </a:solidFill>
                <a:latin typeface="Arial"/>
                <a:ea typeface="Arial"/>
                <a:cs typeface="Arial"/>
              </a:rPr>
              <a:t>HIDDEN FINAL TASKS</a:t>
            </a:r>
          </a:p>
        </p:txBody>
      </p:sp>
      <p:sp>
        <p:nvSpPr>
          <p:cNvPr id="25" name="slide-4-footer-label">
            <a:extLst xmlns:a="http://schemas.openxmlformats.org/drawingml/2006/main">
              <a:ext uri="{FF2B5EF4-FFF2-40B4-BE49-F238E27FC236}">
                <a16:creationId xmlns:a16="http://schemas.microsoft.com/office/drawing/2014/main" id="{5881D376-BFB8-4C0B-BD2C-12D7FDCCE6E5}"/>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BD3B3-6780-4E40-A322-2B13C49F5E84}"/>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04</a:t>
            </a:r>
          </a:p>
        </p:txBody>
      </p:sp>
    </p:spTree>
    <p:extLst>
      <p:ext uri="{BB962C8B-B14F-4D97-AF65-F5344CB8AC3E}">
        <p14:creationId xmlns:p14="http://schemas.microsoft.com/office/powerpoint/2010/main" val="14063730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5-title">
            <a:extLst xmlns:a="http://schemas.openxmlformats.org/drawingml/2006/main">
              <a:ext uri="{FF2B5EF4-FFF2-40B4-BE49-F238E27FC236}">
                <a16:creationId xmlns:a16="http://schemas.microsoft.com/office/drawing/2014/main" id="{01B71E57-53BC-485A-B7D2-BC5DAB8BE446}"/>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Shared-task results</a:t>
            </a:r>
          </a:p>
        </p:txBody>
      </p:sp>
      <p:sp>
        <p:nvSpPr>
          <p:cNvPr id="2" name="slide-5-top-rule">
            <a:extLst xmlns:a="http://schemas.openxmlformats.org/drawingml/2006/main">
              <a:ext uri="{FF2B5EF4-FFF2-40B4-BE49-F238E27FC236}">
                <a16:creationId xmlns:a16="http://schemas.microsoft.com/office/drawing/2014/main" id="{147AF622-D8FD-4784-8FBC-9758A2E90CAE}"/>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CDBB36-8974-4FD5-A52B-17D8056B2D1B}"/>
              </a:ext>
            </a:extLst>
          </p:cNvPr>
          <p:cNvSpPr>
            <a:spLocks xmlns:a="http://schemas.openxmlformats.org/drawingml/2006/main" noGrp="1"/>
          </p:cNvSpPr>
          <p:nvPr/>
        </p:nvSpPr>
        <p:spPr>
          <a:xfrm xmlns:a="http://schemas.openxmlformats.org/drawingml/2006/main">
            <a:off x="685800" y="1381125"/>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xmlns:a="http://schemas.openxmlformats.org/drawingml/2006/main">
            <a:pPr algn="ctr">
              <a:defRPr sz="3600" b="1">
                <a:solidFill>
                  <a:srgbClr val="9E1B32"/>
                </a:solidFill>
                <a:latin typeface="Arial"/>
                <a:ea typeface="Arial"/>
                <a:cs typeface="Arial"/>
              </a:defRPr>
            </a:pPr>
            <a:r>
              <a:rPr sz="3600" b="1">
                <a:solidFill>
                  <a:srgbClr val="9E1B32"/>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2EABC0DD-DE86-4B58-B3B7-41ACD3E29B94}"/>
              </a:ext>
            </a:extLst>
          </p:cNvPr>
          <p:cNvSpPr>
            <a:spLocks xmlns:a="http://schemas.openxmlformats.org/drawingml/2006/main" noGrp="1"/>
          </p:cNvSpPr>
          <p:nvPr/>
        </p:nvSpPr>
        <p:spPr>
          <a:xfrm xmlns:a="http://schemas.openxmlformats.org/drawingml/2006/main">
            <a:off x="685800"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xmlns:a="http://schemas.openxmlformats.org/drawingml/2006/main">
            <a:pPr algn="ctr">
              <a:defRPr sz="1425" b="1">
                <a:solidFill>
                  <a:srgbClr val="686E75"/>
                </a:solidFill>
                <a:latin typeface="Arial"/>
                <a:ea typeface="Arial"/>
                <a:cs typeface="Arial"/>
              </a:defRPr>
            </a:pPr>
            <a:r>
              <a:rPr sz="1425" b="1">
                <a:solidFill>
                  <a:srgbClr val="686E75"/>
                </a:solidFill>
                <a:latin typeface="Arial"/>
                <a:ea typeface="Arial"/>
                <a:cs typeface="Arial"/>
              </a:rPr>
              <a:t>TEAMS</a:t>
            </a:r>
          </a:p>
        </p:txBody>
      </p:sp>
      <p:sp>
        <p:nvSpPr>
          <p:cNvPr id="5" name="">
            <a:extLst xmlns:a="http://schemas.openxmlformats.org/drawingml/2006/main">
              <a:ext uri="{FF2B5EF4-FFF2-40B4-BE49-F238E27FC236}">
                <a16:creationId xmlns:a16="http://schemas.microsoft.com/office/drawing/2014/main" id="{1E1F5A1E-153D-47EB-B1D8-30E5200BB4CF}"/>
              </a:ext>
            </a:extLst>
          </p:cNvPr>
          <p:cNvSpPr>
            <a:spLocks xmlns:a="http://schemas.openxmlformats.org/drawingml/2006/main" noGrp="1"/>
          </p:cNvSpPr>
          <p:nvPr/>
        </p:nvSpPr>
        <p:spPr>
          <a:xfrm xmlns:a="http://schemas.openxmlformats.org/drawingml/2006/main">
            <a:off x="3390900" y="1381125"/>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xmlns:a="http://schemas.openxmlformats.org/drawingml/2006/main">
            <a:pPr algn="ctr">
              <a:defRPr sz="3600" b="1">
                <a:solidFill>
                  <a:srgbClr val="9E1B32"/>
                </a:solidFill>
                <a:latin typeface="Arial"/>
                <a:ea typeface="Arial"/>
                <a:cs typeface="Arial"/>
              </a:defRPr>
            </a:pPr>
            <a:r>
              <a:rPr sz="3600" b="1">
                <a:solidFill>
                  <a:srgbClr val="9E1B32"/>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7B2104D7-0481-43C5-BCB3-860C4B4FFA75}"/>
              </a:ext>
            </a:extLst>
          </p:cNvPr>
          <p:cNvSpPr>
            <a:spLocks xmlns:a="http://schemas.openxmlformats.org/drawingml/2006/main" noGrp="1"/>
          </p:cNvSpPr>
          <p:nvPr/>
        </p:nvSpPr>
        <p:spPr>
          <a:xfrm xmlns:a="http://schemas.openxmlformats.org/drawingml/2006/main">
            <a:off x="3390900"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xmlns:a="http://schemas.openxmlformats.org/drawingml/2006/main">
            <a:pPr algn="ctr">
              <a:defRPr sz="1425" b="1">
                <a:solidFill>
                  <a:srgbClr val="686E75"/>
                </a:solidFill>
                <a:latin typeface="Arial"/>
                <a:ea typeface="Arial"/>
                <a:cs typeface="Arial"/>
              </a:defRPr>
            </a:pPr>
            <a:r>
              <a:rPr sz="1425" b="1">
                <a:solidFill>
                  <a:srgbClr val="686E75"/>
                </a:solidFill>
                <a:latin typeface="Arial"/>
                <a:ea typeface="Arial"/>
                <a:cs typeface="Arial"/>
              </a:rPr>
              <a:t>MODELS</a:t>
            </a:r>
          </a:p>
        </p:txBody>
      </p:sp>
      <p:sp>
        <p:nvSpPr>
          <p:cNvPr id="7" name="">
            <a:extLst xmlns:a="http://schemas.openxmlformats.org/drawingml/2006/main">
              <a:ext uri="{FF2B5EF4-FFF2-40B4-BE49-F238E27FC236}">
                <a16:creationId xmlns:a16="http://schemas.microsoft.com/office/drawing/2014/main" id="{7646178B-E1F3-4C0A-85D1-DD83A0EC1F47}"/>
              </a:ext>
            </a:extLst>
          </p:cNvPr>
          <p:cNvSpPr>
            <a:spLocks xmlns:a="http://schemas.openxmlformats.org/drawingml/2006/main" noGrp="1"/>
          </p:cNvSpPr>
          <p:nvPr/>
        </p:nvSpPr>
        <p:spPr>
          <a:xfrm xmlns:a="http://schemas.openxmlformats.org/drawingml/2006/main">
            <a:off x="6096000" y="1381125"/>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xmlns:a="http://schemas.openxmlformats.org/drawingml/2006/main">
            <a:pPr algn="ctr">
              <a:defRPr sz="3600" b="1">
                <a:solidFill>
                  <a:srgbClr val="9E1B32"/>
                </a:solidFill>
                <a:latin typeface="Arial"/>
                <a:ea typeface="Arial"/>
                <a:cs typeface="Arial"/>
              </a:defRPr>
            </a:pPr>
            <a:r>
              <a:rPr sz="3600" b="1">
                <a:solidFill>
                  <a:srgbClr val="9E1B32"/>
                </a:solidFill>
                <a:latin typeface="Arial"/>
                <a:ea typeface="Arial"/>
                <a:cs typeface="Arial"/>
              </a:rPr>
              <a:t>74</a:t>
            </a:r>
          </a:p>
        </p:txBody>
      </p:sp>
      <p:sp>
        <p:nvSpPr>
          <p:cNvPr id="8" name="">
            <a:extLst xmlns:a="http://schemas.openxmlformats.org/drawingml/2006/main">
              <a:ext uri="{FF2B5EF4-FFF2-40B4-BE49-F238E27FC236}">
                <a16:creationId xmlns:a16="http://schemas.microsoft.com/office/drawing/2014/main" id="{0A308AD4-9251-4721-A8D3-27E7A034ABEF}"/>
              </a:ext>
            </a:extLst>
          </p:cNvPr>
          <p:cNvSpPr>
            <a:spLocks xmlns:a="http://schemas.openxmlformats.org/drawingml/2006/main" noGrp="1"/>
          </p:cNvSpPr>
          <p:nvPr/>
        </p:nvSpPr>
        <p:spPr>
          <a:xfrm xmlns:a="http://schemas.openxmlformats.org/drawingml/2006/main">
            <a:off x="6096000"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xmlns:a="http://schemas.openxmlformats.org/drawingml/2006/main">
            <a:pPr algn="ctr">
              <a:defRPr sz="1425" b="1">
                <a:solidFill>
                  <a:srgbClr val="686E75"/>
                </a:solidFill>
                <a:latin typeface="Arial"/>
                <a:ea typeface="Arial"/>
                <a:cs typeface="Arial"/>
              </a:defRPr>
            </a:pPr>
            <a:r>
              <a:rPr sz="1425" b="1">
                <a:solidFill>
                  <a:srgbClr val="686E75"/>
                </a:solidFill>
                <a:latin typeface="Arial"/>
                <a:ea typeface="Arial"/>
                <a:cs typeface="Arial"/>
              </a:rPr>
              <a:t>RESULT FILES</a:t>
            </a:r>
          </a:p>
        </p:txBody>
      </p:sp>
      <p:sp>
        <p:nvSpPr>
          <p:cNvPr id="9" name="">
            <a:extLst xmlns:a="http://schemas.openxmlformats.org/drawingml/2006/main">
              <a:ext uri="{FF2B5EF4-FFF2-40B4-BE49-F238E27FC236}">
                <a16:creationId xmlns:a16="http://schemas.microsoft.com/office/drawing/2014/main" id="{C1153323-4729-4EB7-8534-B78FA563B65D}"/>
              </a:ext>
            </a:extLst>
          </p:cNvPr>
          <p:cNvSpPr>
            <a:spLocks xmlns:a="http://schemas.openxmlformats.org/drawingml/2006/main" noGrp="1"/>
          </p:cNvSpPr>
          <p:nvPr/>
        </p:nvSpPr>
        <p:spPr>
          <a:xfrm xmlns:a="http://schemas.openxmlformats.org/drawingml/2006/main">
            <a:off x="8705850" y="1562100"/>
            <a:ext cx="2800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lgn="r">
              <a:defRPr sz="1200" b="1">
                <a:solidFill>
                  <a:srgbClr val="C49A2C"/>
                </a:solidFill>
                <a:latin typeface="Arial"/>
                <a:ea typeface="Arial"/>
                <a:cs typeface="Arial"/>
              </a:defRPr>
            </a:defPPr>
            <a:lvl1pPr algn="r">
              <a:defRPr sz="1200" b="1">
                <a:solidFill>
                  <a:srgbClr val="C49A2C"/>
                </a:solidFill>
                <a:latin typeface="Arial"/>
                <a:ea typeface="Arial"/>
                <a:cs typeface="Arial"/>
              </a:defRPr>
            </a:lvl1pPr>
            <a:lvl2pPr algn="r">
              <a:defRPr sz="1200" b="1">
                <a:solidFill>
                  <a:srgbClr val="C49A2C"/>
                </a:solidFill>
                <a:latin typeface="Arial"/>
                <a:ea typeface="Arial"/>
                <a:cs typeface="Arial"/>
              </a:defRPr>
            </a:lvl2pPr>
            <a:lvl3pPr algn="r">
              <a:defRPr sz="1200" b="1">
                <a:solidFill>
                  <a:srgbClr val="C49A2C"/>
                </a:solidFill>
                <a:latin typeface="Arial"/>
                <a:ea typeface="Arial"/>
                <a:cs typeface="Arial"/>
              </a:defRPr>
            </a:lvl3pPr>
            <a:lvl4pPr algn="r">
              <a:defRPr sz="1200" b="1">
                <a:solidFill>
                  <a:srgbClr val="C49A2C"/>
                </a:solidFill>
                <a:latin typeface="Arial"/>
                <a:ea typeface="Arial"/>
                <a:cs typeface="Arial"/>
              </a:defRPr>
            </a:lvl4pPr>
            <a:lvl5pPr algn="r">
              <a:defRPr sz="1200" b="1">
                <a:solidFill>
                  <a:srgbClr val="C49A2C"/>
                </a:solidFill>
                <a:latin typeface="Arial"/>
                <a:ea typeface="Arial"/>
                <a:cs typeface="Arial"/>
              </a:defRPr>
            </a:lvl5pPr>
            <a:lvl6pPr algn="r">
              <a:defRPr sz="1200" b="1">
                <a:solidFill>
                  <a:srgbClr val="C49A2C"/>
                </a:solidFill>
                <a:latin typeface="Arial"/>
                <a:ea typeface="Arial"/>
                <a:cs typeface="Arial"/>
              </a:defRPr>
            </a:lvl6pPr>
            <a:lvl7pPr algn="r">
              <a:defRPr sz="1200" b="1">
                <a:solidFill>
                  <a:srgbClr val="C49A2C"/>
                </a:solidFill>
                <a:latin typeface="Arial"/>
                <a:ea typeface="Arial"/>
                <a:cs typeface="Arial"/>
              </a:defRPr>
            </a:lvl7pPr>
            <a:lvl8pPr algn="r">
              <a:defRPr sz="1200" b="1">
                <a:solidFill>
                  <a:srgbClr val="C49A2C"/>
                </a:solidFill>
                <a:latin typeface="Arial"/>
                <a:ea typeface="Arial"/>
                <a:cs typeface="Arial"/>
              </a:defRPr>
            </a:lvl8pPr>
            <a:lvl9pPr algn="r">
              <a:defRPr sz="1200" b="1">
                <a:solidFill>
                  <a:srgbClr val="C49A2C"/>
                </a:solidFill>
                <a:latin typeface="Arial"/>
                <a:ea typeface="Arial"/>
                <a:cs typeface="Arial"/>
              </a:defRPr>
            </a:lvl9pPr>
          </a:lstStyle>
          <a:p xmlns:a="http://schemas.openxmlformats.org/drawingml/2006/main">
            <a:pPr algn="r">
              <a:defRPr sz="1200" b="1">
                <a:solidFill>
                  <a:srgbClr val="C49A2C"/>
                </a:solidFill>
                <a:latin typeface="Arial"/>
                <a:ea typeface="Arial"/>
                <a:cs typeface="Arial"/>
              </a:defRPr>
            </a:pPr>
            <a:r>
              <a:rPr sz="1200" b="1">
                <a:solidFill>
                  <a:srgbClr val="C49A2C"/>
                </a:solidFill>
                <a:latin typeface="Arial"/>
                <a:ea typeface="Arial"/>
                <a:cs typeface="Arial"/>
              </a:rPr>
              <a:t>ONE SYSTEM PER TEAM ON THE FINAL LEADERBOARD</a:t>
            </a:r>
          </a:p>
        </p:txBody>
      </p:sp>
      <p:sp>
        <p:nvSpPr>
          <p:cNvPr id="10" name="">
            <a:extLst xmlns:a="http://schemas.openxmlformats.org/drawingml/2006/main">
              <a:ext uri="{FF2B5EF4-FFF2-40B4-BE49-F238E27FC236}">
                <a16:creationId xmlns:a16="http://schemas.microsoft.com/office/drawing/2014/main" id="{7328B2DA-2AF9-4700-974C-15928CC4D639}"/>
              </a:ext>
            </a:extLst>
          </p:cNvPr>
          <p:cNvSpPr>
            <a:spLocks xmlns:a="http://schemas.openxmlformats.org/drawingml/2006/main" noGrp="1"/>
          </p:cNvSpPr>
          <p:nvPr/>
        </p:nvSpPr>
        <p:spPr>
          <a:xfrm xmlns:a="http://schemas.openxmlformats.org/drawingml/2006/main">
            <a:off x="685800" y="241935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BE41C1-6395-4CEA-8499-1BD767F683B1}"/>
              </a:ext>
            </a:extLst>
          </p:cNvPr>
          <p:cNvSpPr>
            <a:spLocks xmlns:a="http://schemas.openxmlformats.org/drawingml/2006/main" noGrp="1"/>
          </p:cNvSpPr>
          <p:nvPr/>
        </p:nvSpPr>
        <p:spPr>
          <a:xfrm xmlns:a="http://schemas.openxmlformats.org/drawingml/2006/main">
            <a:off x="685800" y="269557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Overall podium</a:t>
            </a:r>
          </a:p>
        </p:txBody>
      </p:sp>
      <p:graphicFrame>
        <p:nvGraphicFramePr>
          <p:cNvPr id="12" name="Chart">
            <a:extLst xmlns:a="http://schemas.openxmlformats.org/drawingml/2006/main">
              <a:ext uri="{FF2B5EF4-FFF2-40B4-BE49-F238E27FC236}">
                <a16:creationId xmlns:a16="http://schemas.microsoft.com/office/drawing/2014/main" id="{EC1DDD6B-20D5-4378-884D-F3424A3970A1}"/>
              </a:ext>
            </a:extLst>
          </p:cNvPr>
          <p:cNvGraphicFramePr/>
          <p:nvPr/>
        </p:nvGraphicFramePr>
        <p:xfrm>
          <a:off xmlns:a="http://schemas.openxmlformats.org/drawingml/2006/main" x="523875" y="3067050"/>
          <a:ext xmlns:a="http://schemas.openxmlformats.org/drawingml/2006/main" cx="6762750" cy="2857500"/>
        </p:xfrm>
        <a:graphic xmlns:a="http://schemas.openxmlformats.org/drawingml/2006/main">
          <a:graphicData uri="http://schemas.openxmlformats.org/drawingml/2006/chart">
            <c:chart xmlns:r="http://schemas.openxmlformats.org/officeDocument/2006/relationships" xmlns:c="http://schemas.openxmlformats.org/drawingml/2006/chart" r:id="R26b3244879a24248"/>
          </a:graphicData>
        </a:graphic>
      </p:graphicFrame>
      <p:sp>
        <p:nvSpPr>
          <p:cNvPr id="13" name="">
            <a:extLst xmlns:a="http://schemas.openxmlformats.org/drawingml/2006/main">
              <a:ext uri="{FF2B5EF4-FFF2-40B4-BE49-F238E27FC236}">
                <a16:creationId xmlns:a16="http://schemas.microsoft.com/office/drawing/2014/main" id="{857B0E5C-6DC8-40A8-BFE2-BBFEF960C038}"/>
              </a:ext>
            </a:extLst>
          </p:cNvPr>
          <p:cNvSpPr>
            <a:spLocks xmlns:a="http://schemas.openxmlformats.org/drawingml/2006/main" noGrp="1"/>
          </p:cNvSpPr>
          <p:nvPr/>
        </p:nvSpPr>
        <p:spPr>
          <a:xfrm xmlns:a="http://schemas.openxmlformats.org/drawingml/2006/main">
            <a:off x="7553325" y="2771775"/>
            <a:ext cx="19050" cy="30861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13641D-DBD9-4AE1-A5A4-12FCB44F3177}"/>
              </a:ext>
            </a:extLst>
          </p:cNvPr>
          <p:cNvSpPr>
            <a:spLocks xmlns:a="http://schemas.openxmlformats.org/drawingml/2006/main" noGrp="1"/>
          </p:cNvSpPr>
          <p:nvPr/>
        </p:nvSpPr>
        <p:spPr>
          <a:xfrm xmlns:a="http://schemas.openxmlformats.org/drawingml/2006/main">
            <a:off x="7924800" y="26955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Track winners</a:t>
            </a:r>
          </a:p>
        </p:txBody>
      </p:sp>
      <p:sp>
        <p:nvSpPr>
          <p:cNvPr id="15" name="">
            <a:extLst xmlns:a="http://schemas.openxmlformats.org/drawingml/2006/main">
              <a:ext uri="{FF2B5EF4-FFF2-40B4-BE49-F238E27FC236}">
                <a16:creationId xmlns:a16="http://schemas.microsoft.com/office/drawing/2014/main" id="{1ABFCBB3-5219-4605-A5C4-125B4F4075DC}"/>
              </a:ext>
            </a:extLst>
          </p:cNvPr>
          <p:cNvSpPr>
            <a:spLocks xmlns:a="http://schemas.openxmlformats.org/drawingml/2006/main" noGrp="1"/>
          </p:cNvSpPr>
          <p:nvPr/>
        </p:nvSpPr>
        <p:spPr>
          <a:xfrm xmlns:a="http://schemas.openxmlformats.org/drawingml/2006/main">
            <a:off x="7924800" y="32480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xmlns:a="http://schemas.openxmlformats.org/drawingml/2006/main">
            <a:pPr>
              <a:defRPr sz="975" b="1">
                <a:solidFill>
                  <a:srgbClr val="C49A2C"/>
                </a:solidFill>
                <a:latin typeface="Arial"/>
                <a:ea typeface="Arial"/>
                <a:cs typeface="Arial"/>
              </a:defRPr>
            </a:pPr>
            <a:r>
              <a:rPr sz="975" b="1">
                <a:solidFill>
                  <a:srgbClr val="C49A2C"/>
                </a:solidFill>
                <a:latin typeface="Arial"/>
                <a:ea typeface="Arial"/>
                <a:cs typeface="Arial"/>
              </a:rPr>
              <a:t>NLU</a:t>
            </a:r>
          </a:p>
        </p:txBody>
      </p:sp>
      <p:sp>
        <p:nvSpPr>
          <p:cNvPr id="16" name="">
            <a:extLst xmlns:a="http://schemas.openxmlformats.org/drawingml/2006/main">
              <a:ext uri="{FF2B5EF4-FFF2-40B4-BE49-F238E27FC236}">
                <a16:creationId xmlns:a16="http://schemas.microsoft.com/office/drawing/2014/main" id="{42929E2A-1814-48B6-A1CA-24E31ECAEE04}"/>
              </a:ext>
            </a:extLst>
          </p:cNvPr>
          <p:cNvSpPr>
            <a:spLocks xmlns:a="http://schemas.openxmlformats.org/drawingml/2006/main" noGrp="1"/>
          </p:cNvSpPr>
          <p:nvPr/>
        </p:nvSpPr>
        <p:spPr>
          <a:xfrm xmlns:a="http://schemas.openxmlformats.org/drawingml/2006/main">
            <a:off x="7924800" y="350520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xmlns:a="http://schemas.openxmlformats.org/drawingml/2006/main">
            <a:pPr>
              <a:defRPr sz="1575" b="1">
                <a:solidFill>
                  <a:srgbClr val="233342"/>
                </a:solidFill>
                <a:latin typeface="Arial"/>
                <a:ea typeface="Arial"/>
                <a:cs typeface="Arial"/>
              </a:defRPr>
            </a:pPr>
            <a:r>
              <a:rPr sz="1575" b="1">
                <a:solidFill>
                  <a:srgbClr val="233342"/>
                </a:solidFill>
                <a:latin typeface="Arial"/>
                <a:ea typeface="Arial"/>
                <a:cs typeface="Arial"/>
              </a:rPr>
              <a:t>BabyDeBERTa-zh</a:t>
            </a:r>
          </a:p>
        </p:txBody>
      </p:sp>
      <p:sp>
        <p:nvSpPr>
          <p:cNvPr id="17" name="">
            <a:extLst xmlns:a="http://schemas.openxmlformats.org/drawingml/2006/main">
              <a:ext uri="{FF2B5EF4-FFF2-40B4-BE49-F238E27FC236}">
                <a16:creationId xmlns:a16="http://schemas.microsoft.com/office/drawing/2014/main" id="{4A81FD08-2A6E-424E-BE4E-071384FFCBCF}"/>
              </a:ext>
            </a:extLst>
          </p:cNvPr>
          <p:cNvSpPr>
            <a:spLocks xmlns:a="http://schemas.openxmlformats.org/drawingml/2006/main" noGrp="1"/>
          </p:cNvSpPr>
          <p:nvPr/>
        </p:nvSpPr>
        <p:spPr>
          <a:xfrm xmlns:a="http://schemas.openxmlformats.org/drawingml/2006/main">
            <a:off x="10382250" y="3419475"/>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xmlns:a="http://schemas.openxmlformats.org/drawingml/2006/main">
            <a:pPr algn="r">
              <a:defRPr sz="2025" b="1">
                <a:solidFill>
                  <a:srgbClr val="9E1B32"/>
                </a:solidFill>
                <a:latin typeface="Arial"/>
                <a:ea typeface="Arial"/>
                <a:cs typeface="Arial"/>
              </a:defRPr>
            </a:pPr>
            <a:r>
              <a:rPr sz="2025" b="1">
                <a:solidFill>
                  <a:srgbClr val="9E1B32"/>
                </a:solidFill>
                <a:latin typeface="Arial"/>
                <a:ea typeface="Arial"/>
                <a:cs typeface="Arial"/>
              </a:rPr>
              <a:t>60.99</a:t>
            </a:r>
          </a:p>
        </p:txBody>
      </p:sp>
      <p:sp>
        <p:nvSpPr>
          <p:cNvPr id="18" name="">
            <a:extLst xmlns:a="http://schemas.openxmlformats.org/drawingml/2006/main">
              <a:ext uri="{FF2B5EF4-FFF2-40B4-BE49-F238E27FC236}">
                <a16:creationId xmlns:a16="http://schemas.microsoft.com/office/drawing/2014/main" id="{884D3466-E96B-4940-9372-8A6661502EA0}"/>
              </a:ext>
            </a:extLst>
          </p:cNvPr>
          <p:cNvSpPr>
            <a:spLocks xmlns:a="http://schemas.openxmlformats.org/drawingml/2006/main" noGrp="1"/>
          </p:cNvSpPr>
          <p:nvPr/>
        </p:nvSpPr>
        <p:spPr>
          <a:xfrm xmlns:a="http://schemas.openxmlformats.org/drawingml/2006/main">
            <a:off x="7924800" y="3943350"/>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3E892F-1644-403F-BFE0-3C651D3559B9}"/>
              </a:ext>
            </a:extLst>
          </p:cNvPr>
          <p:cNvSpPr>
            <a:spLocks xmlns:a="http://schemas.openxmlformats.org/drawingml/2006/main" noGrp="1"/>
          </p:cNvSpPr>
          <p:nvPr/>
        </p:nvSpPr>
        <p:spPr>
          <a:xfrm xmlns:a="http://schemas.openxmlformats.org/drawingml/2006/main">
            <a:off x="7924800" y="4114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xmlns:a="http://schemas.openxmlformats.org/drawingml/2006/main">
            <a:pPr>
              <a:defRPr sz="975" b="1">
                <a:solidFill>
                  <a:srgbClr val="C49A2C"/>
                </a:solidFill>
                <a:latin typeface="Arial"/>
                <a:ea typeface="Arial"/>
                <a:cs typeface="Arial"/>
              </a:defRPr>
            </a:pPr>
            <a:r>
              <a:rPr sz="975" b="1">
                <a:solidFill>
                  <a:srgbClr val="C49A2C"/>
                </a:solidFill>
                <a:latin typeface="Arial"/>
                <a:ea typeface="Arial"/>
                <a:cs typeface="Arial"/>
              </a:rPr>
              <a:t>COGNITIVE MODELING</a:t>
            </a:r>
          </a:p>
        </p:txBody>
      </p:sp>
      <p:sp>
        <p:nvSpPr>
          <p:cNvPr id="20" name="">
            <a:extLst xmlns:a="http://schemas.openxmlformats.org/drawingml/2006/main">
              <a:ext uri="{FF2B5EF4-FFF2-40B4-BE49-F238E27FC236}">
                <a16:creationId xmlns:a16="http://schemas.microsoft.com/office/drawing/2014/main" id="{C53247B2-D6D3-4E30-844C-0C429C287DBB}"/>
              </a:ext>
            </a:extLst>
          </p:cNvPr>
          <p:cNvSpPr>
            <a:spLocks xmlns:a="http://schemas.openxmlformats.org/drawingml/2006/main" noGrp="1"/>
          </p:cNvSpPr>
          <p:nvPr/>
        </p:nvSpPr>
        <p:spPr>
          <a:xfrm xmlns:a="http://schemas.openxmlformats.org/drawingml/2006/main">
            <a:off x="7924800" y="4371975"/>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xmlns:a="http://schemas.openxmlformats.org/drawingml/2006/main">
            <a:pPr>
              <a:defRPr sz="1575" b="1">
                <a:solidFill>
                  <a:srgbClr val="233342"/>
                </a:solidFill>
                <a:latin typeface="Arial"/>
                <a:ea typeface="Arial"/>
                <a:cs typeface="Arial"/>
              </a:defRPr>
            </a:pPr>
            <a:r>
              <a:rPr sz="1575" b="1">
                <a:solidFill>
                  <a:srgbClr val="233342"/>
                </a:solidFill>
                <a:latin typeface="Arial"/>
                <a:ea typeface="Arial"/>
                <a:cs typeface="Arial"/>
              </a:rPr>
              <a:t>RepDuet</a:t>
            </a:r>
          </a:p>
        </p:txBody>
      </p:sp>
      <p:sp>
        <p:nvSpPr>
          <p:cNvPr id="21" name="">
            <a:extLst xmlns:a="http://schemas.openxmlformats.org/drawingml/2006/main">
              <a:ext uri="{FF2B5EF4-FFF2-40B4-BE49-F238E27FC236}">
                <a16:creationId xmlns:a16="http://schemas.microsoft.com/office/drawing/2014/main" id="{9DB77D8B-0795-4C20-A542-24207EFA8AA7}"/>
              </a:ext>
            </a:extLst>
          </p:cNvPr>
          <p:cNvSpPr>
            <a:spLocks xmlns:a="http://schemas.openxmlformats.org/drawingml/2006/main" noGrp="1"/>
          </p:cNvSpPr>
          <p:nvPr/>
        </p:nvSpPr>
        <p:spPr>
          <a:xfrm xmlns:a="http://schemas.openxmlformats.org/drawingml/2006/main">
            <a:off x="10382250" y="4286250"/>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xmlns:a="http://schemas.openxmlformats.org/drawingml/2006/main">
            <a:pPr algn="r">
              <a:defRPr sz="2025" b="1">
                <a:solidFill>
                  <a:srgbClr val="9E1B32"/>
                </a:solidFill>
                <a:latin typeface="Arial"/>
                <a:ea typeface="Arial"/>
                <a:cs typeface="Arial"/>
              </a:defRPr>
            </a:pPr>
            <a:r>
              <a:rPr sz="2025" b="1">
                <a:solidFill>
                  <a:srgbClr val="9E1B32"/>
                </a:solidFill>
                <a:latin typeface="Arial"/>
                <a:ea typeface="Arial"/>
                <a:cs typeface="Arial"/>
              </a:rPr>
              <a:t>33.96</a:t>
            </a:r>
          </a:p>
        </p:txBody>
      </p:sp>
      <p:sp>
        <p:nvSpPr>
          <p:cNvPr id="22" name="">
            <a:extLst xmlns:a="http://schemas.openxmlformats.org/drawingml/2006/main">
              <a:ext uri="{FF2B5EF4-FFF2-40B4-BE49-F238E27FC236}">
                <a16:creationId xmlns:a16="http://schemas.microsoft.com/office/drawing/2014/main" id="{B449E99F-E9FB-4E59-9737-6B245918F132}"/>
              </a:ext>
            </a:extLst>
          </p:cNvPr>
          <p:cNvSpPr>
            <a:spLocks xmlns:a="http://schemas.openxmlformats.org/drawingml/2006/main" noGrp="1"/>
          </p:cNvSpPr>
          <p:nvPr/>
        </p:nvSpPr>
        <p:spPr>
          <a:xfrm xmlns:a="http://schemas.openxmlformats.org/drawingml/2006/main">
            <a:off x="7924800" y="4810125"/>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24DD8B-4302-4C52-A58E-58B1D03E737A}"/>
              </a:ext>
            </a:extLst>
          </p:cNvPr>
          <p:cNvSpPr>
            <a:spLocks xmlns:a="http://schemas.openxmlformats.org/drawingml/2006/main" noGrp="1"/>
          </p:cNvSpPr>
          <p:nvPr/>
        </p:nvSpPr>
        <p:spPr>
          <a:xfrm xmlns:a="http://schemas.openxmlformats.org/drawingml/2006/main">
            <a:off x="7924800" y="49815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xmlns:a="http://schemas.openxmlformats.org/drawingml/2006/main">
            <a:pPr>
              <a:defRPr sz="975" b="1">
                <a:solidFill>
                  <a:srgbClr val="C49A2C"/>
                </a:solidFill>
                <a:latin typeface="Arial"/>
                <a:ea typeface="Arial"/>
                <a:cs typeface="Arial"/>
              </a:defRPr>
            </a:pPr>
            <a:r>
              <a:rPr sz="975" b="1">
                <a:solidFill>
                  <a:srgbClr val="C49A2C"/>
                </a:solidFill>
                <a:latin typeface="Arial"/>
                <a:ea typeface="Arial"/>
                <a:cs typeface="Arial"/>
              </a:rPr>
              <a:t>HANZI</a:t>
            </a:r>
          </a:p>
        </p:txBody>
      </p:sp>
      <p:sp>
        <p:nvSpPr>
          <p:cNvPr id="24" name="">
            <a:extLst xmlns:a="http://schemas.openxmlformats.org/drawingml/2006/main">
              <a:ext uri="{FF2B5EF4-FFF2-40B4-BE49-F238E27FC236}">
                <a16:creationId xmlns:a16="http://schemas.microsoft.com/office/drawing/2014/main" id="{F8A65C37-7B53-4224-AB74-F9D3BB8F3972}"/>
              </a:ext>
            </a:extLst>
          </p:cNvPr>
          <p:cNvSpPr>
            <a:spLocks xmlns:a="http://schemas.openxmlformats.org/drawingml/2006/main" noGrp="1"/>
          </p:cNvSpPr>
          <p:nvPr/>
        </p:nvSpPr>
        <p:spPr>
          <a:xfrm xmlns:a="http://schemas.openxmlformats.org/drawingml/2006/main">
            <a:off x="7924800" y="523875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xmlns:a="http://schemas.openxmlformats.org/drawingml/2006/main">
            <a:pPr>
              <a:defRPr sz="1575" b="1">
                <a:solidFill>
                  <a:srgbClr val="233342"/>
                </a:solidFill>
                <a:latin typeface="Arial"/>
                <a:ea typeface="Arial"/>
                <a:cs typeface="Arial"/>
              </a:defRPr>
            </a:pPr>
            <a:r>
              <a:rPr sz="1575" b="1">
                <a:solidFill>
                  <a:srgbClr val="233342"/>
                </a:solidFill>
                <a:latin typeface="Arial"/>
                <a:ea typeface="Arial"/>
                <a:cs typeface="Arial"/>
              </a:rPr>
              <a:t>BabyDragon-v4</a:t>
            </a:r>
          </a:p>
        </p:txBody>
      </p:sp>
      <p:sp>
        <p:nvSpPr>
          <p:cNvPr id="25" name="">
            <a:extLst xmlns:a="http://schemas.openxmlformats.org/drawingml/2006/main">
              <a:ext uri="{FF2B5EF4-FFF2-40B4-BE49-F238E27FC236}">
                <a16:creationId xmlns:a16="http://schemas.microsoft.com/office/drawing/2014/main" id="{F1A1133F-D4E8-47C3-BE6B-8BCD40AFFCA4}"/>
              </a:ext>
            </a:extLst>
          </p:cNvPr>
          <p:cNvSpPr>
            <a:spLocks xmlns:a="http://schemas.openxmlformats.org/drawingml/2006/main" noGrp="1"/>
          </p:cNvSpPr>
          <p:nvPr/>
        </p:nvSpPr>
        <p:spPr>
          <a:xfrm xmlns:a="http://schemas.openxmlformats.org/drawingml/2006/main">
            <a:off x="10382250" y="5153025"/>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xmlns:a="http://schemas.openxmlformats.org/drawingml/2006/main">
            <a:pPr algn="r">
              <a:defRPr sz="2025" b="1">
                <a:solidFill>
                  <a:srgbClr val="9E1B32"/>
                </a:solidFill>
                <a:latin typeface="Arial"/>
                <a:ea typeface="Arial"/>
                <a:cs typeface="Arial"/>
              </a:defRPr>
            </a:pPr>
            <a:r>
              <a:rPr sz="2025" b="1">
                <a:solidFill>
                  <a:srgbClr val="9E1B32"/>
                </a:solidFill>
                <a:latin typeface="Arial"/>
                <a:ea typeface="Arial"/>
                <a:cs typeface="Arial"/>
              </a:rPr>
              <a:t>91.56</a:t>
            </a:r>
          </a:p>
        </p:txBody>
      </p:sp>
      <p:sp>
        <p:nvSpPr>
          <p:cNvPr id="26" name="">
            <a:extLst xmlns:a="http://schemas.openxmlformats.org/drawingml/2006/main">
              <a:ext uri="{FF2B5EF4-FFF2-40B4-BE49-F238E27FC236}">
                <a16:creationId xmlns:a16="http://schemas.microsoft.com/office/drawing/2014/main" id="{14F4C51C-4035-4ED8-B71F-8B021BE9553E}"/>
              </a:ext>
            </a:extLst>
          </p:cNvPr>
          <p:cNvSpPr>
            <a:spLocks xmlns:a="http://schemas.openxmlformats.org/drawingml/2006/main" noGrp="1"/>
          </p:cNvSpPr>
          <p:nvPr/>
        </p:nvSpPr>
        <p:spPr>
          <a:xfrm xmlns:a="http://schemas.openxmlformats.org/drawingml/2006/main">
            <a:off x="685800" y="60769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i="1">
                <a:solidFill>
                  <a:srgbClr val="686E75"/>
                </a:solidFill>
                <a:latin typeface="Arial"/>
                <a:ea typeface="Arial"/>
                <a:cs typeface="Arial"/>
              </a:defRPr>
            </a:defPPr>
            <a:lvl1pPr>
              <a:defRPr sz="1125" i="1">
                <a:solidFill>
                  <a:srgbClr val="686E75"/>
                </a:solidFill>
                <a:latin typeface="Arial"/>
                <a:ea typeface="Arial"/>
                <a:cs typeface="Arial"/>
              </a:defRPr>
            </a:lvl1pPr>
            <a:lvl2pPr>
              <a:defRPr sz="1125" i="1">
                <a:solidFill>
                  <a:srgbClr val="686E75"/>
                </a:solidFill>
                <a:latin typeface="Arial"/>
                <a:ea typeface="Arial"/>
                <a:cs typeface="Arial"/>
              </a:defRPr>
            </a:lvl2pPr>
            <a:lvl3pPr>
              <a:defRPr sz="1125" i="1">
                <a:solidFill>
                  <a:srgbClr val="686E75"/>
                </a:solidFill>
                <a:latin typeface="Arial"/>
                <a:ea typeface="Arial"/>
                <a:cs typeface="Arial"/>
              </a:defRPr>
            </a:lvl3pPr>
            <a:lvl4pPr>
              <a:defRPr sz="1125" i="1">
                <a:solidFill>
                  <a:srgbClr val="686E75"/>
                </a:solidFill>
                <a:latin typeface="Arial"/>
                <a:ea typeface="Arial"/>
                <a:cs typeface="Arial"/>
              </a:defRPr>
            </a:lvl4pPr>
            <a:lvl5pPr>
              <a:defRPr sz="1125" i="1">
                <a:solidFill>
                  <a:srgbClr val="686E75"/>
                </a:solidFill>
                <a:latin typeface="Arial"/>
                <a:ea typeface="Arial"/>
                <a:cs typeface="Arial"/>
              </a:defRPr>
            </a:lvl5pPr>
            <a:lvl6pPr>
              <a:defRPr sz="1125" i="1">
                <a:solidFill>
                  <a:srgbClr val="686E75"/>
                </a:solidFill>
                <a:latin typeface="Arial"/>
                <a:ea typeface="Arial"/>
                <a:cs typeface="Arial"/>
              </a:defRPr>
            </a:lvl6pPr>
            <a:lvl7pPr>
              <a:defRPr sz="1125" i="1">
                <a:solidFill>
                  <a:srgbClr val="686E75"/>
                </a:solidFill>
                <a:latin typeface="Arial"/>
                <a:ea typeface="Arial"/>
                <a:cs typeface="Arial"/>
              </a:defRPr>
            </a:lvl7pPr>
            <a:lvl8pPr>
              <a:defRPr sz="1125" i="1">
                <a:solidFill>
                  <a:srgbClr val="686E75"/>
                </a:solidFill>
                <a:latin typeface="Arial"/>
                <a:ea typeface="Arial"/>
                <a:cs typeface="Arial"/>
              </a:defRPr>
            </a:lvl8pPr>
            <a:lvl9pPr>
              <a:defRPr sz="1125" i="1">
                <a:solidFill>
                  <a:srgbClr val="686E75"/>
                </a:solidFill>
                <a:latin typeface="Arial"/>
                <a:ea typeface="Arial"/>
                <a:cs typeface="Arial"/>
              </a:defRPr>
            </a:lvl9pPr>
          </a:lstStyle>
          <a:p xmlns:a="http://schemas.openxmlformats.org/drawingml/2006/main">
            <a:pPr>
              <a:defRPr sz="1125" i="1">
                <a:solidFill>
                  <a:srgbClr val="686E75"/>
                </a:solidFill>
                <a:latin typeface="Arial"/>
                <a:ea typeface="Arial"/>
                <a:cs typeface="Arial"/>
              </a:defRPr>
            </a:pPr>
            <a:r>
              <a:rPr sz="1125" i="1">
                <a:solidFill>
                  <a:srgbClr val="686E75"/>
                </a:solidFill>
                <a:latin typeface="Arial"/>
                <a:ea typeface="Arial"/>
                <a:cs typeface="Arial"/>
              </a:rPr>
              <a:t>Overall = macro-average of NLU, Cognitive Modeling, and Hanzi</a:t>
            </a:r>
          </a:p>
        </p:txBody>
      </p:sp>
      <p:sp>
        <p:nvSpPr>
          <p:cNvPr id="27" name="slide-5-footer-label">
            <a:extLst xmlns:a="http://schemas.openxmlformats.org/drawingml/2006/main">
              <a:ext uri="{FF2B5EF4-FFF2-40B4-BE49-F238E27FC236}">
                <a16:creationId xmlns:a16="http://schemas.microsoft.com/office/drawing/2014/main" id="{B0F608AC-D577-4A43-933E-4B220C7B130A}"/>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5-footer-number">
            <a:extLst xmlns:a="http://schemas.openxmlformats.org/drawingml/2006/main">
              <a:ext uri="{FF2B5EF4-FFF2-40B4-BE49-F238E27FC236}">
                <a16:creationId xmlns:a16="http://schemas.microsoft.com/office/drawing/2014/main" id="{AD8F15FC-F038-4E07-82DF-694E8E21E7C4}"/>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05</a:t>
            </a:r>
          </a:p>
        </p:txBody>
      </p:sp>
    </p:spTree>
    <p:extLst>
      <p:ext uri="{BB962C8B-B14F-4D97-AF65-F5344CB8AC3E}">
        <p14:creationId xmlns:p14="http://schemas.microsoft.com/office/powerpoint/2010/main" val="2138663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6-title">
            <a:extLst xmlns:a="http://schemas.openxmlformats.org/drawingml/2006/main">
              <a:ext uri="{FF2B5EF4-FFF2-40B4-BE49-F238E27FC236}">
                <a16:creationId xmlns:a16="http://schemas.microsoft.com/office/drawing/2014/main" id="{E761A365-C67D-40BC-B9B8-AE0EA0D1D7B1}"/>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Cross-system analysis</a:t>
            </a:r>
          </a:p>
        </p:txBody>
      </p:sp>
      <p:sp>
        <p:nvSpPr>
          <p:cNvPr id="2" name="slide-6-top-rule">
            <a:extLst xmlns:a="http://schemas.openxmlformats.org/drawingml/2006/main">
              <a:ext uri="{FF2B5EF4-FFF2-40B4-BE49-F238E27FC236}">
                <a16:creationId xmlns:a16="http://schemas.microsoft.com/office/drawing/2014/main" id="{853A55FC-1350-426D-9F19-55666050A58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A6C4C4-ACD4-47DE-9B28-776C6F149639}"/>
              </a:ext>
            </a:extLst>
          </p:cNvPr>
          <p:cNvSpPr>
            <a:spLocks xmlns:a="http://schemas.openxmlformats.org/drawingml/2006/main" noGrp="1"/>
          </p:cNvSpPr>
          <p:nvPr/>
        </p:nvSpPr>
        <p:spPr>
          <a:xfrm xmlns:a="http://schemas.openxmlformats.org/drawingml/2006/main">
            <a:off x="685800" y="1371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Architecture distribution</a:t>
            </a:r>
          </a:p>
        </p:txBody>
      </p:sp>
      <p:graphicFrame>
        <p:nvGraphicFramePr>
          <p:cNvPr id="4" name="Chart">
            <a:extLst xmlns:a="http://schemas.openxmlformats.org/drawingml/2006/main">
              <a:ext uri="{FF2B5EF4-FFF2-40B4-BE49-F238E27FC236}">
                <a16:creationId xmlns:a16="http://schemas.microsoft.com/office/drawing/2014/main" id="{5D948B8D-C186-42AA-A1E2-067380D04AAD}"/>
              </a:ext>
            </a:extLst>
          </p:cNvPr>
          <p:cNvGraphicFramePr/>
          <p:nvPr/>
        </p:nvGraphicFramePr>
        <p:xfrm>
          <a:off xmlns:a="http://schemas.openxmlformats.org/drawingml/2006/main" x="476250" y="1724025"/>
          <a:ext xmlns:a="http://schemas.openxmlformats.org/drawingml/2006/main" cx="4953000" cy="1952625"/>
        </p:xfrm>
        <a:graphic xmlns:a="http://schemas.openxmlformats.org/drawingml/2006/main">
          <a:graphicData uri="http://schemas.openxmlformats.org/drawingml/2006/chart">
            <c:chart xmlns:r="http://schemas.openxmlformats.org/officeDocument/2006/relationships" xmlns:c="http://schemas.openxmlformats.org/drawingml/2006/chart" r:id="R41028b8ad29d4239"/>
          </a:graphicData>
        </a:graphic>
      </p:graphicFrame>
      <p:sp>
        <p:nvSpPr>
          <p:cNvPr id="5" name="">
            <a:extLst xmlns:a="http://schemas.openxmlformats.org/drawingml/2006/main">
              <a:ext uri="{FF2B5EF4-FFF2-40B4-BE49-F238E27FC236}">
                <a16:creationId xmlns:a16="http://schemas.microsoft.com/office/drawing/2014/main" id="{44EB4CDA-E05B-436B-AD82-3CCBE8494099}"/>
              </a:ext>
            </a:extLst>
          </p:cNvPr>
          <p:cNvSpPr>
            <a:spLocks xmlns:a="http://schemas.openxmlformats.org/drawingml/2006/main" noGrp="1"/>
          </p:cNvSpPr>
          <p:nvPr/>
        </p:nvSpPr>
        <p:spPr>
          <a:xfrm xmlns:a="http://schemas.openxmlformats.org/drawingml/2006/main">
            <a:off x="5829300" y="1390650"/>
            <a:ext cx="19050" cy="21336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5EB76B-56FC-4282-B099-149E2136444A}"/>
              </a:ext>
            </a:extLst>
          </p:cNvPr>
          <p:cNvSpPr>
            <a:spLocks xmlns:a="http://schemas.openxmlformats.org/drawingml/2006/main" noGrp="1"/>
          </p:cNvSpPr>
          <p:nvPr/>
        </p:nvSpPr>
        <p:spPr>
          <a:xfrm xmlns:a="http://schemas.openxmlformats.org/drawingml/2006/main">
            <a:off x="6238875" y="1371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Ranking pattern</a:t>
            </a:r>
          </a:p>
        </p:txBody>
      </p:sp>
      <p:sp>
        <p:nvSpPr>
          <p:cNvPr id="7" name="">
            <a:extLst xmlns:a="http://schemas.openxmlformats.org/drawingml/2006/main">
              <a:ext uri="{FF2B5EF4-FFF2-40B4-BE49-F238E27FC236}">
                <a16:creationId xmlns:a16="http://schemas.microsoft.com/office/drawing/2014/main" id="{59D26F14-2870-4949-827D-67E35AC3A726}"/>
              </a:ext>
            </a:extLst>
          </p:cNvPr>
          <p:cNvSpPr>
            <a:spLocks xmlns:a="http://schemas.openxmlformats.org/drawingml/2006/main" noGrp="1"/>
          </p:cNvSpPr>
          <p:nvPr/>
        </p:nvSpPr>
        <p:spPr>
          <a:xfrm xmlns:a="http://schemas.openxmlformats.org/drawingml/2006/main">
            <a:off x="6238875" y="1952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1">
                <a:solidFill>
                  <a:srgbClr val="C49A2C"/>
                </a:solidFill>
                <a:latin typeface="Arial"/>
                <a:ea typeface="Arial"/>
                <a:cs typeface="Arial"/>
              </a:defRPr>
            </a:defPPr>
            <a:lvl1pPr>
              <a:defRPr sz="1350" b="1">
                <a:solidFill>
                  <a:srgbClr val="C49A2C"/>
                </a:solidFill>
                <a:latin typeface="Arial"/>
                <a:ea typeface="Arial"/>
                <a:cs typeface="Arial"/>
              </a:defRPr>
            </a:lvl1pPr>
            <a:lvl2pPr>
              <a:defRPr sz="1350" b="1">
                <a:solidFill>
                  <a:srgbClr val="C49A2C"/>
                </a:solidFill>
                <a:latin typeface="Arial"/>
                <a:ea typeface="Arial"/>
                <a:cs typeface="Arial"/>
              </a:defRPr>
            </a:lvl2pPr>
            <a:lvl3pPr>
              <a:defRPr sz="1350" b="1">
                <a:solidFill>
                  <a:srgbClr val="C49A2C"/>
                </a:solidFill>
                <a:latin typeface="Arial"/>
                <a:ea typeface="Arial"/>
                <a:cs typeface="Arial"/>
              </a:defRPr>
            </a:lvl3pPr>
            <a:lvl4pPr>
              <a:defRPr sz="1350" b="1">
                <a:solidFill>
                  <a:srgbClr val="C49A2C"/>
                </a:solidFill>
                <a:latin typeface="Arial"/>
                <a:ea typeface="Arial"/>
                <a:cs typeface="Arial"/>
              </a:defRPr>
            </a:lvl4pPr>
            <a:lvl5pPr>
              <a:defRPr sz="1350" b="1">
                <a:solidFill>
                  <a:srgbClr val="C49A2C"/>
                </a:solidFill>
                <a:latin typeface="Arial"/>
                <a:ea typeface="Arial"/>
                <a:cs typeface="Arial"/>
              </a:defRPr>
            </a:lvl5pPr>
            <a:lvl6pPr>
              <a:defRPr sz="1350" b="1">
                <a:solidFill>
                  <a:srgbClr val="C49A2C"/>
                </a:solidFill>
                <a:latin typeface="Arial"/>
                <a:ea typeface="Arial"/>
                <a:cs typeface="Arial"/>
              </a:defRPr>
            </a:lvl6pPr>
            <a:lvl7pPr>
              <a:defRPr sz="1350" b="1">
                <a:solidFill>
                  <a:srgbClr val="C49A2C"/>
                </a:solidFill>
                <a:latin typeface="Arial"/>
                <a:ea typeface="Arial"/>
                <a:cs typeface="Arial"/>
              </a:defRPr>
            </a:lvl7pPr>
            <a:lvl8pPr>
              <a:defRPr sz="1350" b="1">
                <a:solidFill>
                  <a:srgbClr val="C49A2C"/>
                </a:solidFill>
                <a:latin typeface="Arial"/>
                <a:ea typeface="Arial"/>
                <a:cs typeface="Arial"/>
              </a:defRPr>
            </a:lvl8pPr>
            <a:lvl9pPr>
              <a:defRPr sz="1350" b="1">
                <a:solidFill>
                  <a:srgbClr val="C49A2C"/>
                </a:solidFill>
                <a:latin typeface="Arial"/>
                <a:ea typeface="Arial"/>
                <a:cs typeface="Arial"/>
              </a:defRPr>
            </a:lvl9pPr>
          </a:lstStyle>
          <a:p xmlns:a="http://schemas.openxmlformats.org/drawingml/2006/main">
            <a:pPr>
              <a:defRPr sz="1350" b="1">
                <a:solidFill>
                  <a:srgbClr val="C49A2C"/>
                </a:solidFill>
                <a:latin typeface="Arial"/>
                <a:ea typeface="Arial"/>
                <a:cs typeface="Arial"/>
              </a:defRPr>
            </a:pPr>
            <a:r>
              <a:rPr sz="1350" b="1">
                <a:solidFill>
                  <a:srgbClr val="C49A2C"/>
                </a:solidFill>
                <a:latin typeface="Arial"/>
                <a:ea typeface="Arial"/>
                <a:cs typeface="Arial"/>
              </a:rPr>
              <a:t>Top two overall</a:t>
            </a:r>
          </a:p>
        </p:txBody>
      </p:sp>
      <p:sp>
        <p:nvSpPr>
          <p:cNvPr id="8" name="">
            <a:extLst xmlns:a="http://schemas.openxmlformats.org/drawingml/2006/main">
              <a:ext uri="{FF2B5EF4-FFF2-40B4-BE49-F238E27FC236}">
                <a16:creationId xmlns:a16="http://schemas.microsoft.com/office/drawing/2014/main" id="{BA58FC1C-75FC-44E8-AB8E-212AC5BF365E}"/>
              </a:ext>
            </a:extLst>
          </p:cNvPr>
          <p:cNvSpPr>
            <a:spLocks xmlns:a="http://schemas.openxmlformats.org/drawingml/2006/main" noGrp="1"/>
          </p:cNvSpPr>
          <p:nvPr/>
        </p:nvSpPr>
        <p:spPr>
          <a:xfrm xmlns:a="http://schemas.openxmlformats.org/drawingml/2006/main">
            <a:off x="6238875" y="227647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1">
                <a:solidFill>
                  <a:srgbClr val="9E1B32"/>
                </a:solidFill>
                <a:latin typeface="Arial"/>
                <a:ea typeface="Arial"/>
                <a:cs typeface="Arial"/>
              </a:defRPr>
            </a:defPPr>
            <a:lvl1pPr>
              <a:defRPr sz="2550" b="1">
                <a:solidFill>
                  <a:srgbClr val="9E1B32"/>
                </a:solidFill>
                <a:latin typeface="Arial"/>
                <a:ea typeface="Arial"/>
                <a:cs typeface="Arial"/>
              </a:defRPr>
            </a:lvl1pPr>
            <a:lvl2pPr>
              <a:defRPr sz="2550" b="1">
                <a:solidFill>
                  <a:srgbClr val="9E1B32"/>
                </a:solidFill>
                <a:latin typeface="Arial"/>
                <a:ea typeface="Arial"/>
                <a:cs typeface="Arial"/>
              </a:defRPr>
            </a:lvl2pPr>
            <a:lvl3pPr>
              <a:defRPr sz="2550" b="1">
                <a:solidFill>
                  <a:srgbClr val="9E1B32"/>
                </a:solidFill>
                <a:latin typeface="Arial"/>
                <a:ea typeface="Arial"/>
                <a:cs typeface="Arial"/>
              </a:defRPr>
            </a:lvl3pPr>
            <a:lvl4pPr>
              <a:defRPr sz="2550" b="1">
                <a:solidFill>
                  <a:srgbClr val="9E1B32"/>
                </a:solidFill>
                <a:latin typeface="Arial"/>
                <a:ea typeface="Arial"/>
                <a:cs typeface="Arial"/>
              </a:defRPr>
            </a:lvl4pPr>
            <a:lvl5pPr>
              <a:defRPr sz="2550" b="1">
                <a:solidFill>
                  <a:srgbClr val="9E1B32"/>
                </a:solidFill>
                <a:latin typeface="Arial"/>
                <a:ea typeface="Arial"/>
                <a:cs typeface="Arial"/>
              </a:defRPr>
            </a:lvl5pPr>
            <a:lvl6pPr>
              <a:defRPr sz="2550" b="1">
                <a:solidFill>
                  <a:srgbClr val="9E1B32"/>
                </a:solidFill>
                <a:latin typeface="Arial"/>
                <a:ea typeface="Arial"/>
                <a:cs typeface="Arial"/>
              </a:defRPr>
            </a:lvl6pPr>
            <a:lvl7pPr>
              <a:defRPr sz="2550" b="1">
                <a:solidFill>
                  <a:srgbClr val="9E1B32"/>
                </a:solidFill>
                <a:latin typeface="Arial"/>
                <a:ea typeface="Arial"/>
                <a:cs typeface="Arial"/>
              </a:defRPr>
            </a:lvl7pPr>
            <a:lvl8pPr>
              <a:defRPr sz="2550" b="1">
                <a:solidFill>
                  <a:srgbClr val="9E1B32"/>
                </a:solidFill>
                <a:latin typeface="Arial"/>
                <a:ea typeface="Arial"/>
                <a:cs typeface="Arial"/>
              </a:defRPr>
            </a:lvl8pPr>
            <a:lvl9pPr>
              <a:defRPr sz="2550" b="1">
                <a:solidFill>
                  <a:srgbClr val="9E1B32"/>
                </a:solidFill>
                <a:latin typeface="Arial"/>
                <a:ea typeface="Arial"/>
                <a:cs typeface="Arial"/>
              </a:defRPr>
            </a:lvl9pPr>
          </a:lstStyle>
          <a:p xmlns:a="http://schemas.openxmlformats.org/drawingml/2006/main">
            <a:pPr>
              <a:defRPr sz="2550" b="1">
                <a:solidFill>
                  <a:srgbClr val="9E1B32"/>
                </a:solidFill>
                <a:latin typeface="Arial"/>
                <a:ea typeface="Arial"/>
                <a:cs typeface="Arial"/>
              </a:defRPr>
            </a:pPr>
            <a:r>
              <a:rPr sz="2550" b="1">
                <a:solidFill>
                  <a:srgbClr val="9E1B32"/>
                </a:solidFill>
                <a:latin typeface="Arial"/>
                <a:ea typeface="Arial"/>
                <a:cs typeface="Arial"/>
              </a:rPr>
              <a:t>Encoder-only</a:t>
            </a:r>
          </a:p>
        </p:txBody>
      </p:sp>
      <p:sp>
        <p:nvSpPr>
          <p:cNvPr id="9" name="">
            <a:extLst xmlns:a="http://schemas.openxmlformats.org/drawingml/2006/main">
              <a:ext uri="{FF2B5EF4-FFF2-40B4-BE49-F238E27FC236}">
                <a16:creationId xmlns:a16="http://schemas.microsoft.com/office/drawing/2014/main" id="{C1868376-96BC-4A54-9541-05753DB505AC}"/>
              </a:ext>
            </a:extLst>
          </p:cNvPr>
          <p:cNvSpPr>
            <a:spLocks xmlns:a="http://schemas.openxmlformats.org/drawingml/2006/main" noGrp="1"/>
          </p:cNvSpPr>
          <p:nvPr/>
        </p:nvSpPr>
        <p:spPr>
          <a:xfrm xmlns:a="http://schemas.openxmlformats.org/drawingml/2006/main">
            <a:off x="6238875" y="2895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1">
                <a:solidFill>
                  <a:srgbClr val="C49A2C"/>
                </a:solidFill>
                <a:latin typeface="Arial"/>
                <a:ea typeface="Arial"/>
                <a:cs typeface="Arial"/>
              </a:defRPr>
            </a:defPPr>
            <a:lvl1pPr>
              <a:defRPr sz="1350" b="1">
                <a:solidFill>
                  <a:srgbClr val="C49A2C"/>
                </a:solidFill>
                <a:latin typeface="Arial"/>
                <a:ea typeface="Arial"/>
                <a:cs typeface="Arial"/>
              </a:defRPr>
            </a:lvl1pPr>
            <a:lvl2pPr>
              <a:defRPr sz="1350" b="1">
                <a:solidFill>
                  <a:srgbClr val="C49A2C"/>
                </a:solidFill>
                <a:latin typeface="Arial"/>
                <a:ea typeface="Arial"/>
                <a:cs typeface="Arial"/>
              </a:defRPr>
            </a:lvl2pPr>
            <a:lvl3pPr>
              <a:defRPr sz="1350" b="1">
                <a:solidFill>
                  <a:srgbClr val="C49A2C"/>
                </a:solidFill>
                <a:latin typeface="Arial"/>
                <a:ea typeface="Arial"/>
                <a:cs typeface="Arial"/>
              </a:defRPr>
            </a:lvl3pPr>
            <a:lvl4pPr>
              <a:defRPr sz="1350" b="1">
                <a:solidFill>
                  <a:srgbClr val="C49A2C"/>
                </a:solidFill>
                <a:latin typeface="Arial"/>
                <a:ea typeface="Arial"/>
                <a:cs typeface="Arial"/>
              </a:defRPr>
            </a:lvl4pPr>
            <a:lvl5pPr>
              <a:defRPr sz="1350" b="1">
                <a:solidFill>
                  <a:srgbClr val="C49A2C"/>
                </a:solidFill>
                <a:latin typeface="Arial"/>
                <a:ea typeface="Arial"/>
                <a:cs typeface="Arial"/>
              </a:defRPr>
            </a:lvl5pPr>
            <a:lvl6pPr>
              <a:defRPr sz="1350" b="1">
                <a:solidFill>
                  <a:srgbClr val="C49A2C"/>
                </a:solidFill>
                <a:latin typeface="Arial"/>
                <a:ea typeface="Arial"/>
                <a:cs typeface="Arial"/>
              </a:defRPr>
            </a:lvl6pPr>
            <a:lvl7pPr>
              <a:defRPr sz="1350" b="1">
                <a:solidFill>
                  <a:srgbClr val="C49A2C"/>
                </a:solidFill>
                <a:latin typeface="Arial"/>
                <a:ea typeface="Arial"/>
                <a:cs typeface="Arial"/>
              </a:defRPr>
            </a:lvl7pPr>
            <a:lvl8pPr>
              <a:defRPr sz="1350" b="1">
                <a:solidFill>
                  <a:srgbClr val="C49A2C"/>
                </a:solidFill>
                <a:latin typeface="Arial"/>
                <a:ea typeface="Arial"/>
                <a:cs typeface="Arial"/>
              </a:defRPr>
            </a:lvl8pPr>
            <a:lvl9pPr>
              <a:defRPr sz="1350" b="1">
                <a:solidFill>
                  <a:srgbClr val="C49A2C"/>
                </a:solidFill>
                <a:latin typeface="Arial"/>
                <a:ea typeface="Arial"/>
                <a:cs typeface="Arial"/>
              </a:defRPr>
            </a:lvl9pPr>
          </a:lstStyle>
          <a:p xmlns:a="http://schemas.openxmlformats.org/drawingml/2006/main">
            <a:pPr>
              <a:defRPr sz="1350" b="1">
                <a:solidFill>
                  <a:srgbClr val="C49A2C"/>
                </a:solidFill>
                <a:latin typeface="Arial"/>
                <a:ea typeface="Arial"/>
                <a:cs typeface="Arial"/>
              </a:defRPr>
            </a:pPr>
            <a:r>
              <a:rPr sz="1350" b="1">
                <a:solidFill>
                  <a:srgbClr val="C49A2C"/>
                </a:solidFill>
                <a:latin typeface="Arial"/>
                <a:ea typeface="Arial"/>
                <a:cs typeface="Arial"/>
              </a:rPr>
              <a:t>Third overall</a:t>
            </a:r>
          </a:p>
        </p:txBody>
      </p:sp>
      <p:sp>
        <p:nvSpPr>
          <p:cNvPr id="10" name="">
            <a:extLst xmlns:a="http://schemas.openxmlformats.org/drawingml/2006/main">
              <a:ext uri="{FF2B5EF4-FFF2-40B4-BE49-F238E27FC236}">
                <a16:creationId xmlns:a16="http://schemas.microsoft.com/office/drawing/2014/main" id="{3097B110-CC9A-46F9-801C-CC8936749FAD}"/>
              </a:ext>
            </a:extLst>
          </p:cNvPr>
          <p:cNvSpPr>
            <a:spLocks xmlns:a="http://schemas.openxmlformats.org/drawingml/2006/main" noGrp="1"/>
          </p:cNvSpPr>
          <p:nvPr/>
        </p:nvSpPr>
        <p:spPr>
          <a:xfrm xmlns:a="http://schemas.openxmlformats.org/drawingml/2006/main">
            <a:off x="6238875" y="3190875"/>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1">
                <a:solidFill>
                  <a:srgbClr val="233342"/>
                </a:solidFill>
                <a:latin typeface="Arial"/>
                <a:ea typeface="Arial"/>
                <a:cs typeface="Arial"/>
              </a:defRPr>
            </a:defPPr>
            <a:lvl1pPr>
              <a:defRPr sz="2250" b="1">
                <a:solidFill>
                  <a:srgbClr val="233342"/>
                </a:solidFill>
                <a:latin typeface="Arial"/>
                <a:ea typeface="Arial"/>
                <a:cs typeface="Arial"/>
              </a:defRPr>
            </a:lvl1pPr>
            <a:lvl2pPr>
              <a:defRPr sz="2250" b="1">
                <a:solidFill>
                  <a:srgbClr val="233342"/>
                </a:solidFill>
                <a:latin typeface="Arial"/>
                <a:ea typeface="Arial"/>
                <a:cs typeface="Arial"/>
              </a:defRPr>
            </a:lvl2pPr>
            <a:lvl3pPr>
              <a:defRPr sz="2250" b="1">
                <a:solidFill>
                  <a:srgbClr val="233342"/>
                </a:solidFill>
                <a:latin typeface="Arial"/>
                <a:ea typeface="Arial"/>
                <a:cs typeface="Arial"/>
              </a:defRPr>
            </a:lvl3pPr>
            <a:lvl4pPr>
              <a:defRPr sz="2250" b="1">
                <a:solidFill>
                  <a:srgbClr val="233342"/>
                </a:solidFill>
                <a:latin typeface="Arial"/>
                <a:ea typeface="Arial"/>
                <a:cs typeface="Arial"/>
              </a:defRPr>
            </a:lvl4pPr>
            <a:lvl5pPr>
              <a:defRPr sz="2250" b="1">
                <a:solidFill>
                  <a:srgbClr val="233342"/>
                </a:solidFill>
                <a:latin typeface="Arial"/>
                <a:ea typeface="Arial"/>
                <a:cs typeface="Arial"/>
              </a:defRPr>
            </a:lvl5pPr>
            <a:lvl6pPr>
              <a:defRPr sz="2250" b="1">
                <a:solidFill>
                  <a:srgbClr val="233342"/>
                </a:solidFill>
                <a:latin typeface="Arial"/>
                <a:ea typeface="Arial"/>
                <a:cs typeface="Arial"/>
              </a:defRPr>
            </a:lvl6pPr>
            <a:lvl7pPr>
              <a:defRPr sz="2250" b="1">
                <a:solidFill>
                  <a:srgbClr val="233342"/>
                </a:solidFill>
                <a:latin typeface="Arial"/>
                <a:ea typeface="Arial"/>
                <a:cs typeface="Arial"/>
              </a:defRPr>
            </a:lvl7pPr>
            <a:lvl8pPr>
              <a:defRPr sz="2250" b="1">
                <a:solidFill>
                  <a:srgbClr val="233342"/>
                </a:solidFill>
                <a:latin typeface="Arial"/>
                <a:ea typeface="Arial"/>
                <a:cs typeface="Arial"/>
              </a:defRPr>
            </a:lvl8pPr>
            <a:lvl9pPr>
              <a:defRPr sz="2250" b="1">
                <a:solidFill>
                  <a:srgbClr val="233342"/>
                </a:solidFill>
                <a:latin typeface="Arial"/>
                <a:ea typeface="Arial"/>
                <a:cs typeface="Arial"/>
              </a:defRPr>
            </a:lvl9pPr>
          </a:lstStyle>
          <a:p xmlns:a="http://schemas.openxmlformats.org/drawingml/2006/main">
            <a:pPr>
              <a:defRPr sz="2250" b="1">
                <a:solidFill>
                  <a:srgbClr val="233342"/>
                </a:solidFill>
                <a:latin typeface="Arial"/>
                <a:ea typeface="Arial"/>
                <a:cs typeface="Arial"/>
              </a:defRPr>
            </a:pPr>
            <a:r>
              <a:rPr sz="2250" b="1">
                <a:solidFill>
                  <a:srgbClr val="233342"/>
                </a:solidFill>
                <a:latin typeface="Arial"/>
                <a:ea typeface="Arial"/>
                <a:cs typeface="Arial"/>
              </a:rPr>
              <a:t>Decoder-only</a:t>
            </a:r>
          </a:p>
        </p:txBody>
      </p:sp>
      <p:sp>
        <p:nvSpPr>
          <p:cNvPr id="11" name="">
            <a:extLst xmlns:a="http://schemas.openxmlformats.org/drawingml/2006/main">
              <a:ext uri="{FF2B5EF4-FFF2-40B4-BE49-F238E27FC236}">
                <a16:creationId xmlns:a16="http://schemas.microsoft.com/office/drawing/2014/main" id="{31F7B7AE-EEAE-4A08-AE39-96434A1FEA22}"/>
              </a:ext>
            </a:extLst>
          </p:cNvPr>
          <p:cNvSpPr>
            <a:spLocks xmlns:a="http://schemas.openxmlformats.org/drawingml/2006/main" noGrp="1"/>
          </p:cNvSpPr>
          <p:nvPr/>
        </p:nvSpPr>
        <p:spPr>
          <a:xfrm xmlns:a="http://schemas.openxmlformats.org/drawingml/2006/main">
            <a:off x="685800" y="381000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D98B13-5BF6-45A3-996A-5A895498BE92}"/>
              </a:ext>
            </a:extLst>
          </p:cNvPr>
          <p:cNvSpPr>
            <a:spLocks xmlns:a="http://schemas.openxmlformats.org/drawingml/2006/main" noGrp="1"/>
          </p:cNvSpPr>
          <p:nvPr/>
        </p:nvSpPr>
        <p:spPr>
          <a:xfrm xmlns:a="http://schemas.openxmlformats.org/drawingml/2006/main">
            <a:off x="685800" y="40576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Score spread by track</a:t>
            </a:r>
          </a:p>
        </p:txBody>
      </p:sp>
      <p:graphicFrame>
        <p:nvGraphicFramePr>
          <p:cNvPr id="13" name="Chart">
            <a:extLst xmlns:a="http://schemas.openxmlformats.org/drawingml/2006/main">
              <a:ext uri="{FF2B5EF4-FFF2-40B4-BE49-F238E27FC236}">
                <a16:creationId xmlns:a16="http://schemas.microsoft.com/office/drawing/2014/main" id="{212D5C89-2732-419A-A584-4AAC29C811BC}"/>
              </a:ext>
            </a:extLst>
          </p:cNvPr>
          <p:cNvGraphicFramePr/>
          <p:nvPr/>
        </p:nvGraphicFramePr>
        <p:xfrm>
          <a:off xmlns:a="http://schemas.openxmlformats.org/drawingml/2006/main" x="476250" y="4410075"/>
          <a:ext xmlns:a="http://schemas.openxmlformats.org/drawingml/2006/main" cx="8191500" cy="1809750"/>
        </p:xfrm>
        <a:graphic xmlns:a="http://schemas.openxmlformats.org/drawingml/2006/main">
          <a:graphicData uri="http://schemas.openxmlformats.org/drawingml/2006/chart">
            <c:chart xmlns:r="http://schemas.openxmlformats.org/officeDocument/2006/relationships" xmlns:c="http://schemas.openxmlformats.org/drawingml/2006/chart" r:id="Rced63e3f1621485a"/>
          </a:graphicData>
        </a:graphic>
      </p:graphicFrame>
      <p:sp>
        <p:nvSpPr>
          <p:cNvPr id="14" name="">
            <a:extLst xmlns:a="http://schemas.openxmlformats.org/drawingml/2006/main">
              <a:ext uri="{FF2B5EF4-FFF2-40B4-BE49-F238E27FC236}">
                <a16:creationId xmlns:a16="http://schemas.microsoft.com/office/drawing/2014/main" id="{5AB6A572-942A-4DB7-864D-54D31BB00498}"/>
              </a:ext>
            </a:extLst>
          </p:cNvPr>
          <p:cNvSpPr>
            <a:spLocks xmlns:a="http://schemas.openxmlformats.org/drawingml/2006/main" noGrp="1"/>
          </p:cNvSpPr>
          <p:nvPr/>
        </p:nvSpPr>
        <p:spPr>
          <a:xfrm xmlns:a="http://schemas.openxmlformats.org/drawingml/2006/main">
            <a:off x="9039225" y="4524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xmlns:a="http://schemas.openxmlformats.org/drawingml/2006/main">
            <a:pPr>
              <a:defRPr sz="1125" b="1">
                <a:solidFill>
                  <a:srgbClr val="C49A2C"/>
                </a:solidFill>
                <a:latin typeface="Arial"/>
                <a:ea typeface="Arial"/>
                <a:cs typeface="Arial"/>
              </a:defRPr>
            </a:pPr>
            <a:r>
              <a:rPr sz="1125" b="1">
                <a:solidFill>
                  <a:srgbClr val="C49A2C"/>
                </a:solidFill>
                <a:latin typeface="Arial"/>
                <a:ea typeface="Arial"/>
                <a:cs typeface="Arial"/>
              </a:rPr>
              <a:t>Equal track weighting</a:t>
            </a:r>
          </a:p>
        </p:txBody>
      </p:sp>
      <p:sp>
        <p:nvSpPr>
          <p:cNvPr id="15" name="">
            <a:extLst xmlns:a="http://schemas.openxmlformats.org/drawingml/2006/main">
              <a:ext uri="{FF2B5EF4-FFF2-40B4-BE49-F238E27FC236}">
                <a16:creationId xmlns:a16="http://schemas.microsoft.com/office/drawing/2014/main" id="{A21CD734-D364-48A4-9F85-0B132CD6170C}"/>
              </a:ext>
            </a:extLst>
          </p:cNvPr>
          <p:cNvSpPr>
            <a:spLocks xmlns:a="http://schemas.openxmlformats.org/drawingml/2006/main" noGrp="1"/>
          </p:cNvSpPr>
          <p:nvPr/>
        </p:nvSpPr>
        <p:spPr>
          <a:xfrm xmlns:a="http://schemas.openxmlformats.org/drawingml/2006/main">
            <a:off x="9039225" y="48387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2025" b="1">
                <a:solidFill>
                  <a:srgbClr val="9E1B32"/>
                </a:solidFill>
                <a:latin typeface="Arial"/>
                <a:ea typeface="Arial"/>
                <a:cs typeface="Arial"/>
              </a:defRPr>
            </a:defPPr>
            <a:lvl1pPr>
              <a:defRPr sz="2025" b="1">
                <a:solidFill>
                  <a:srgbClr val="9E1B32"/>
                </a:solidFill>
                <a:latin typeface="Arial"/>
                <a:ea typeface="Arial"/>
                <a:cs typeface="Arial"/>
              </a:defRPr>
            </a:lvl1pPr>
            <a:lvl2pPr>
              <a:defRPr sz="2025" b="1">
                <a:solidFill>
                  <a:srgbClr val="9E1B32"/>
                </a:solidFill>
                <a:latin typeface="Arial"/>
                <a:ea typeface="Arial"/>
                <a:cs typeface="Arial"/>
              </a:defRPr>
            </a:lvl2pPr>
            <a:lvl3pPr>
              <a:defRPr sz="2025" b="1">
                <a:solidFill>
                  <a:srgbClr val="9E1B32"/>
                </a:solidFill>
                <a:latin typeface="Arial"/>
                <a:ea typeface="Arial"/>
                <a:cs typeface="Arial"/>
              </a:defRPr>
            </a:lvl3pPr>
            <a:lvl4pPr>
              <a:defRPr sz="2025" b="1">
                <a:solidFill>
                  <a:srgbClr val="9E1B32"/>
                </a:solidFill>
                <a:latin typeface="Arial"/>
                <a:ea typeface="Arial"/>
                <a:cs typeface="Arial"/>
              </a:defRPr>
            </a:lvl4pPr>
            <a:lvl5pPr>
              <a:defRPr sz="2025" b="1">
                <a:solidFill>
                  <a:srgbClr val="9E1B32"/>
                </a:solidFill>
                <a:latin typeface="Arial"/>
                <a:ea typeface="Arial"/>
                <a:cs typeface="Arial"/>
              </a:defRPr>
            </a:lvl5pPr>
            <a:lvl6pPr>
              <a:defRPr sz="2025" b="1">
                <a:solidFill>
                  <a:srgbClr val="9E1B32"/>
                </a:solidFill>
                <a:latin typeface="Arial"/>
                <a:ea typeface="Arial"/>
                <a:cs typeface="Arial"/>
              </a:defRPr>
            </a:lvl6pPr>
            <a:lvl7pPr>
              <a:defRPr sz="2025" b="1">
                <a:solidFill>
                  <a:srgbClr val="9E1B32"/>
                </a:solidFill>
                <a:latin typeface="Arial"/>
                <a:ea typeface="Arial"/>
                <a:cs typeface="Arial"/>
              </a:defRPr>
            </a:lvl7pPr>
            <a:lvl8pPr>
              <a:defRPr sz="2025" b="1">
                <a:solidFill>
                  <a:srgbClr val="9E1B32"/>
                </a:solidFill>
                <a:latin typeface="Arial"/>
                <a:ea typeface="Arial"/>
                <a:cs typeface="Arial"/>
              </a:defRPr>
            </a:lvl8pPr>
            <a:lvl9pPr>
              <a:defRPr sz="2025" b="1">
                <a:solidFill>
                  <a:srgbClr val="9E1B32"/>
                </a:solidFill>
                <a:latin typeface="Arial"/>
                <a:ea typeface="Arial"/>
                <a:cs typeface="Arial"/>
              </a:defRPr>
            </a:lvl9pPr>
          </a:lstStyle>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Hanzi strongly</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separated the</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final ranking</a:t>
            </a:r>
          </a:p>
        </p:txBody>
      </p:sp>
      <p:sp>
        <p:nvSpPr>
          <p:cNvPr id="16" name="slide-6-footer-label">
            <a:extLst xmlns:a="http://schemas.openxmlformats.org/drawingml/2006/main">
              <a:ext uri="{FF2B5EF4-FFF2-40B4-BE49-F238E27FC236}">
                <a16:creationId xmlns:a16="http://schemas.microsoft.com/office/drawing/2014/main" id="{4FF2B7BA-0329-4FD7-A03C-6A8ABBCB5C0A}"/>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7" name="slide-6-footer-number">
            <a:extLst xmlns:a="http://schemas.openxmlformats.org/drawingml/2006/main">
              <a:ext uri="{FF2B5EF4-FFF2-40B4-BE49-F238E27FC236}">
                <a16:creationId xmlns:a16="http://schemas.microsoft.com/office/drawing/2014/main" id="{69523721-3819-43E9-A548-3316CE02345E}"/>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06</a:t>
            </a:r>
          </a:p>
        </p:txBody>
      </p:sp>
    </p:spTree>
    <p:extLst>
      <p:ext uri="{BB962C8B-B14F-4D97-AF65-F5344CB8AC3E}">
        <p14:creationId xmlns:p14="http://schemas.microsoft.com/office/powerpoint/2010/main" val="8522006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7-title">
            <a:extLst xmlns:a="http://schemas.openxmlformats.org/drawingml/2006/main">
              <a:ext uri="{FF2B5EF4-FFF2-40B4-BE49-F238E27FC236}">
                <a16:creationId xmlns:a16="http://schemas.microsoft.com/office/drawing/2014/main" id="{94EDFAEC-C4DC-49AD-A5FD-566C80104C01}"/>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xmlns:a="http://schemas.openxmlformats.org/drawingml/2006/main">
            <a:pPr>
              <a:defRPr sz="3150" b="1">
                <a:solidFill>
                  <a:srgbClr val="20242A"/>
                </a:solidFill>
                <a:latin typeface="Arial"/>
                <a:ea typeface="Arial"/>
                <a:cs typeface="Arial"/>
              </a:defRPr>
            </a:pPr>
            <a:r>
              <a:rPr sz="3150" b="1">
                <a:solidFill>
                  <a:srgbClr val="20242A"/>
                </a:solidFill>
                <a:latin typeface="Arial"/>
                <a:ea typeface="Arial"/>
                <a:cs typeface="Arial"/>
              </a:rPr>
              <a:t>Benchmark lessons and next steps</a:t>
            </a:r>
          </a:p>
        </p:txBody>
      </p:sp>
      <p:sp>
        <p:nvSpPr>
          <p:cNvPr id="2" name="slide-7-top-rule">
            <a:extLst xmlns:a="http://schemas.openxmlformats.org/drawingml/2006/main">
              <a:ext uri="{FF2B5EF4-FFF2-40B4-BE49-F238E27FC236}">
                <a16:creationId xmlns:a16="http://schemas.microsoft.com/office/drawing/2014/main" id="{A92F6E60-F1CC-4A67-8D4B-08C2069A29D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9ED909-EF8E-4D50-99AF-813280EFAA17}"/>
              </a:ext>
            </a:extLst>
          </p:cNvPr>
          <p:cNvSpPr>
            <a:spLocks xmlns:a="http://schemas.openxmlformats.org/drawingml/2006/main" noGrp="1"/>
          </p:cNvSpPr>
          <p:nvPr/>
        </p:nvSpPr>
        <p:spPr>
          <a:xfrm xmlns:a="http://schemas.openxmlformats.org/drawingml/2006/main">
            <a:off x="685800" y="149542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defRPr sz="1200" b="1">
                <a:solidFill>
                  <a:srgbClr val="C49A2C"/>
                </a:solidFill>
                <a:latin typeface="Arial"/>
                <a:ea typeface="Arial"/>
                <a:cs typeface="Arial"/>
              </a:defRPr>
            </a:lvl1pPr>
            <a:lvl2pPr>
              <a:defRPr sz="1200" b="1">
                <a:solidFill>
                  <a:srgbClr val="C49A2C"/>
                </a:solidFill>
                <a:latin typeface="Arial"/>
                <a:ea typeface="Arial"/>
                <a:cs typeface="Arial"/>
              </a:defRPr>
            </a:lvl2pPr>
            <a:lvl3pPr>
              <a:defRPr sz="1200" b="1">
                <a:solidFill>
                  <a:srgbClr val="C49A2C"/>
                </a:solidFill>
                <a:latin typeface="Arial"/>
                <a:ea typeface="Arial"/>
                <a:cs typeface="Arial"/>
              </a:defRPr>
            </a:lvl3pPr>
            <a:lvl4pPr>
              <a:defRPr sz="1200" b="1">
                <a:solidFill>
                  <a:srgbClr val="C49A2C"/>
                </a:solidFill>
                <a:latin typeface="Arial"/>
                <a:ea typeface="Arial"/>
                <a:cs typeface="Arial"/>
              </a:defRPr>
            </a:lvl4pPr>
            <a:lvl5pPr>
              <a:defRPr sz="1200" b="1">
                <a:solidFill>
                  <a:srgbClr val="C49A2C"/>
                </a:solidFill>
                <a:latin typeface="Arial"/>
                <a:ea typeface="Arial"/>
                <a:cs typeface="Arial"/>
              </a:defRPr>
            </a:lvl5pPr>
            <a:lvl6pPr>
              <a:defRPr sz="1200" b="1">
                <a:solidFill>
                  <a:srgbClr val="C49A2C"/>
                </a:solidFill>
                <a:latin typeface="Arial"/>
                <a:ea typeface="Arial"/>
                <a:cs typeface="Arial"/>
              </a:defRPr>
            </a:lvl6pPr>
            <a:lvl7pPr>
              <a:defRPr sz="1200" b="1">
                <a:solidFill>
                  <a:srgbClr val="C49A2C"/>
                </a:solidFill>
                <a:latin typeface="Arial"/>
                <a:ea typeface="Arial"/>
                <a:cs typeface="Arial"/>
              </a:defRPr>
            </a:lvl7pPr>
            <a:lvl8pPr>
              <a:defRPr sz="1200" b="1">
                <a:solidFill>
                  <a:srgbClr val="C49A2C"/>
                </a:solidFill>
                <a:latin typeface="Arial"/>
                <a:ea typeface="Arial"/>
                <a:cs typeface="Arial"/>
              </a:defRPr>
            </a:lvl8pPr>
            <a:lvl9pPr>
              <a:defRPr sz="1200" b="1">
                <a:solidFill>
                  <a:srgbClr val="C49A2C"/>
                </a:solidFill>
                <a:latin typeface="Arial"/>
                <a:ea typeface="Arial"/>
                <a:cs typeface="Arial"/>
              </a:defRPr>
            </a:lvl9pPr>
          </a:lstStyle>
          <a:p xmlns:a="http://schemas.openxmlformats.org/drawingml/2006/main">
            <a:pPr>
              <a:defRPr sz="1200" b="1">
                <a:solidFill>
                  <a:srgbClr val="C49A2C"/>
                </a:solidFill>
                <a:latin typeface="Arial"/>
                <a:ea typeface="Arial"/>
                <a:cs typeface="Arial"/>
              </a:defRPr>
            </a:pPr>
            <a:r>
              <a:rPr sz="1200" b="1">
                <a:solidFill>
                  <a:srgbClr val="C49A2C"/>
                </a:solidFill>
                <a:latin typeface="Arial"/>
                <a:ea typeface="Arial"/>
                <a:cs typeface="Arial"/>
              </a:rPr>
              <a:t>RETAIN AND STRENGTHEN</a:t>
            </a:r>
          </a:p>
        </p:txBody>
      </p:sp>
      <p:sp>
        <p:nvSpPr>
          <p:cNvPr id="4" name="">
            <a:extLst xmlns:a="http://schemas.openxmlformats.org/drawingml/2006/main">
              <a:ext uri="{FF2B5EF4-FFF2-40B4-BE49-F238E27FC236}">
                <a16:creationId xmlns:a16="http://schemas.microsoft.com/office/drawing/2014/main" id="{D23C43C3-48D3-4CFB-AC2F-FCA9DFE9732D}"/>
              </a:ext>
            </a:extLst>
          </p:cNvPr>
          <p:cNvSpPr>
            <a:spLocks xmlns:a="http://schemas.openxmlformats.org/drawingml/2006/main" noGrp="1"/>
          </p:cNvSpPr>
          <p:nvPr/>
        </p:nvSpPr>
        <p:spPr>
          <a:xfrm xmlns:a="http://schemas.openxmlformats.org/drawingml/2006/main">
            <a:off x="685800" y="19335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defRPr sz="2175" b="1">
                <a:solidFill>
                  <a:srgbClr val="20242A"/>
                </a:solidFill>
                <a:latin typeface="Arial"/>
                <a:ea typeface="Arial"/>
                <a:cs typeface="Arial"/>
              </a:defRPr>
            </a:lvl1pPr>
            <a:lvl2pPr>
              <a:defRPr sz="2175" b="1">
                <a:solidFill>
                  <a:srgbClr val="20242A"/>
                </a:solidFill>
                <a:latin typeface="Arial"/>
                <a:ea typeface="Arial"/>
                <a:cs typeface="Arial"/>
              </a:defRPr>
            </a:lvl2pPr>
            <a:lvl3pPr>
              <a:defRPr sz="2175" b="1">
                <a:solidFill>
                  <a:srgbClr val="20242A"/>
                </a:solidFill>
                <a:latin typeface="Arial"/>
                <a:ea typeface="Arial"/>
                <a:cs typeface="Arial"/>
              </a:defRPr>
            </a:lvl3pPr>
            <a:lvl4pPr>
              <a:defRPr sz="2175" b="1">
                <a:solidFill>
                  <a:srgbClr val="20242A"/>
                </a:solidFill>
                <a:latin typeface="Arial"/>
                <a:ea typeface="Arial"/>
                <a:cs typeface="Arial"/>
              </a:defRPr>
            </a:lvl4pPr>
            <a:lvl5pPr>
              <a:defRPr sz="2175" b="1">
                <a:solidFill>
                  <a:srgbClr val="20242A"/>
                </a:solidFill>
                <a:latin typeface="Arial"/>
                <a:ea typeface="Arial"/>
                <a:cs typeface="Arial"/>
              </a:defRPr>
            </a:lvl5pPr>
            <a:lvl6pPr>
              <a:defRPr sz="2175" b="1">
                <a:solidFill>
                  <a:srgbClr val="20242A"/>
                </a:solidFill>
                <a:latin typeface="Arial"/>
                <a:ea typeface="Arial"/>
                <a:cs typeface="Arial"/>
              </a:defRPr>
            </a:lvl6pPr>
            <a:lvl7pPr>
              <a:defRPr sz="2175" b="1">
                <a:solidFill>
                  <a:srgbClr val="20242A"/>
                </a:solidFill>
                <a:latin typeface="Arial"/>
                <a:ea typeface="Arial"/>
                <a:cs typeface="Arial"/>
              </a:defRPr>
            </a:lvl7pPr>
            <a:lvl8pPr>
              <a:defRPr sz="2175" b="1">
                <a:solidFill>
                  <a:srgbClr val="20242A"/>
                </a:solidFill>
                <a:latin typeface="Arial"/>
                <a:ea typeface="Arial"/>
                <a:cs typeface="Arial"/>
              </a:defRPr>
            </a:lvl8pPr>
            <a:lvl9pPr>
              <a:defRPr sz="2175" b="1">
                <a:solidFill>
                  <a:srgbClr val="20242A"/>
                </a:solidFill>
                <a:latin typeface="Arial"/>
                <a:ea typeface="Arial"/>
                <a:cs typeface="Arial"/>
              </a:defRPr>
            </a:lvl9pPr>
          </a:lstStyle>
          <a:p xmlns:a="http://schemas.openxmlformats.org/drawingml/2006/main">
            <a:pPr>
              <a:defRPr sz="2175" b="1">
                <a:solidFill>
                  <a:srgbClr val="20242A"/>
                </a:solidFill>
                <a:latin typeface="Arial"/>
                <a:ea typeface="Arial"/>
                <a:cs typeface="Arial"/>
              </a:defRPr>
            </a:pPr>
            <a:r>
              <a:rPr sz="2175" b="1">
                <a:solidFill>
                  <a:srgbClr val="20242A"/>
                </a:solidFill>
                <a:latin typeface="Arial"/>
                <a:ea typeface="Arial"/>
                <a:cs typeface="Arial"/>
              </a:rPr>
              <a:t>High-discrimination tasks</a:t>
            </a:r>
          </a:p>
        </p:txBody>
      </p:sp>
      <p:sp>
        <p:nvSpPr>
          <p:cNvPr id="5" name="">
            <a:extLst xmlns:a="http://schemas.openxmlformats.org/drawingml/2006/main">
              <a:ext uri="{FF2B5EF4-FFF2-40B4-BE49-F238E27FC236}">
                <a16:creationId xmlns:a16="http://schemas.microsoft.com/office/drawing/2014/main" id="{56615312-5DA8-4935-85CA-0854A56C2981}"/>
              </a:ext>
            </a:extLst>
          </p:cNvPr>
          <p:cNvSpPr>
            <a:spLocks xmlns:a="http://schemas.openxmlformats.org/drawingml/2006/main" noGrp="1"/>
          </p:cNvSpPr>
          <p:nvPr/>
        </p:nvSpPr>
        <p:spPr>
          <a:xfrm xmlns:a="http://schemas.openxmlformats.org/drawingml/2006/main">
            <a:off x="685800" y="2524125"/>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defRPr sz="1725">
                <a:solidFill>
                  <a:srgbClr val="686E75"/>
                </a:solidFill>
                <a:latin typeface="Arial"/>
                <a:ea typeface="Arial"/>
                <a:cs typeface="Arial"/>
              </a:defRPr>
            </a:lvl1pPr>
            <a:lvl2pPr>
              <a:defRPr sz="1725">
                <a:solidFill>
                  <a:srgbClr val="686E75"/>
                </a:solidFill>
                <a:latin typeface="Arial"/>
                <a:ea typeface="Arial"/>
                <a:cs typeface="Arial"/>
              </a:defRPr>
            </a:lvl2pPr>
            <a:lvl3pPr>
              <a:defRPr sz="1725">
                <a:solidFill>
                  <a:srgbClr val="686E75"/>
                </a:solidFill>
                <a:latin typeface="Arial"/>
                <a:ea typeface="Arial"/>
                <a:cs typeface="Arial"/>
              </a:defRPr>
            </a:lvl3pPr>
            <a:lvl4pPr>
              <a:defRPr sz="1725">
                <a:solidFill>
                  <a:srgbClr val="686E75"/>
                </a:solidFill>
                <a:latin typeface="Arial"/>
                <a:ea typeface="Arial"/>
                <a:cs typeface="Arial"/>
              </a:defRPr>
            </a:lvl4pPr>
            <a:lvl5pPr>
              <a:defRPr sz="1725">
                <a:solidFill>
                  <a:srgbClr val="686E75"/>
                </a:solidFill>
                <a:latin typeface="Arial"/>
                <a:ea typeface="Arial"/>
                <a:cs typeface="Arial"/>
              </a:defRPr>
            </a:lvl5pPr>
            <a:lvl6pPr>
              <a:defRPr sz="1725">
                <a:solidFill>
                  <a:srgbClr val="686E75"/>
                </a:solidFill>
                <a:latin typeface="Arial"/>
                <a:ea typeface="Arial"/>
                <a:cs typeface="Arial"/>
              </a:defRPr>
            </a:lvl6pPr>
            <a:lvl7pPr>
              <a:defRPr sz="1725">
                <a:solidFill>
                  <a:srgbClr val="686E75"/>
                </a:solidFill>
                <a:latin typeface="Arial"/>
                <a:ea typeface="Arial"/>
                <a:cs typeface="Arial"/>
              </a:defRPr>
            </a:lvl7pPr>
            <a:lvl8pPr>
              <a:defRPr sz="1725">
                <a:solidFill>
                  <a:srgbClr val="686E75"/>
                </a:solidFill>
                <a:latin typeface="Arial"/>
                <a:ea typeface="Arial"/>
                <a:cs typeface="Arial"/>
              </a:defRPr>
            </a:lvl8pPr>
            <a:lvl9pPr>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Keep ZhoBLiMP, NLI, and Hanzi evaluations</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Make saturated pinyin items more difficult</a:t>
            </a:r>
          </a:p>
        </p:txBody>
      </p:sp>
      <p:sp>
        <p:nvSpPr>
          <p:cNvPr id="6" name="">
            <a:extLst xmlns:a="http://schemas.openxmlformats.org/drawingml/2006/main">
              <a:ext uri="{FF2B5EF4-FFF2-40B4-BE49-F238E27FC236}">
                <a16:creationId xmlns:a16="http://schemas.microsoft.com/office/drawing/2014/main" id="{B46F7403-EE3A-40D4-AF6D-EEDD74E1C333}"/>
              </a:ext>
            </a:extLst>
          </p:cNvPr>
          <p:cNvSpPr>
            <a:spLocks xmlns:a="http://schemas.openxmlformats.org/drawingml/2006/main" noGrp="1"/>
          </p:cNvSpPr>
          <p:nvPr/>
        </p:nvSpPr>
        <p:spPr>
          <a:xfrm xmlns:a="http://schemas.openxmlformats.org/drawingml/2006/main">
            <a:off x="6048375" y="1495425"/>
            <a:ext cx="19050" cy="27622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16FC64-8286-48B3-BE4F-B242C3793FEF}"/>
              </a:ext>
            </a:extLst>
          </p:cNvPr>
          <p:cNvSpPr>
            <a:spLocks xmlns:a="http://schemas.openxmlformats.org/drawingml/2006/main" noGrp="1"/>
          </p:cNvSpPr>
          <p:nvPr/>
        </p:nvSpPr>
        <p:spPr>
          <a:xfrm xmlns:a="http://schemas.openxmlformats.org/drawingml/2006/main">
            <a:off x="6477000" y="14954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defRPr sz="1200" b="1">
                <a:solidFill>
                  <a:srgbClr val="C49A2C"/>
                </a:solidFill>
                <a:latin typeface="Arial"/>
                <a:ea typeface="Arial"/>
                <a:cs typeface="Arial"/>
              </a:defRPr>
            </a:lvl1pPr>
            <a:lvl2pPr>
              <a:defRPr sz="1200" b="1">
                <a:solidFill>
                  <a:srgbClr val="C49A2C"/>
                </a:solidFill>
                <a:latin typeface="Arial"/>
                <a:ea typeface="Arial"/>
                <a:cs typeface="Arial"/>
              </a:defRPr>
            </a:lvl2pPr>
            <a:lvl3pPr>
              <a:defRPr sz="1200" b="1">
                <a:solidFill>
                  <a:srgbClr val="C49A2C"/>
                </a:solidFill>
                <a:latin typeface="Arial"/>
                <a:ea typeface="Arial"/>
                <a:cs typeface="Arial"/>
              </a:defRPr>
            </a:lvl3pPr>
            <a:lvl4pPr>
              <a:defRPr sz="1200" b="1">
                <a:solidFill>
                  <a:srgbClr val="C49A2C"/>
                </a:solidFill>
                <a:latin typeface="Arial"/>
                <a:ea typeface="Arial"/>
                <a:cs typeface="Arial"/>
              </a:defRPr>
            </a:lvl4pPr>
            <a:lvl5pPr>
              <a:defRPr sz="1200" b="1">
                <a:solidFill>
                  <a:srgbClr val="C49A2C"/>
                </a:solidFill>
                <a:latin typeface="Arial"/>
                <a:ea typeface="Arial"/>
                <a:cs typeface="Arial"/>
              </a:defRPr>
            </a:lvl5pPr>
            <a:lvl6pPr>
              <a:defRPr sz="1200" b="1">
                <a:solidFill>
                  <a:srgbClr val="C49A2C"/>
                </a:solidFill>
                <a:latin typeface="Arial"/>
                <a:ea typeface="Arial"/>
                <a:cs typeface="Arial"/>
              </a:defRPr>
            </a:lvl6pPr>
            <a:lvl7pPr>
              <a:defRPr sz="1200" b="1">
                <a:solidFill>
                  <a:srgbClr val="C49A2C"/>
                </a:solidFill>
                <a:latin typeface="Arial"/>
                <a:ea typeface="Arial"/>
                <a:cs typeface="Arial"/>
              </a:defRPr>
            </a:lvl7pPr>
            <a:lvl8pPr>
              <a:defRPr sz="1200" b="1">
                <a:solidFill>
                  <a:srgbClr val="C49A2C"/>
                </a:solidFill>
                <a:latin typeface="Arial"/>
                <a:ea typeface="Arial"/>
                <a:cs typeface="Arial"/>
              </a:defRPr>
            </a:lvl8pPr>
            <a:lvl9pPr>
              <a:defRPr sz="1200" b="1">
                <a:solidFill>
                  <a:srgbClr val="C49A2C"/>
                </a:solidFill>
                <a:latin typeface="Arial"/>
                <a:ea typeface="Arial"/>
                <a:cs typeface="Arial"/>
              </a:defRPr>
            </a:lvl9pPr>
          </a:lstStyle>
          <a:p xmlns:a="http://schemas.openxmlformats.org/drawingml/2006/main">
            <a:pPr>
              <a:defRPr sz="1200" b="1">
                <a:solidFill>
                  <a:srgbClr val="C49A2C"/>
                </a:solidFill>
                <a:latin typeface="Arial"/>
                <a:ea typeface="Arial"/>
                <a:cs typeface="Arial"/>
              </a:defRPr>
            </a:pPr>
            <a:r>
              <a:rPr sz="1200" b="1">
                <a:solidFill>
                  <a:srgbClr val="C49A2C"/>
                </a:solidFill>
                <a:latin typeface="Arial"/>
                <a:ea typeface="Arial"/>
                <a:cs typeface="Arial"/>
              </a:rPr>
              <a:t>REVISE AND EXTEND</a:t>
            </a:r>
          </a:p>
        </p:txBody>
      </p:sp>
      <p:sp>
        <p:nvSpPr>
          <p:cNvPr id="8" name="">
            <a:extLst xmlns:a="http://schemas.openxmlformats.org/drawingml/2006/main">
              <a:ext uri="{FF2B5EF4-FFF2-40B4-BE49-F238E27FC236}">
                <a16:creationId xmlns:a16="http://schemas.microsoft.com/office/drawing/2014/main" id="{0D5466D2-BFE5-4950-8081-94E6273AD852}"/>
              </a:ext>
            </a:extLst>
          </p:cNvPr>
          <p:cNvSpPr>
            <a:spLocks xmlns:a="http://schemas.openxmlformats.org/drawingml/2006/main" noGrp="1"/>
          </p:cNvSpPr>
          <p:nvPr/>
        </p:nvSpPr>
        <p:spPr>
          <a:xfrm xmlns:a="http://schemas.openxmlformats.org/drawingml/2006/main">
            <a:off x="6477000" y="19335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defRPr sz="2175" b="1">
                <a:solidFill>
                  <a:srgbClr val="20242A"/>
                </a:solidFill>
                <a:latin typeface="Arial"/>
                <a:ea typeface="Arial"/>
                <a:cs typeface="Arial"/>
              </a:defRPr>
            </a:lvl1pPr>
            <a:lvl2pPr>
              <a:defRPr sz="2175" b="1">
                <a:solidFill>
                  <a:srgbClr val="20242A"/>
                </a:solidFill>
                <a:latin typeface="Arial"/>
                <a:ea typeface="Arial"/>
                <a:cs typeface="Arial"/>
              </a:defRPr>
            </a:lvl2pPr>
            <a:lvl3pPr>
              <a:defRPr sz="2175" b="1">
                <a:solidFill>
                  <a:srgbClr val="20242A"/>
                </a:solidFill>
                <a:latin typeface="Arial"/>
                <a:ea typeface="Arial"/>
                <a:cs typeface="Arial"/>
              </a:defRPr>
            </a:lvl3pPr>
            <a:lvl4pPr>
              <a:defRPr sz="2175" b="1">
                <a:solidFill>
                  <a:srgbClr val="20242A"/>
                </a:solidFill>
                <a:latin typeface="Arial"/>
                <a:ea typeface="Arial"/>
                <a:cs typeface="Arial"/>
              </a:defRPr>
            </a:lvl4pPr>
            <a:lvl5pPr>
              <a:defRPr sz="2175" b="1">
                <a:solidFill>
                  <a:srgbClr val="20242A"/>
                </a:solidFill>
                <a:latin typeface="Arial"/>
                <a:ea typeface="Arial"/>
                <a:cs typeface="Arial"/>
              </a:defRPr>
            </a:lvl5pPr>
            <a:lvl6pPr>
              <a:defRPr sz="2175" b="1">
                <a:solidFill>
                  <a:srgbClr val="20242A"/>
                </a:solidFill>
                <a:latin typeface="Arial"/>
                <a:ea typeface="Arial"/>
                <a:cs typeface="Arial"/>
              </a:defRPr>
            </a:lvl6pPr>
            <a:lvl7pPr>
              <a:defRPr sz="2175" b="1">
                <a:solidFill>
                  <a:srgbClr val="20242A"/>
                </a:solidFill>
                <a:latin typeface="Arial"/>
                <a:ea typeface="Arial"/>
                <a:cs typeface="Arial"/>
              </a:defRPr>
            </a:lvl7pPr>
            <a:lvl8pPr>
              <a:defRPr sz="2175" b="1">
                <a:solidFill>
                  <a:srgbClr val="20242A"/>
                </a:solidFill>
                <a:latin typeface="Arial"/>
                <a:ea typeface="Arial"/>
                <a:cs typeface="Arial"/>
              </a:defRPr>
            </a:lvl8pPr>
            <a:lvl9pPr>
              <a:defRPr sz="2175" b="1">
                <a:solidFill>
                  <a:srgbClr val="20242A"/>
                </a:solidFill>
                <a:latin typeface="Arial"/>
                <a:ea typeface="Arial"/>
                <a:cs typeface="Arial"/>
              </a:defRPr>
            </a:lvl9pPr>
          </a:lstStyle>
          <a:p xmlns:a="http://schemas.openxmlformats.org/drawingml/2006/main">
            <a:pPr>
              <a:defRPr sz="2175" b="1">
                <a:solidFill>
                  <a:srgbClr val="20242A"/>
                </a:solidFill>
                <a:latin typeface="Arial"/>
                <a:ea typeface="Arial"/>
                <a:cs typeface="Arial"/>
              </a:defRPr>
            </a:pPr>
            <a:r>
              <a:rPr sz="2175" b="1">
                <a:solidFill>
                  <a:srgbClr val="20242A"/>
                </a:solidFill>
                <a:latin typeface="Arial"/>
                <a:ea typeface="Arial"/>
                <a:cs typeface="Arial"/>
              </a:rPr>
              <a:t>Compressed or missing signals</a:t>
            </a:r>
          </a:p>
        </p:txBody>
      </p:sp>
      <p:sp>
        <p:nvSpPr>
          <p:cNvPr id="9" name="">
            <a:extLst xmlns:a="http://schemas.openxmlformats.org/drawingml/2006/main">
              <a:ext uri="{FF2B5EF4-FFF2-40B4-BE49-F238E27FC236}">
                <a16:creationId xmlns:a16="http://schemas.microsoft.com/office/drawing/2014/main" id="{47DE2DBF-3465-43EF-A9EF-F15F4D29998A}"/>
              </a:ext>
            </a:extLst>
          </p:cNvPr>
          <p:cNvSpPr>
            <a:spLocks xmlns:a="http://schemas.openxmlformats.org/drawingml/2006/main" noGrp="1"/>
          </p:cNvSpPr>
          <p:nvPr/>
        </p:nvSpPr>
        <p:spPr>
          <a:xfrm xmlns:a="http://schemas.openxmlformats.org/drawingml/2006/main">
            <a:off x="6477000" y="2524125"/>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defRPr sz="1725">
                <a:solidFill>
                  <a:srgbClr val="686E75"/>
                </a:solidFill>
                <a:latin typeface="Arial"/>
                <a:ea typeface="Arial"/>
                <a:cs typeface="Arial"/>
              </a:defRPr>
            </a:lvl1pPr>
            <a:lvl2pPr>
              <a:defRPr sz="1725">
                <a:solidFill>
                  <a:srgbClr val="686E75"/>
                </a:solidFill>
                <a:latin typeface="Arial"/>
                <a:ea typeface="Arial"/>
                <a:cs typeface="Arial"/>
              </a:defRPr>
            </a:lvl2pPr>
            <a:lvl3pPr>
              <a:defRPr sz="1725">
                <a:solidFill>
                  <a:srgbClr val="686E75"/>
                </a:solidFill>
                <a:latin typeface="Arial"/>
                <a:ea typeface="Arial"/>
                <a:cs typeface="Arial"/>
              </a:defRPr>
            </a:lvl3pPr>
            <a:lvl4pPr>
              <a:defRPr sz="1725">
                <a:solidFill>
                  <a:srgbClr val="686E75"/>
                </a:solidFill>
                <a:latin typeface="Arial"/>
                <a:ea typeface="Arial"/>
                <a:cs typeface="Arial"/>
              </a:defRPr>
            </a:lvl4pPr>
            <a:lvl5pPr>
              <a:defRPr sz="1725">
                <a:solidFill>
                  <a:srgbClr val="686E75"/>
                </a:solidFill>
                <a:latin typeface="Arial"/>
                <a:ea typeface="Arial"/>
                <a:cs typeface="Arial"/>
              </a:defRPr>
            </a:lvl5pPr>
            <a:lvl6pPr>
              <a:defRPr sz="1725">
                <a:solidFill>
                  <a:srgbClr val="686E75"/>
                </a:solidFill>
                <a:latin typeface="Arial"/>
                <a:ea typeface="Arial"/>
                <a:cs typeface="Arial"/>
              </a:defRPr>
            </a:lvl6pPr>
            <a:lvl7pPr>
              <a:defRPr sz="1725">
                <a:solidFill>
                  <a:srgbClr val="686E75"/>
                </a:solidFill>
                <a:latin typeface="Arial"/>
                <a:ea typeface="Arial"/>
                <a:cs typeface="Arial"/>
              </a:defRPr>
            </a:lvl7pPr>
            <a:lvl8pPr>
              <a:defRPr sz="1725">
                <a:solidFill>
                  <a:srgbClr val="686E75"/>
                </a:solidFill>
                <a:latin typeface="Arial"/>
                <a:ea typeface="Arial"/>
                <a:cs typeface="Arial"/>
              </a:defRPr>
            </a:lvl8pPr>
            <a:lvl9pPr>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Revisit word fMRI, AFQMC, and CLUEWSC</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Add segmentation, morphology, discourse, and developmental measures</a:t>
            </a:r>
          </a:p>
        </p:txBody>
      </p:sp>
      <p:sp>
        <p:nvSpPr>
          <p:cNvPr id="10" name="closing-research-target">
            <a:extLst xmlns:a="http://schemas.openxmlformats.org/drawingml/2006/main">
              <a:ext uri="{FF2B5EF4-FFF2-40B4-BE49-F238E27FC236}">
                <a16:creationId xmlns:a16="http://schemas.microsoft.com/office/drawing/2014/main" id="{EA6F425F-1EBC-4EAF-84D7-9E61E042D270}"/>
              </a:ext>
            </a:extLst>
          </p:cNvPr>
          <p:cNvSpPr>
            <a:spLocks xmlns:a="http://schemas.openxmlformats.org/drawingml/2006/main" noGrp="1"/>
          </p:cNvSpPr>
          <p:nvPr/>
        </p:nvSpPr>
        <p:spPr>
          <a:xfrm xmlns:a="http://schemas.openxmlformats.org/drawingml/2006/main">
            <a:off x="685800" y="4638675"/>
            <a:ext cx="10820400" cy="13716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B4F2A65-5DA2-464B-86EC-EE146D8EA72E}"/>
              </a:ext>
            </a:extLst>
          </p:cNvPr>
          <p:cNvSpPr>
            <a:spLocks xmlns:a="http://schemas.openxmlformats.org/drawingml/2006/main" noGrp="1"/>
          </p:cNvSpPr>
          <p:nvPr/>
        </p:nvSpPr>
        <p:spPr>
          <a:xfrm xmlns:a="http://schemas.openxmlformats.org/drawingml/2006/main">
            <a:off x="962025" y="4838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xmlns:a="http://schemas.openxmlformats.org/drawingml/2006/main">
            <a:pPr>
              <a:defRPr sz="1125" b="1">
                <a:solidFill>
                  <a:srgbClr val="C49A2C"/>
                </a:solidFill>
                <a:latin typeface="Arial"/>
                <a:ea typeface="Arial"/>
                <a:cs typeface="Arial"/>
              </a:defRPr>
            </a:pPr>
            <a:r>
              <a:rPr sz="1125" b="1">
                <a:solidFill>
                  <a:srgbClr val="C49A2C"/>
                </a:solidFill>
                <a:latin typeface="Arial"/>
                <a:ea typeface="Arial"/>
                <a:cs typeface="Arial"/>
              </a:rPr>
              <a:t>RESEARCH TARGET</a:t>
            </a:r>
          </a:p>
        </p:txBody>
      </p:sp>
      <p:sp>
        <p:nvSpPr>
          <p:cNvPr id="12" name="">
            <a:extLst xmlns:a="http://schemas.openxmlformats.org/drawingml/2006/main">
              <a:ext uri="{FF2B5EF4-FFF2-40B4-BE49-F238E27FC236}">
                <a16:creationId xmlns:a16="http://schemas.microsoft.com/office/drawing/2014/main" id="{4D672E95-0947-4B70-8141-CB6F3C3FA4D3}"/>
              </a:ext>
            </a:extLst>
          </p:cNvPr>
          <p:cNvSpPr>
            <a:spLocks xmlns:a="http://schemas.openxmlformats.org/drawingml/2006/main" noGrp="1"/>
          </p:cNvSpPr>
          <p:nvPr/>
        </p:nvSpPr>
        <p:spPr>
          <a:xfrm xmlns:a="http://schemas.openxmlformats.org/drawingml/2006/main">
            <a:off x="962025" y="5172075"/>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1912"/>
          </a:bodyPr>
          <a:lstStyle xmlns:a="http://schemas.openxmlformats.org/drawingml/2006/main">
            <a:defPPr>
              <a:defRPr sz="2400" b="1">
                <a:solidFill>
                  <a:srgbClr val="9E1B32"/>
                </a:solidFill>
                <a:latin typeface="Arial"/>
                <a:ea typeface="Arial"/>
                <a:cs typeface="Arial"/>
              </a:defRPr>
            </a:defPPr>
            <a:lvl1pPr>
              <a:defRPr sz="2400" b="1">
                <a:solidFill>
                  <a:srgbClr val="9E1B32"/>
                </a:solidFill>
                <a:latin typeface="Arial"/>
                <a:ea typeface="Arial"/>
                <a:cs typeface="Arial"/>
              </a:defRPr>
            </a:lvl1pPr>
            <a:lvl2pPr>
              <a:defRPr sz="2400" b="1">
                <a:solidFill>
                  <a:srgbClr val="9E1B32"/>
                </a:solidFill>
                <a:latin typeface="Arial"/>
                <a:ea typeface="Arial"/>
                <a:cs typeface="Arial"/>
              </a:defRPr>
            </a:lvl2pPr>
            <a:lvl3pPr>
              <a:defRPr sz="2400" b="1">
                <a:solidFill>
                  <a:srgbClr val="9E1B32"/>
                </a:solidFill>
                <a:latin typeface="Arial"/>
                <a:ea typeface="Arial"/>
                <a:cs typeface="Arial"/>
              </a:defRPr>
            </a:lvl3pPr>
            <a:lvl4pPr>
              <a:defRPr sz="2400" b="1">
                <a:solidFill>
                  <a:srgbClr val="9E1B32"/>
                </a:solidFill>
                <a:latin typeface="Arial"/>
                <a:ea typeface="Arial"/>
                <a:cs typeface="Arial"/>
              </a:defRPr>
            </a:lvl4pPr>
            <a:lvl5pPr>
              <a:defRPr sz="2400" b="1">
                <a:solidFill>
                  <a:srgbClr val="9E1B32"/>
                </a:solidFill>
                <a:latin typeface="Arial"/>
                <a:ea typeface="Arial"/>
                <a:cs typeface="Arial"/>
              </a:defRPr>
            </a:lvl5pPr>
            <a:lvl6pPr>
              <a:defRPr sz="2400" b="1">
                <a:solidFill>
                  <a:srgbClr val="9E1B32"/>
                </a:solidFill>
                <a:latin typeface="Arial"/>
                <a:ea typeface="Arial"/>
                <a:cs typeface="Arial"/>
              </a:defRPr>
            </a:lvl6pPr>
            <a:lvl7pPr>
              <a:defRPr sz="2400" b="1">
                <a:solidFill>
                  <a:srgbClr val="9E1B32"/>
                </a:solidFill>
                <a:latin typeface="Arial"/>
                <a:ea typeface="Arial"/>
                <a:cs typeface="Arial"/>
              </a:defRPr>
            </a:lvl7pPr>
            <a:lvl8pPr>
              <a:defRPr sz="2400" b="1">
                <a:solidFill>
                  <a:srgbClr val="9E1B32"/>
                </a:solidFill>
                <a:latin typeface="Arial"/>
                <a:ea typeface="Arial"/>
                <a:cs typeface="Arial"/>
              </a:defRPr>
            </a:lvl8pPr>
            <a:lvl9pPr>
              <a:defRPr sz="2400" b="1">
                <a:solidFill>
                  <a:srgbClr val="9E1B32"/>
                </a:solidFill>
                <a:latin typeface="Arial"/>
                <a:ea typeface="Arial"/>
                <a:cs typeface="Arial"/>
              </a:defRPr>
            </a:lvl9pPr>
          </a:lstStyle>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One limited-data model competitive across NLU,</a:t>
            </a:r>
          </a:p>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Hanzi knowledge, and cognitive alignment</a:t>
            </a:r>
          </a:p>
        </p:txBody>
      </p:sp>
      <p:sp>
        <p:nvSpPr>
          <p:cNvPr id="13" name="slide-7-footer-label">
            <a:extLst xmlns:a="http://schemas.openxmlformats.org/drawingml/2006/main">
              <a:ext uri="{FF2B5EF4-FFF2-40B4-BE49-F238E27FC236}">
                <a16:creationId xmlns:a16="http://schemas.microsoft.com/office/drawing/2014/main" id="{63A2E79A-AF31-4659-BB6A-F9FC6D9EFCA7}"/>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xmlns:a="http://schemas.openxmlformats.org/drawingml/2006/main">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4" name="slide-7-footer-number">
            <a:extLst xmlns:a="http://schemas.openxmlformats.org/drawingml/2006/main">
              <a:ext uri="{FF2B5EF4-FFF2-40B4-BE49-F238E27FC236}">
                <a16:creationId xmlns:a16="http://schemas.microsoft.com/office/drawing/2014/main" id="{492DDDA1-4BFD-4EC7-9E26-AC7921316DD8}"/>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xmlns:a="http://schemas.openxmlformats.org/drawingml/2006/main">
            <a:pPr algn="r">
              <a:defRPr sz="1050" b="1">
                <a:solidFill>
                  <a:srgbClr val="9E1B32"/>
                </a:solidFill>
                <a:latin typeface="Arial"/>
                <a:ea typeface="Arial"/>
                <a:cs typeface="Arial"/>
              </a:defRPr>
            </a:pPr>
            <a:r>
              <a:rPr sz="1050" b="1">
                <a:solidFill>
                  <a:srgbClr val="9E1B32"/>
                </a:solidFill>
                <a:latin typeface="Arial"/>
                <a:ea typeface="Arial"/>
                <a:cs typeface="Arial"/>
              </a:rPr>
              <a:t>07</a:t>
            </a:r>
          </a:p>
        </p:txBody>
      </p:sp>
    </p:spTree>
    <p:extLst>
      <p:ext uri="{BB962C8B-B14F-4D97-AF65-F5344CB8AC3E}">
        <p14:creationId xmlns:p14="http://schemas.microsoft.com/office/powerpoint/2010/main" val="1637694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2026-10-27T17:05:08.4120000Z</dcterms:created>
  <dcterms:modified xsi:type="dcterms:W3CDTF">2026-10-27T17:05:08.4120000Z</dcterms:modified>
</coreProperties>
</file>