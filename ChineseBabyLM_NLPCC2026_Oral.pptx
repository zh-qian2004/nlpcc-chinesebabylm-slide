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59" r:id="rId5"/>
    <p:sldId id="267" r:id="rId6"/>
    <p:sldId id="268" r:id="rId7"/>
    <p:sldId id="258" r:id="rId8"/>
    <p:sldId id="260" r:id="rId9"/>
    <p:sldId id="269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182B"/>
    <a:srgbClr val="A23449"/>
    <a:srgbClr val="B43C50"/>
    <a:srgbClr val="B43A50"/>
    <a:srgbClr val="EED2D7"/>
    <a:srgbClr val="9E1B32"/>
    <a:srgbClr val="20242A"/>
    <a:srgbClr val="C49A2C"/>
    <a:srgbClr val="8947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6" autoAdjust="0"/>
    <p:restoredTop sz="69376" autoAdjust="0"/>
  </p:normalViewPr>
  <p:slideViewPr>
    <p:cSldViewPr snapToGrid="0">
      <p:cViewPr varScale="1">
        <p:scale>
          <a:sx n="79" d="100"/>
          <a:sy n="79" d="100"/>
        </p:scale>
        <p:origin x="912" y="78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Ranked systems</c:v>
          </c:tx>
          <c:spPr>
            <a:solidFill>
              <a:srgbClr val="9E1B32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9E1B32"/>
              </a:solidFill>
            </c:spPr>
            <c:extLst>
              <c:ext xmlns:c16="http://schemas.microsoft.com/office/drawing/2014/chart" uri="{C3380CC4-5D6E-409C-BE32-E72D297353CC}">
                <c16:uniqueId val="{00000001-0648-47E9-8D59-3F2F30B90475}"/>
              </c:ext>
            </c:extLst>
          </c:dPt>
          <c:dPt>
            <c:idx val="1"/>
            <c:invertIfNegative val="0"/>
            <c:bubble3D val="0"/>
            <c:spPr>
              <a:solidFill>
                <a:srgbClr val="C49A2C"/>
              </a:solidFill>
            </c:spPr>
            <c:extLst>
              <c:ext xmlns:c16="http://schemas.microsoft.com/office/drawing/2014/chart" uri="{C3380CC4-5D6E-409C-BE32-E72D297353CC}">
                <c16:uniqueId val="{00000003-0648-47E9-8D59-3F2F30B90475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20242A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Encoder-only</c:v>
                </c:pt>
                <c:pt idx="1">
                  <c:v>Decoder-only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13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648-47E9-8D59-3F2F30B904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9D7D2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7D2"/>
            </a:solidFill>
            <a:prstDash val="solid"/>
          </a:ln>
        </c:spPr>
        <c:txPr>
          <a:bodyPr anchorCtr="1"/>
          <a:lstStyle/>
          <a:p>
            <a:pPr>
              <a:defRPr sz="11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Ranked systems</c:v>
          </c:tx>
          <c:spPr>
            <a:solidFill>
              <a:srgbClr val="233342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9E1B32"/>
              </a:solidFill>
            </c:spPr>
            <c:extLst>
              <c:ext xmlns:c16="http://schemas.microsoft.com/office/drawing/2014/chart" uri="{C3380CC4-5D6E-409C-BE32-E72D297353CC}">
                <c16:uniqueId val="{00000001-31CD-401A-82E1-8F6F89B7DACC}"/>
              </c:ext>
            </c:extLst>
          </c:dPt>
          <c:dPt>
            <c:idx val="4"/>
            <c:invertIfNegative val="0"/>
            <c:bubble3D val="0"/>
            <c:spPr>
              <a:solidFill>
                <a:srgbClr val="C49A2C"/>
              </a:solidFill>
            </c:spPr>
            <c:extLst>
              <c:ext xmlns:c16="http://schemas.microsoft.com/office/drawing/2014/chart" uri="{C3380CC4-5D6E-409C-BE32-E72D297353CC}">
                <c16:uniqueId val="{00000003-31CD-401A-82E1-8F6F89B7DAC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20242A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&lt;20M</c:v>
                </c:pt>
                <c:pt idx="1">
                  <c:v>20–50M</c:v>
                </c:pt>
                <c:pt idx="2">
                  <c:v>50–100M</c:v>
                </c:pt>
                <c:pt idx="3">
                  <c:v>100–150M</c:v>
                </c:pt>
                <c:pt idx="4">
                  <c:v>&gt;150M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CD-401A-82E1-8F6F89B7DA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9D7D2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7D2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Population variance</c:v>
          </c:tx>
          <c:spPr>
            <a:solidFill>
              <a:srgbClr val="9E1B32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233342"/>
              </a:solidFill>
            </c:spPr>
            <c:extLst>
              <c:ext xmlns:c16="http://schemas.microsoft.com/office/drawing/2014/chart" uri="{C3380CC4-5D6E-409C-BE32-E72D297353CC}">
                <c16:uniqueId val="{00000001-A03D-4993-A7EC-4C7C2E6F5DCB}"/>
              </c:ext>
            </c:extLst>
          </c:dPt>
          <c:dPt>
            <c:idx val="1"/>
            <c:invertIfNegative val="0"/>
            <c:bubble3D val="0"/>
            <c:spPr>
              <a:solidFill>
                <a:srgbClr val="C49A2C"/>
              </a:solidFill>
            </c:spPr>
            <c:extLst>
              <c:ext xmlns:c16="http://schemas.microsoft.com/office/drawing/2014/chart" uri="{C3380CC4-5D6E-409C-BE32-E72D297353CC}">
                <c16:uniqueId val="{00000003-A03D-4993-A7EC-4C7C2E6F5DCB}"/>
              </c:ext>
            </c:extLst>
          </c:dPt>
          <c:dPt>
            <c:idx val="2"/>
            <c:invertIfNegative val="0"/>
            <c:bubble3D val="0"/>
            <c:spPr>
              <a:solidFill>
                <a:srgbClr val="9E1B32"/>
              </a:solidFill>
            </c:spPr>
            <c:extLst>
              <c:ext xmlns:c16="http://schemas.microsoft.com/office/drawing/2014/chart" uri="{C3380CC4-5D6E-409C-BE32-E72D297353CC}">
                <c16:uniqueId val="{00000005-A03D-4993-A7EC-4C7C2E6F5DC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20242A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NLU</c:v>
                </c:pt>
                <c:pt idx="1">
                  <c:v>Cognitive</c:v>
                </c:pt>
                <c:pt idx="2">
                  <c:v>Hanzi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19.809999999999999</c:v>
                </c:pt>
                <c:pt idx="1">
                  <c:v>0.95</c:v>
                </c:pt>
                <c:pt idx="2">
                  <c:v>390.24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03D-4993-A7EC-4C7C2E6F5D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9D7D2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1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buNone/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/>
              <a:t>I am Zhiheng Qian. I am here to present the first ChineseBabyLM Challenge on behalf of the shared task organisers.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first </a:t>
            </a:r>
            <a:r>
              <a:rPr lang="en-US" altLang="zh-CN" dirty="0" err="1"/>
              <a:t>ChineseBabyLM</a:t>
            </a:r>
            <a:r>
              <a:rPr lang="en-US" altLang="zh-CN" dirty="0"/>
              <a:t> Challenge aims at </a:t>
            </a:r>
            <a:r>
              <a:rPr lang="en-US" altLang="zh-CN" sz="1200" dirty="0">
                <a:solidFill>
                  <a:srgbClr val="233342"/>
                </a:solidFill>
                <a:latin typeface="Arial"/>
                <a:cs typeface="Arial"/>
              </a:rPr>
              <a:t>t</a:t>
            </a:r>
            <a:r>
              <a:rPr lang="en-US" altLang="zh-CN" sz="1200" dirty="0">
                <a:solidFill>
                  <a:srgbClr val="233342"/>
                </a:solidFill>
                <a:latin typeface="Arial"/>
                <a:ea typeface="Arial"/>
                <a:cs typeface="Arial"/>
              </a:rPr>
              <a:t>raining data-efficient and cognitively plausible language models for Chinese language. Specifically, we ask, </a:t>
            </a:r>
            <a:r>
              <a:rPr lang="en-US" altLang="zh-CN" sz="12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How well can models learn Chinese with no more than 102M words?</a:t>
            </a:r>
            <a:endParaRPr lang="en-US" altLang="zh-CN" sz="1200" dirty="0">
              <a:solidFill>
                <a:srgbClr val="233342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rgbClr val="233342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233342"/>
                </a:solidFill>
                <a:latin typeface="Arial"/>
                <a:ea typeface="Arial"/>
                <a:cs typeface="Arial"/>
              </a:rPr>
              <a:t>Our shared task follows </a:t>
            </a:r>
            <a:r>
              <a:rPr lang="en-US" altLang="zh-CN" sz="1200" dirty="0" err="1">
                <a:solidFill>
                  <a:srgbClr val="233342"/>
                </a:solidFill>
                <a:latin typeface="Arial"/>
                <a:ea typeface="Arial"/>
                <a:cs typeface="Arial"/>
              </a:rPr>
              <a:t>BabyLM</a:t>
            </a:r>
            <a:r>
              <a:rPr lang="en-US" altLang="zh-CN" sz="1200" dirty="0">
                <a:solidFill>
                  <a:srgbClr val="233342"/>
                </a:solidFill>
                <a:latin typeface="Arial"/>
                <a:ea typeface="Arial"/>
                <a:cs typeface="Arial"/>
              </a:rPr>
              <a:t> challenge. </a:t>
            </a:r>
            <a:r>
              <a:rPr lang="en-US" altLang="zh-CN" sz="1200" dirty="0" err="1">
                <a:solidFill>
                  <a:srgbClr val="233342"/>
                </a:solidFill>
                <a:latin typeface="Arial"/>
                <a:ea typeface="Arial"/>
                <a:cs typeface="Arial"/>
              </a:rPr>
              <a:t>BabyLM</a:t>
            </a:r>
            <a:r>
              <a:rPr lang="en-US" altLang="zh-CN" sz="1200" dirty="0">
                <a:solidFill>
                  <a:srgbClr val="233342"/>
                </a:solidFill>
                <a:latin typeface="Arial"/>
                <a:ea typeface="Arial"/>
                <a:cs typeface="Arial"/>
              </a:rPr>
              <a:t> </a:t>
            </a:r>
            <a:r>
              <a:rPr dirty="0"/>
              <a:t>studies sample-efficient pretraining </a:t>
            </a:r>
            <a:r>
              <a:rPr lang="en-US" dirty="0"/>
              <a:t>with limited data, which is</a:t>
            </a:r>
            <a:r>
              <a:rPr dirty="0"/>
              <a:t> inspired by human language acquisition, but previous shared tasks focused mainly on English. </a:t>
            </a:r>
            <a:endParaRPr lang="en-US" dirty="0"/>
          </a:p>
          <a:p>
            <a:endParaRPr lang="en-US" dirty="0"/>
          </a:p>
          <a:p>
            <a:r>
              <a:rPr lang="en-US" altLang="zh-CN" dirty="0"/>
              <a:t>Chinese language has some specific linguistic feature, making it differ from English. For example, it lacks explicit word boundaries, making extensive use </a:t>
            </a:r>
            <a:r>
              <a:rPr lang="en-US" altLang="zh-CN"/>
              <a:t>of compounding, and using </a:t>
            </a:r>
            <a:r>
              <a:rPr lang="en-US" altLang="zh-CN" dirty="0"/>
              <a:t>a logographic writing system in which characters carry visual, structural, and phonological regularities.</a:t>
            </a:r>
          </a:p>
          <a:p>
            <a:endParaRPr lang="en-US" altLang="zh-CN" dirty="0"/>
          </a:p>
          <a:p>
            <a:r>
              <a:rPr lang="en-US" altLang="zh-CN" dirty="0"/>
              <a:t>To address these language-specific challenges, we organized the first </a:t>
            </a:r>
            <a:r>
              <a:rPr lang="en-US" altLang="zh-CN" dirty="0" err="1"/>
              <a:t>ChineseBabyLM</a:t>
            </a:r>
            <a:r>
              <a:rPr lang="en-US" altLang="zh-CN" dirty="0"/>
              <a:t> challenge, a shared task with controlled training data and evaluation across multiple tracks.</a:t>
            </a:r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Our challenge </a:t>
            </a:r>
            <a:r>
              <a:rPr lang="zh-CN" altLang="zh-CN" dirty="0"/>
              <a:t>evaluates models along three complementary tracks. 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</a:t>
            </a:r>
            <a:r>
              <a:rPr lang="zh-CN" altLang="zh-CN" dirty="0"/>
              <a:t>he </a:t>
            </a:r>
            <a:r>
              <a:rPr lang="zh-CN" altLang="zh-CN" b="1" dirty="0"/>
              <a:t>NLU track</a:t>
            </a:r>
            <a:r>
              <a:rPr lang="zh-CN" altLang="zh-CN" dirty="0"/>
              <a:t> measures Chinese syntactic and semantic understanding.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/>
              <a:t>The </a:t>
            </a:r>
            <a:r>
              <a:rPr lang="zh-CN" altLang="zh-CN" b="1" dirty="0"/>
              <a:t>Cognitive Modeling track</a:t>
            </a:r>
            <a:r>
              <a:rPr lang="zh-CN" altLang="zh-CN" dirty="0"/>
              <a:t> asks whether model representations resemble human language representations in the brain. 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</a:t>
            </a:r>
            <a:r>
              <a:rPr lang="zh-CN" altLang="zh-CN" dirty="0"/>
              <a:t>he </a:t>
            </a:r>
            <a:r>
              <a:rPr lang="zh-CN" altLang="zh-CN" b="1" dirty="0"/>
              <a:t>Hanzi track</a:t>
            </a:r>
            <a:r>
              <a:rPr lang="zh-CN" altLang="zh-CN" dirty="0"/>
              <a:t> focuses on knowledge specific to the Chinese writing system. 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challenge consists of open released during development, and hidden tasks released after the model submission deadline. The submitted models will be evaluated on both open and hidden tasks.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7558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</a:t>
            </a:r>
            <a:r>
              <a:rPr lang="en-US" altLang="zh-CN" b="1" dirty="0"/>
              <a:t>NLU track</a:t>
            </a:r>
            <a:r>
              <a:rPr lang="en-US" altLang="zh-CN" dirty="0"/>
              <a:t> consists of zero-shot tasks and supervised fine-tuning tasks.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open zero-shot tasks is </a:t>
            </a:r>
            <a:r>
              <a:rPr lang="en-US" altLang="zh-CN" b="1" dirty="0" err="1"/>
              <a:t>ZhoBLiMP</a:t>
            </a:r>
            <a:r>
              <a:rPr lang="en-US" altLang="zh-CN" dirty="0"/>
              <a:t>, which contains 35,400 minimal pairs from 118 linguistic paradigms, and the hidden zero-shot task is </a:t>
            </a:r>
            <a:r>
              <a:rPr lang="en-US" altLang="zh-CN" b="1" dirty="0"/>
              <a:t>XCOMPS-ZH</a:t>
            </a:r>
            <a:r>
              <a:rPr lang="en-US" altLang="zh-CN" dirty="0"/>
              <a:t>, which contains 14,368 pairs testing concept-property compatibility.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open fine-tuning tasks include </a:t>
            </a:r>
            <a:r>
              <a:rPr lang="en-US" altLang="zh-CN" b="1" dirty="0"/>
              <a:t>AFQMC</a:t>
            </a:r>
            <a:r>
              <a:rPr lang="en-US" altLang="zh-CN" dirty="0"/>
              <a:t> for semantic matching, </a:t>
            </a:r>
            <a:r>
              <a:rPr lang="en-US" altLang="zh-CN" b="1" dirty="0"/>
              <a:t>OCNLI</a:t>
            </a:r>
            <a:r>
              <a:rPr lang="en-US" altLang="zh-CN" dirty="0"/>
              <a:t> for natural language inference, </a:t>
            </a:r>
            <a:r>
              <a:rPr lang="en-US" altLang="zh-CN" b="1" dirty="0"/>
              <a:t>TNEWS</a:t>
            </a:r>
            <a:r>
              <a:rPr lang="en-US" altLang="zh-CN" dirty="0"/>
              <a:t> for news classification, and </a:t>
            </a:r>
            <a:r>
              <a:rPr lang="en-US" altLang="zh-CN" b="1" dirty="0"/>
              <a:t>CLUEWSC2020</a:t>
            </a:r>
            <a:r>
              <a:rPr lang="en-US" altLang="zh-CN" dirty="0"/>
              <a:t> for coreference resolution.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hidden fine-tuning tasks are </a:t>
            </a:r>
            <a:r>
              <a:rPr lang="en-US" altLang="zh-CN" b="1" dirty="0"/>
              <a:t>C3</a:t>
            </a:r>
            <a:r>
              <a:rPr lang="en-US" altLang="zh-CN" dirty="0"/>
              <a:t>, a multiple-choice reading-comprehension benchmark, and </a:t>
            </a:r>
            <a:r>
              <a:rPr lang="en-US" altLang="zh-CN" b="1" dirty="0"/>
              <a:t>Diagnostic NLI</a:t>
            </a:r>
            <a:r>
              <a:rPr lang="en-US" altLang="zh-CN"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Cognitive Modeling track contains two Chinese fMRI tasks from </a:t>
            </a:r>
            <a:r>
              <a:rPr lang="en-US" altLang="zh-CN" dirty="0" err="1"/>
              <a:t>MulCogBench</a:t>
            </a:r>
            <a:r>
              <a:rPr lang="en-US" altLang="zh-CN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For both tasks, we </a:t>
            </a:r>
            <a:r>
              <a:rPr lang="en-US" altLang="zh-CN" sz="1200" b="0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fit a ridge-regression from model representations to fMRI responses to evaluate the correlation between model representation and brain signal.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word-level task uses brain responses from 11 participants reading 672 isolated words, while the discourse-level task uses data from 12 participants listening to 60 stories containing more than 52,000 words.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3717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Hanzi track contains zero-shot minimal-pair tasks for character structure and pinyin knowledge. 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Each task contains 4,000 minimal pairs. Half of them is open, while another half is hidden.</a:t>
            </a:r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9414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two main constraints for model training. first, the model should be trained from scratch. Second, there are two options for the training data. The option 1 is, the participant can use the official 102M word training corpus, which is sampled from </a:t>
            </a:r>
            <a:r>
              <a:rPr lang="en-US" altLang="zh-CN" sz="1200" dirty="0" err="1">
                <a:solidFill>
                  <a:srgbClr val="686E75"/>
                </a:solidFill>
                <a:latin typeface="Arial"/>
                <a:ea typeface="Arial"/>
                <a:cs typeface="Arial"/>
              </a:rPr>
              <a:t>BabyBabelLM</a:t>
            </a:r>
            <a:r>
              <a:rPr lang="en-US" altLang="zh-CN" sz="1200" dirty="0">
                <a:solidFill>
                  <a:srgbClr val="686E75"/>
                </a:solidFill>
                <a:latin typeface="Arial"/>
                <a:ea typeface="Arial"/>
                <a:cs typeface="Arial"/>
              </a:rPr>
              <a:t>. Or the participants could use a self-compiled corpus with not more than 102M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We received 28 models</a:t>
            </a:r>
            <a:r>
              <a:rPr lang="en-US" dirty="0"/>
              <a:t> </a:t>
            </a:r>
            <a:r>
              <a:rPr lang="en-US" altLang="zh-CN" dirty="0" err="1"/>
              <a:t>subimissions</a:t>
            </a:r>
            <a:r>
              <a:rPr lang="en-US" altLang="zh-CN" dirty="0"/>
              <a:t> from </a:t>
            </a:r>
            <a:r>
              <a:rPr dirty="0"/>
              <a:t>18 teams. </a:t>
            </a:r>
            <a:endParaRPr lang="en-US" dirty="0"/>
          </a:p>
          <a:p>
            <a:endParaRPr lang="en-US" dirty="0"/>
          </a:p>
          <a:p>
            <a:r>
              <a:rPr dirty="0"/>
              <a:t>Among </a:t>
            </a:r>
            <a:r>
              <a:rPr lang="en-US" dirty="0"/>
              <a:t>teams</a:t>
            </a:r>
            <a:r>
              <a:rPr dirty="0"/>
              <a:t>, </a:t>
            </a:r>
            <a:r>
              <a:rPr dirty="0" err="1"/>
              <a:t>BabyDragon</a:t>
            </a:r>
            <a:r>
              <a:rPr dirty="0"/>
              <a:t> </a:t>
            </a:r>
            <a:r>
              <a:rPr lang="en-US" dirty="0"/>
              <a:t>from University of Chinese Academy of Sciences </a:t>
            </a:r>
            <a:r>
              <a:rPr dirty="0"/>
              <a:t>ranked first </a:t>
            </a:r>
            <a:r>
              <a:rPr lang="en-US" dirty="0"/>
              <a:t>overall </a:t>
            </a:r>
            <a:r>
              <a:rPr dirty="0"/>
              <a:t>with 61.49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dirty="0">
                <a:solidFill>
                  <a:srgbClr val="20242A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OK</a:t>
            </a:r>
            <a:r>
              <a:rPr lang="zh-CN" altLang="en-US" sz="1200" b="0" dirty="0">
                <a:solidFill>
                  <a:srgbClr val="20242A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的老大 </a:t>
            </a:r>
            <a:r>
              <a:rPr lang="en-US" altLang="zh-CN" sz="1200" b="0" dirty="0">
                <a:solidFill>
                  <a:srgbClr val="20242A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from Fudan University ranked second, while TUM Campus Heilbronn ranked third.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For track winners, YNU-HPCC is the winner of NLU track.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/>
              <a:t>Deepscientist</a:t>
            </a:r>
            <a:r>
              <a:rPr lang="en-US" altLang="zh-CN" dirty="0"/>
              <a:t> is the winner of cognitive modeling track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BabyDragon</a:t>
            </a:r>
            <a:r>
              <a:rPr lang="en-US" altLang="zh-CN" dirty="0"/>
              <a:t> is the winner of HANZI track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Finally, let me share a few statistics from the submitted systems. </a:t>
            </a:r>
            <a:endParaRPr lang="en-US" dirty="0"/>
          </a:p>
          <a:p>
            <a:endParaRPr lang="en-US" dirty="0"/>
          </a:p>
          <a:p>
            <a:r>
              <a:rPr dirty="0"/>
              <a:t>Encoder-only systems accounted for </a:t>
            </a:r>
            <a:r>
              <a:rPr lang="en-US" dirty="0"/>
              <a:t>72% of the</a:t>
            </a:r>
            <a:r>
              <a:rPr dirty="0"/>
              <a:t> submissions, while </a:t>
            </a:r>
            <a:r>
              <a:rPr lang="en-US" dirty="0"/>
              <a:t>the rest were decoder-only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/>
              <a:t>Among the </a:t>
            </a:r>
            <a:r>
              <a:rPr lang="en-US" dirty="0"/>
              <a:t>teams </a:t>
            </a:r>
            <a:r>
              <a:rPr dirty="0"/>
              <a:t>that reported parameter counts, six fell between </a:t>
            </a:r>
            <a:r>
              <a:rPr lang="en-US" dirty="0"/>
              <a:t>100 and 150M</a:t>
            </a:r>
            <a:r>
              <a:rPr dirty="0"/>
              <a:t>, while the range extended from 12 million to </a:t>
            </a:r>
            <a:r>
              <a:rPr lang="en-US" dirty="0"/>
              <a:t>800</a:t>
            </a:r>
            <a:r>
              <a:rPr dirty="0"/>
              <a:t> million. </a:t>
            </a:r>
            <a:endParaRPr lang="en-US" dirty="0"/>
          </a:p>
          <a:p>
            <a:endParaRPr lang="en-US" dirty="0"/>
          </a:p>
          <a:p>
            <a:r>
              <a:rPr lang="en-US" dirty="0"/>
              <a:t>In terms of the variance, </a:t>
            </a:r>
            <a:r>
              <a:rPr dirty="0"/>
              <a:t>Hanzi separated systems much more strongly, while Cognitive Modeling scores were tightly compressed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two lines of future directions.</a:t>
            </a:r>
          </a:p>
          <a:p>
            <a:endParaRPr lang="en-US" dirty="0"/>
          </a:p>
          <a:p>
            <a:r>
              <a:rPr lang="en-US" altLang="zh-CN" dirty="0"/>
              <a:t>On modeling, future work focus on include some ablations, and build competitive systems across all tracks.</a:t>
            </a:r>
          </a:p>
          <a:p>
            <a:endParaRPr lang="en-US" altLang="zh-CN" dirty="0"/>
          </a:p>
          <a:p>
            <a:r>
              <a:rPr lang="en-US" altLang="zh-CN" dirty="0"/>
              <a:t>On evaluation, the future competition will make the benchmarks more diagnostic.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857771F-8C71-4BA2-89DE-3FE42239F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F27FAA1-1439-4DBF-BCC4-03C086EB1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6728481-9F14-4219-8927-24C7AFD1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0564182-C916-4859-8E3C-F4F4289AC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DD1E5D5-DBC2-43FB-A7D4-0BBDD6F87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E5991F1-C8DB-43CE-ACA7-0EFD7F912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A03EEC6-3121-4BF5-A5B3-3BC245388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889E7F5-4CE8-4B95-A31B-7480A3A248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74F8247-01A9-44AA-B7A5-98F335198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9C2E1BB-D82C-430C-919F-A56114A70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accent-field">
            <a:extLst>
              <a:ext uri="{FF2B5EF4-FFF2-40B4-BE49-F238E27FC236}">
                <a16:creationId xmlns:a16="http://schemas.microsoft.com/office/drawing/2014/main" id="{756E360B-BB51-4DFF-BA76-1435A00AFC45}"/>
              </a:ext>
            </a:extLst>
          </p:cNvPr>
          <p:cNvSpPr>
            <a:spLocks noGrp="1"/>
          </p:cNvSpPr>
          <p:nvPr/>
        </p:nvSpPr>
        <p:spPr>
          <a:xfrm>
            <a:off x="9372600" y="0"/>
            <a:ext cx="2819400" cy="6858000"/>
          </a:xfrm>
          <a:prstGeom prst="rect">
            <a:avLst/>
          </a:prstGeom>
          <a:solidFill>
            <a:srgbClr val="F7ECEF"/>
          </a:solidFill>
          <a:ln w="0">
            <a:noFill/>
            <a:prstDash val="solid"/>
          </a:ln>
        </p:spPr>
      </p:sp>
      <p:sp>
        <p:nvSpPr>
          <p:cNvPr id="4" name="cover-gold-rule">
            <a:extLst>
              <a:ext uri="{FF2B5EF4-FFF2-40B4-BE49-F238E27FC236}">
                <a16:creationId xmlns:a16="http://schemas.microsoft.com/office/drawing/2014/main" id="{7AA1C449-F45C-4C3B-8431-4D46F17308CD}"/>
              </a:ext>
            </a:extLst>
          </p:cNvPr>
          <p:cNvSpPr>
            <a:spLocks noGrp="1"/>
          </p:cNvSpPr>
          <p:nvPr/>
        </p:nvSpPr>
        <p:spPr>
          <a:xfrm>
            <a:off x="723900" y="933450"/>
            <a:ext cx="1104900" cy="47625"/>
          </a:xfrm>
          <a:prstGeom prst="rect">
            <a:avLst/>
          </a:prstGeom>
          <a:solidFill>
            <a:srgbClr val="C49A2C"/>
          </a:solidFill>
          <a:ln w="0">
            <a:noFill/>
            <a:prstDash val="solid"/>
          </a:ln>
        </p:spPr>
      </p:sp>
      <p:sp>
        <p:nvSpPr>
          <p:cNvPr id="5" name="cover-title">
            <a:extLst>
              <a:ext uri="{FF2B5EF4-FFF2-40B4-BE49-F238E27FC236}">
                <a16:creationId xmlns:a16="http://schemas.microsoft.com/office/drawing/2014/main" id="{B80B94A3-4196-4AB9-804D-56AEE29E1887}"/>
              </a:ext>
            </a:extLst>
          </p:cNvPr>
          <p:cNvSpPr>
            <a:spLocks noGrp="1"/>
          </p:cNvSpPr>
          <p:nvPr/>
        </p:nvSpPr>
        <p:spPr>
          <a:xfrm>
            <a:off x="723900" y="1219200"/>
            <a:ext cx="7905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37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7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40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THE FIRST CHINESEBABYLM CHALLENGE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C5904510-6BBF-40D4-88DC-EFBA4E9412C2}"/>
              </a:ext>
            </a:extLst>
          </p:cNvPr>
          <p:cNvSpPr>
            <a:spLocks noGrp="1"/>
          </p:cNvSpPr>
          <p:nvPr/>
        </p:nvSpPr>
        <p:spPr>
          <a:xfrm>
            <a:off x="733425" y="2628900"/>
            <a:ext cx="7429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05000"/>
              </a:lnSpc>
              <a:buNone/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sz="2200" dirty="0">
                <a:solidFill>
                  <a:srgbClr val="233342"/>
                </a:solidFill>
                <a:latin typeface="Arial"/>
                <a:ea typeface="Arial"/>
                <a:cs typeface="Arial"/>
              </a:rPr>
              <a:t>Training Data-efficient and Cognitively Plausible</a:t>
            </a:r>
          </a:p>
          <a:p>
            <a:pPr>
              <a:lnSpc>
                <a:spcPct val="105000"/>
              </a:lnSpc>
              <a:buNone/>
              <a:defRPr sz="2100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sz="2200" dirty="0">
                <a:solidFill>
                  <a:srgbClr val="233342"/>
                </a:solidFill>
                <a:latin typeface="Arial"/>
                <a:ea typeface="Arial"/>
                <a:cs typeface="Arial"/>
              </a:rPr>
              <a:t>Language Models for Chinese</a:t>
            </a:r>
          </a:p>
        </p:txBody>
      </p:sp>
      <p:sp>
        <p:nvSpPr>
          <p:cNvPr id="7" name="cover-authors">
            <a:extLst>
              <a:ext uri="{FF2B5EF4-FFF2-40B4-BE49-F238E27FC236}">
                <a16:creationId xmlns:a16="http://schemas.microsoft.com/office/drawing/2014/main" id="{B036FC9A-F60F-4DD4-BD30-1720B0A34BC0}"/>
              </a:ext>
            </a:extLst>
          </p:cNvPr>
          <p:cNvSpPr>
            <a:spLocks noGrp="1"/>
          </p:cNvSpPr>
          <p:nvPr/>
        </p:nvSpPr>
        <p:spPr>
          <a:xfrm>
            <a:off x="733425" y="3600450"/>
            <a:ext cx="7620000" cy="537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500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50000"/>
              </a:lnSpc>
              <a:defRPr sz="150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600" dirty="0" err="1">
                <a:solidFill>
                  <a:srgbClr val="20242A"/>
                </a:solidFill>
                <a:latin typeface="Arial"/>
                <a:ea typeface="Arial"/>
                <a:cs typeface="Arial"/>
              </a:rPr>
              <a:t>Siyuan</a:t>
            </a:r>
            <a:r>
              <a:rPr sz="1600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 Song, Zhiheng Qian, </a:t>
            </a:r>
            <a:r>
              <a:rPr sz="1600" dirty="0" err="1">
                <a:solidFill>
                  <a:srgbClr val="20242A"/>
                </a:solidFill>
                <a:latin typeface="Arial"/>
                <a:ea typeface="Arial"/>
                <a:cs typeface="Arial"/>
              </a:rPr>
              <a:t>Yunhao</a:t>
            </a:r>
            <a:r>
              <a:rPr sz="1600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 Zhang, </a:t>
            </a:r>
            <a:r>
              <a:rPr sz="1600" dirty="0" err="1">
                <a:solidFill>
                  <a:srgbClr val="20242A"/>
                </a:solidFill>
                <a:latin typeface="Arial"/>
                <a:ea typeface="Arial"/>
                <a:cs typeface="Arial"/>
              </a:rPr>
              <a:t>Linyang</a:t>
            </a:r>
            <a:r>
              <a:rPr sz="1600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 He, </a:t>
            </a:r>
            <a:r>
              <a:rPr lang="en-US" sz="1600" dirty="0" err="1">
                <a:solidFill>
                  <a:srgbClr val="20242A"/>
                </a:solidFill>
                <a:latin typeface="Arial"/>
                <a:ea typeface="Arial"/>
                <a:cs typeface="Arial"/>
              </a:rPr>
              <a:t>Xiaozhe</a:t>
            </a:r>
            <a:r>
              <a:rPr lang="en-US" sz="1600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 Ji, </a:t>
            </a:r>
            <a:r>
              <a:rPr lang="en-US" sz="1600" dirty="0" err="1"/>
              <a:t>Yingxin</a:t>
            </a:r>
            <a:r>
              <a:rPr lang="en-US" sz="1600" dirty="0"/>
              <a:t> Lin, </a:t>
            </a:r>
            <a:r>
              <a:rPr lang="en-US" sz="1600" dirty="0" err="1"/>
              <a:t>Hongao</a:t>
            </a:r>
            <a:r>
              <a:rPr lang="en-US" sz="1600" dirty="0"/>
              <a:t> Zhu, </a:t>
            </a:r>
            <a:r>
              <a:rPr lang="en-US" sz="1600" dirty="0" err="1"/>
              <a:t>Chongtian</a:t>
            </a:r>
            <a:r>
              <a:rPr lang="en-US" sz="1600" dirty="0"/>
              <a:t> Shao, </a:t>
            </a:r>
            <a:r>
              <a:rPr lang="en-US" sz="1600" dirty="0" err="1"/>
              <a:t>Chuhan</a:t>
            </a:r>
            <a:r>
              <a:rPr lang="en-US" sz="1600" dirty="0"/>
              <a:t> Lang, Luan Li, Rui Wang, </a:t>
            </a:r>
            <a:r>
              <a:rPr lang="en-US" sz="1600" dirty="0" err="1"/>
              <a:t>Renfen</a:t>
            </a:r>
            <a:r>
              <a:rPr lang="en-US" sz="1600" dirty="0"/>
              <a:t> Hu, </a:t>
            </a:r>
            <a:r>
              <a:rPr lang="en-US" sz="1600" dirty="0" err="1"/>
              <a:t>Shaonan</a:t>
            </a:r>
            <a:r>
              <a:rPr lang="en-US" sz="1600" dirty="0"/>
              <a:t> Wang, Hai Hu</a:t>
            </a:r>
            <a:endParaRPr sz="1600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over-venue">
            <a:extLst>
              <a:ext uri="{FF2B5EF4-FFF2-40B4-BE49-F238E27FC236}">
                <a16:creationId xmlns:a16="http://schemas.microsoft.com/office/drawing/2014/main" id="{8D4349A4-54BE-4B33-892C-FD4E6F15D6F4}"/>
              </a:ext>
            </a:extLst>
          </p:cNvPr>
          <p:cNvSpPr>
            <a:spLocks noGrp="1"/>
          </p:cNvSpPr>
          <p:nvPr/>
        </p:nvSpPr>
        <p:spPr>
          <a:xfrm>
            <a:off x="723900" y="592455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NLPCC 202</a:t>
            </a:r>
            <a:r>
              <a:rPr lang="en-US" sz="150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6</a:t>
            </a:r>
            <a:r>
              <a:rPr sz="150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 Shared Task</a:t>
            </a:r>
          </a:p>
        </p:txBody>
      </p:sp>
    </p:spTree>
    <p:extLst>
      <p:ext uri="{BB962C8B-B14F-4D97-AF65-F5344CB8AC3E}">
        <p14:creationId xmlns:p14="http://schemas.microsoft.com/office/powerpoint/2010/main" val="1878871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2-top-rule">
            <a:extLst>
              <a:ext uri="{FF2B5EF4-FFF2-40B4-BE49-F238E27FC236}">
                <a16:creationId xmlns:a16="http://schemas.microsoft.com/office/drawing/2014/main" id="{8C5DD9AC-D089-446D-85C8-1DE250BDE532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1082040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4" name="research-question">
            <a:extLst>
              <a:ext uri="{FF2B5EF4-FFF2-40B4-BE49-F238E27FC236}">
                <a16:creationId xmlns:a16="http://schemas.microsoft.com/office/drawing/2014/main" id="{C700A8C2-98D5-40EA-8A13-C399CBC3B8C8}"/>
              </a:ext>
            </a:extLst>
          </p:cNvPr>
          <p:cNvSpPr>
            <a:spLocks noGrp="1"/>
          </p:cNvSpPr>
          <p:nvPr/>
        </p:nvSpPr>
        <p:spPr>
          <a:xfrm>
            <a:off x="685800" y="1493250"/>
            <a:ext cx="108204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sz="2600" b="1" dirty="0"/>
              <a:t>D</a:t>
            </a:r>
            <a:r>
              <a:rPr lang="en-US" sz="26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ata-efficient and cognitively plausible language model</a:t>
            </a:r>
          </a:p>
          <a:p>
            <a: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endParaRPr lang="en-US" sz="2600" b="1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>
            <a: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sz="2600" b="1" dirty="0">
                <a:latin typeface="Arial"/>
                <a:ea typeface="Arial"/>
                <a:cs typeface="Arial"/>
              </a:rPr>
              <a:t>How well can models l</a:t>
            </a:r>
            <a:r>
              <a:rPr sz="2600" b="1" dirty="0">
                <a:latin typeface="Arial"/>
                <a:ea typeface="Arial"/>
                <a:cs typeface="Arial"/>
              </a:rPr>
              <a:t>earn </a:t>
            </a:r>
            <a:r>
              <a:rPr sz="260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Chinese</a:t>
            </a:r>
            <a:r>
              <a:rPr sz="2600" b="1" dirty="0">
                <a:latin typeface="Arial"/>
                <a:ea typeface="Arial"/>
                <a:cs typeface="Arial"/>
              </a:rPr>
              <a:t> with no more than 102M words?</a:t>
            </a:r>
            <a:endParaRPr lang="en-US" sz="2600" b="1" dirty="0">
              <a:latin typeface="Arial"/>
              <a:ea typeface="Arial"/>
              <a:cs typeface="Arial"/>
            </a:endParaRPr>
          </a:p>
          <a:p>
            <a:pPr>
              <a:defRPr sz="2550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endParaRPr lang="en-US" sz="2600" b="1" dirty="0"/>
          </a:p>
        </p:txBody>
      </p:sp>
      <p:sp>
        <p:nvSpPr>
          <p:cNvPr id="18" name="slide-2-footer-label">
            <a:extLst>
              <a:ext uri="{FF2B5EF4-FFF2-40B4-BE49-F238E27FC236}">
                <a16:creationId xmlns:a16="http://schemas.microsoft.com/office/drawing/2014/main" id="{17649B93-E0F3-4E56-90EE-586E00D61B60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5A9AE"/>
                </a:solidFill>
                <a:latin typeface="Arial"/>
                <a:ea typeface="Arial"/>
                <a:cs typeface="Arial"/>
              </a:rPr>
              <a:t>ChineseBabyLM  |  NLPCC 2026</a:t>
            </a:r>
          </a:p>
        </p:txBody>
      </p:sp>
      <p:sp>
        <p:nvSpPr>
          <p:cNvPr id="19" name="slide-2-footer-number">
            <a:extLst>
              <a:ext uri="{FF2B5EF4-FFF2-40B4-BE49-F238E27FC236}">
                <a16:creationId xmlns:a16="http://schemas.microsoft.com/office/drawing/2014/main" id="{11C0774D-F1DA-4A78-AA96-21E26FE86905}"/>
              </a:ext>
            </a:extLst>
          </p:cNvPr>
          <p:cNvSpPr>
            <a:spLocks noGrp="1"/>
          </p:cNvSpPr>
          <p:nvPr/>
        </p:nvSpPr>
        <p:spPr>
          <a:xfrm>
            <a:off x="11001375" y="64674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E1B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174A264-46DB-4DB8-BEF3-6A70F491C526}"/>
              </a:ext>
            </a:extLst>
          </p:cNvPr>
          <p:cNvSpPr>
            <a:spLocks noGrp="1"/>
          </p:cNvSpPr>
          <p:nvPr/>
        </p:nvSpPr>
        <p:spPr>
          <a:xfrm>
            <a:off x="685799" y="3105154"/>
            <a:ext cx="10315575" cy="29298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12000"/>
              </a:lnSpc>
              <a:buNone/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lang="en-US" sz="2000" b="1" dirty="0" err="1">
                <a:solidFill>
                  <a:srgbClr val="20242A"/>
                </a:solidFill>
                <a:latin typeface="Arial"/>
                <a:ea typeface="Arial"/>
                <a:cs typeface="Arial"/>
              </a:rPr>
              <a:t>BabyLM</a:t>
            </a:r>
            <a:r>
              <a:rPr lang="en-US" sz="20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 Community: </a:t>
            </a:r>
            <a:r>
              <a:rPr lang="en-US" sz="2000" dirty="0" err="1">
                <a:solidFill>
                  <a:srgbClr val="20242A"/>
                </a:solidFill>
                <a:latin typeface="Arial"/>
                <a:ea typeface="Arial"/>
                <a:cs typeface="Arial"/>
              </a:rPr>
              <a:t>BabyLM</a:t>
            </a:r>
            <a:r>
              <a:rPr lang="en-US" sz="2000" dirty="0">
                <a:solidFill>
                  <a:srgbClr val="20242A"/>
                </a:solidFill>
              </a:rPr>
              <a:t>, </a:t>
            </a:r>
            <a:r>
              <a:rPr lang="en-US" sz="2000" dirty="0" err="1">
                <a:solidFill>
                  <a:srgbClr val="20242A"/>
                </a:solidFill>
              </a:rPr>
              <a:t>BabyBabelLM</a:t>
            </a:r>
            <a:r>
              <a:rPr lang="en-US" sz="2000" dirty="0">
                <a:solidFill>
                  <a:srgbClr val="20242A"/>
                </a:solidFill>
              </a:rPr>
              <a:t>, …</a:t>
            </a:r>
          </a:p>
          <a:p>
            <a:pPr>
              <a:lnSpc>
                <a:spcPct val="112000"/>
              </a:lnSpc>
              <a:buNone/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endParaRPr lang="en-US" sz="2000" dirty="0">
              <a:solidFill>
                <a:srgbClr val="686E75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12000"/>
              </a:lnSpc>
              <a:buNone/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lang="en-US" sz="20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Properties of Chinese language: </a:t>
            </a:r>
            <a:r>
              <a:rPr lang="en-US" sz="2000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no explicit word boundaries, extensive use of </a:t>
            </a:r>
            <a:r>
              <a:rPr lang="en-US" altLang="zh-CN" sz="2000" dirty="0">
                <a:solidFill>
                  <a:srgbClr val="20242A"/>
                </a:solidFill>
              </a:rPr>
              <a:t>compounding, logographic writing system, …</a:t>
            </a:r>
          </a:p>
          <a:p>
            <a:pPr>
              <a:lnSpc>
                <a:spcPct val="112000"/>
              </a:lnSpc>
              <a:buNone/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endParaRPr lang="en-US" sz="2000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12000"/>
              </a:lnSpc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lang="en-US" sz="2000" b="1" dirty="0" err="1">
                <a:solidFill>
                  <a:srgbClr val="9E1B32"/>
                </a:solidFill>
              </a:rPr>
              <a:t>ChineseBabyLM</a:t>
            </a:r>
            <a:r>
              <a:rPr lang="en-US" sz="2000" b="1" dirty="0">
                <a:solidFill>
                  <a:srgbClr val="9E1B32"/>
                </a:solidFill>
              </a:rPr>
              <a:t>: </a:t>
            </a:r>
            <a:r>
              <a:rPr lang="en-US" altLang="zh-CN" sz="2000" b="1" dirty="0">
                <a:solidFill>
                  <a:srgbClr val="9E1B32"/>
                </a:solidFill>
              </a:rPr>
              <a:t>a shared task with controlled training data and evaluation across multiple tracks.</a:t>
            </a:r>
          </a:p>
          <a:p>
            <a:pPr>
              <a:lnSpc>
                <a:spcPct val="112000"/>
              </a:lnSpc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endParaRPr lang="en-US" altLang="zh-CN" sz="200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12000"/>
              </a:lnSpc>
              <a:buNone/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endParaRPr sz="2000" dirty="0">
              <a:solidFill>
                <a:srgbClr val="686E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ide-4-title">
            <a:extLst>
              <a:ext uri="{FF2B5EF4-FFF2-40B4-BE49-F238E27FC236}">
                <a16:creationId xmlns:a16="http://schemas.microsoft.com/office/drawing/2014/main" id="{88758CCE-862B-4D5D-A742-448DD3D6B29B}"/>
              </a:ext>
            </a:extLst>
          </p:cNvPr>
          <p:cNvSpPr>
            <a:spLocks noGrp="1"/>
          </p:cNvSpPr>
          <p:nvPr/>
        </p:nvSpPr>
        <p:spPr>
          <a:xfrm>
            <a:off x="685800" y="345831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4000" dirty="0"/>
              <a:t>Motivation</a:t>
            </a:r>
            <a:endParaRPr lang="en-US" altLang="zh-CN" sz="400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9144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4-title">
            <a:extLst>
              <a:ext uri="{FF2B5EF4-FFF2-40B4-BE49-F238E27FC236}">
                <a16:creationId xmlns:a16="http://schemas.microsoft.com/office/drawing/2014/main" id="{ED4EF037-91C8-4FEA-AA2C-D87C9FEEBDAF}"/>
              </a:ext>
            </a:extLst>
          </p:cNvPr>
          <p:cNvSpPr>
            <a:spLocks noGrp="1"/>
          </p:cNvSpPr>
          <p:nvPr/>
        </p:nvSpPr>
        <p:spPr>
          <a:xfrm>
            <a:off x="672737" y="331197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40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Evaluation </a:t>
            </a:r>
            <a:r>
              <a:rPr lang="en-US" sz="40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Tracks</a:t>
            </a:r>
            <a:endParaRPr sz="4000" b="1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lide-4-top-rule">
            <a:extLst>
              <a:ext uri="{FF2B5EF4-FFF2-40B4-BE49-F238E27FC236}">
                <a16:creationId xmlns:a16="http://schemas.microsoft.com/office/drawing/2014/main" id="{31C64AA6-A017-40C0-B692-B8AE66CA2B32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1082040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DDBE9E-E15F-4293-B32E-E33A69941438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49A2C"/>
                </a:solidFill>
                <a:latin typeface="Arial"/>
                <a:ea typeface="Arial"/>
                <a:cs typeface="Arial"/>
              </a:rPr>
              <a:t>14 TASKS IN THREE COMPLEMENTARY TRACKS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649897-7383-4A89-90B8-790AEFE0E312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2952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lang="en-US" sz="4000" dirty="0"/>
              <a:t>NLU </a:t>
            </a:r>
            <a:endParaRPr sz="400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7AAA3E-F043-4D63-929C-A4D782AAD594}"/>
              </a:ext>
            </a:extLst>
          </p:cNvPr>
          <p:cNvSpPr>
            <a:spLocks noGrp="1"/>
          </p:cNvSpPr>
          <p:nvPr/>
        </p:nvSpPr>
        <p:spPr>
          <a:xfrm>
            <a:off x="685799" y="2878315"/>
            <a:ext cx="3438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sz="2400" dirty="0"/>
              <a:t>Syntactic and semantic understanding</a:t>
            </a:r>
            <a:endParaRPr sz="2400" b="1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4678A9-EA1B-465C-8CAD-CE7AC135647A}"/>
              </a:ext>
            </a:extLst>
          </p:cNvPr>
          <p:cNvSpPr>
            <a:spLocks noGrp="1"/>
          </p:cNvSpPr>
          <p:nvPr/>
        </p:nvSpPr>
        <p:spPr>
          <a:xfrm>
            <a:off x="685800" y="4686929"/>
            <a:ext cx="295275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EF365B-CFFE-4C14-BD8B-B49DF9D48000}"/>
              </a:ext>
            </a:extLst>
          </p:cNvPr>
          <p:cNvSpPr>
            <a:spLocks noGrp="1"/>
          </p:cNvSpPr>
          <p:nvPr/>
        </p:nvSpPr>
        <p:spPr>
          <a:xfrm>
            <a:off x="4346396" y="1809750"/>
            <a:ext cx="19050" cy="31051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1B5F54-9DEA-45BB-BBC6-D13CD0B2A6CF}"/>
              </a:ext>
            </a:extLst>
          </p:cNvPr>
          <p:cNvSpPr>
            <a:spLocks noGrp="1"/>
          </p:cNvSpPr>
          <p:nvPr/>
        </p:nvSpPr>
        <p:spPr>
          <a:xfrm>
            <a:off x="4584521" y="1695450"/>
            <a:ext cx="2952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2800" dirty="0"/>
              <a:t>Cognitive Modeling Track</a:t>
            </a:r>
          </a:p>
          <a:p>
            <a: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endParaRPr sz="280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BB9FCE-9A4D-4EED-92AE-45C6843DAB40}"/>
              </a:ext>
            </a:extLst>
          </p:cNvPr>
          <p:cNvSpPr>
            <a:spLocks noGrp="1"/>
          </p:cNvSpPr>
          <p:nvPr/>
        </p:nvSpPr>
        <p:spPr>
          <a:xfrm>
            <a:off x="4584521" y="2878315"/>
            <a:ext cx="3376206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sz="2400" dirty="0"/>
              <a:t>Alignment between human language representation and model representation</a:t>
            </a:r>
            <a:endParaRPr sz="2400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D1CD89-1E9A-4159-A88A-1F1A8714F805}"/>
              </a:ext>
            </a:extLst>
          </p:cNvPr>
          <p:cNvSpPr>
            <a:spLocks noGrp="1"/>
          </p:cNvSpPr>
          <p:nvPr/>
        </p:nvSpPr>
        <p:spPr>
          <a:xfrm>
            <a:off x="4584521" y="4713052"/>
            <a:ext cx="295275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69D42E-FCB0-4E63-A65F-14387A15D38F}"/>
              </a:ext>
            </a:extLst>
          </p:cNvPr>
          <p:cNvSpPr>
            <a:spLocks noGrp="1"/>
          </p:cNvSpPr>
          <p:nvPr/>
        </p:nvSpPr>
        <p:spPr>
          <a:xfrm>
            <a:off x="8179802" y="1809750"/>
            <a:ext cx="19050" cy="31051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09D740C-ADC1-4F14-8A44-C5C63A054B76}"/>
              </a:ext>
            </a:extLst>
          </p:cNvPr>
          <p:cNvSpPr>
            <a:spLocks noGrp="1"/>
          </p:cNvSpPr>
          <p:nvPr/>
        </p:nvSpPr>
        <p:spPr>
          <a:xfrm>
            <a:off x="8417927" y="1695450"/>
            <a:ext cx="2952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4000"/>
              <a:t>HANZI </a:t>
            </a:r>
          </a:p>
          <a:p>
            <a: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endParaRPr sz="4000" b="1">
              <a:solidFill>
                <a:srgbClr val="9E1B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35418C-2353-4F63-8FD3-B2F2111F4F7E}"/>
              </a:ext>
            </a:extLst>
          </p:cNvPr>
          <p:cNvSpPr>
            <a:spLocks noGrp="1"/>
          </p:cNvSpPr>
          <p:nvPr/>
        </p:nvSpPr>
        <p:spPr>
          <a:xfrm>
            <a:off x="8417927" y="2878315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Chinese writing system knowledge</a:t>
            </a:r>
            <a:endParaRPr sz="2400" b="1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BD03E9C-CA00-4CF3-B503-4B47624B91F4}"/>
              </a:ext>
            </a:extLst>
          </p:cNvPr>
          <p:cNvSpPr>
            <a:spLocks noGrp="1"/>
          </p:cNvSpPr>
          <p:nvPr/>
        </p:nvSpPr>
        <p:spPr>
          <a:xfrm>
            <a:off x="8417927" y="4732505"/>
            <a:ext cx="295275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25" name="slide-4-footer-label">
            <a:extLst>
              <a:ext uri="{FF2B5EF4-FFF2-40B4-BE49-F238E27FC236}">
                <a16:creationId xmlns:a16="http://schemas.microsoft.com/office/drawing/2014/main" id="{4C13F1E4-67A4-4B01-8698-631EE193F524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5A9AE"/>
                </a:solidFill>
                <a:latin typeface="Arial"/>
                <a:ea typeface="Arial"/>
                <a:cs typeface="Arial"/>
              </a:rPr>
              <a:t>ChineseBabyLM  |  NLPCC 2026</a:t>
            </a:r>
          </a:p>
        </p:txBody>
      </p:sp>
      <p:sp>
        <p:nvSpPr>
          <p:cNvPr id="26" name="slide-4-footer-number">
            <a:extLst>
              <a:ext uri="{FF2B5EF4-FFF2-40B4-BE49-F238E27FC236}">
                <a16:creationId xmlns:a16="http://schemas.microsoft.com/office/drawing/2014/main" id="{F99695F2-4C5C-4675-B114-4511F4DF668C}"/>
              </a:ext>
            </a:extLst>
          </p:cNvPr>
          <p:cNvSpPr>
            <a:spLocks noGrp="1"/>
          </p:cNvSpPr>
          <p:nvPr/>
        </p:nvSpPr>
        <p:spPr>
          <a:xfrm>
            <a:off x="11001375" y="64674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dirty="0"/>
              <a:t>3</a:t>
            </a:r>
            <a:endParaRPr sz="105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evaluation-protocol-strip">
            <a:extLst>
              <a:ext uri="{FF2B5EF4-FFF2-40B4-BE49-F238E27FC236}">
                <a16:creationId xmlns:a16="http://schemas.microsoft.com/office/drawing/2014/main" id="{1AF6C084-069F-48B0-85EB-683C9603B75C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10820400" cy="685800"/>
          </a:xfrm>
          <a:prstGeom prst="rect">
            <a:avLst/>
          </a:prstGeom>
          <a:solidFill>
            <a:srgbClr val="F4F3F0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80FCF59-FF9D-47F3-8DC3-4469BD203BF5}"/>
              </a:ext>
            </a:extLst>
          </p:cNvPr>
          <p:cNvSpPr>
            <a:spLocks noGrp="1"/>
          </p:cNvSpPr>
          <p:nvPr/>
        </p:nvSpPr>
        <p:spPr>
          <a:xfrm>
            <a:off x="971550" y="56197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ctr">
              <a:defRPr sz="142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2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233342"/>
                </a:solidFill>
                <a:latin typeface="Arial"/>
                <a:ea typeface="Arial"/>
                <a:cs typeface="Arial"/>
              </a:rPr>
              <a:t>OPEN DEVELOPMENT TASKS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1B01869-0B50-4A70-B9FB-55936CB93057}"/>
              </a:ext>
            </a:extLst>
          </p:cNvPr>
          <p:cNvSpPr>
            <a:spLocks noGrp="1"/>
          </p:cNvSpPr>
          <p:nvPr/>
        </p:nvSpPr>
        <p:spPr>
          <a:xfrm>
            <a:off x="5810250" y="56197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ctr">
              <a:defRPr sz="18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C49A2C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BFB9DFA-FDCA-484C-BE86-1DA98C49718A}"/>
              </a:ext>
            </a:extLst>
          </p:cNvPr>
          <p:cNvSpPr>
            <a:spLocks noGrp="1"/>
          </p:cNvSpPr>
          <p:nvPr/>
        </p:nvSpPr>
        <p:spPr>
          <a:xfrm>
            <a:off x="7162800" y="5619750"/>
            <a:ext cx="3390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ctr">
              <a:defRPr sz="14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HIDDEN TASKS</a:t>
            </a:r>
          </a:p>
        </p:txBody>
      </p:sp>
    </p:spTree>
    <p:extLst>
      <p:ext uri="{BB962C8B-B14F-4D97-AF65-F5344CB8AC3E}">
        <p14:creationId xmlns:p14="http://schemas.microsoft.com/office/powerpoint/2010/main" val="134700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4-title">
            <a:extLst>
              <a:ext uri="{FF2B5EF4-FFF2-40B4-BE49-F238E27FC236}">
                <a16:creationId xmlns:a16="http://schemas.microsoft.com/office/drawing/2014/main" id="{ED4EF037-91C8-4FEA-AA2C-D87C9FEEBDAF}"/>
              </a:ext>
            </a:extLst>
          </p:cNvPr>
          <p:cNvSpPr>
            <a:spLocks noGrp="1"/>
          </p:cNvSpPr>
          <p:nvPr/>
        </p:nvSpPr>
        <p:spPr>
          <a:xfrm>
            <a:off x="685800" y="345831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4000" dirty="0"/>
              <a:t>NLU Track</a:t>
            </a:r>
            <a:endParaRPr lang="en-US" altLang="zh-CN" sz="400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lide-4-top-rule">
            <a:extLst>
              <a:ext uri="{FF2B5EF4-FFF2-40B4-BE49-F238E27FC236}">
                <a16:creationId xmlns:a16="http://schemas.microsoft.com/office/drawing/2014/main" id="{31C64AA6-A017-40C0-B692-B8AE66CA2B32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1082040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7AAA3E-F043-4D63-929C-A4D782AAD594}"/>
              </a:ext>
            </a:extLst>
          </p:cNvPr>
          <p:cNvSpPr>
            <a:spLocks noGrp="1"/>
          </p:cNvSpPr>
          <p:nvPr/>
        </p:nvSpPr>
        <p:spPr>
          <a:xfrm>
            <a:off x="685800" y="1287041"/>
            <a:ext cx="4095206" cy="4607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sz="3200" dirty="0"/>
              <a:t>Zero-shot</a:t>
            </a:r>
            <a:endParaRPr sz="3200" b="1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F8B493-8A10-4448-A3B5-DA6493B69CA1}"/>
              </a:ext>
            </a:extLst>
          </p:cNvPr>
          <p:cNvSpPr>
            <a:spLocks noGrp="1"/>
          </p:cNvSpPr>
          <p:nvPr/>
        </p:nvSpPr>
        <p:spPr>
          <a:xfrm>
            <a:off x="733424" y="2115224"/>
            <a:ext cx="4295775" cy="119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sz="2000" dirty="0"/>
              <a:t>OPEN TASKS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 err="1"/>
              <a:t>ZhoBLiMP</a:t>
            </a:r>
            <a:r>
              <a:rPr lang="en-US" altLang="zh-CN" sz="2000" b="0" dirty="0"/>
              <a:t> (semantic acceptability)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endParaRPr lang="en-US" sz="2000" dirty="0"/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endParaRPr lang="en-US" sz="2000" dirty="0"/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sz="200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HIDDEN TA</a:t>
            </a:r>
            <a:r>
              <a:rPr lang="en-US" sz="2000" dirty="0">
                <a:solidFill>
                  <a:srgbClr val="9E1B32"/>
                </a:solidFill>
              </a:rPr>
              <a:t>SKS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/>
              <a:t>XCOMPS-ZH (concept-property compatibility)</a:t>
            </a:r>
            <a:endParaRPr sz="2000" b="0" dirty="0">
              <a:solidFill>
                <a:srgbClr val="23334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ide-4-footer-label">
            <a:extLst>
              <a:ext uri="{FF2B5EF4-FFF2-40B4-BE49-F238E27FC236}">
                <a16:creationId xmlns:a16="http://schemas.microsoft.com/office/drawing/2014/main" id="{4C13F1E4-67A4-4B01-8698-631EE193F524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5A9AE"/>
                </a:solidFill>
                <a:latin typeface="Arial"/>
                <a:ea typeface="Arial"/>
                <a:cs typeface="Arial"/>
              </a:rPr>
              <a:t>ChineseBabyLM  |  NLPCC 2026</a:t>
            </a:r>
          </a:p>
        </p:txBody>
      </p:sp>
      <p:sp>
        <p:nvSpPr>
          <p:cNvPr id="26" name="slide-4-footer-number">
            <a:extLst>
              <a:ext uri="{FF2B5EF4-FFF2-40B4-BE49-F238E27FC236}">
                <a16:creationId xmlns:a16="http://schemas.microsoft.com/office/drawing/2014/main" id="{F99695F2-4C5C-4675-B114-4511F4DF668C}"/>
              </a:ext>
            </a:extLst>
          </p:cNvPr>
          <p:cNvSpPr>
            <a:spLocks noGrp="1"/>
          </p:cNvSpPr>
          <p:nvPr/>
        </p:nvSpPr>
        <p:spPr>
          <a:xfrm>
            <a:off x="11001375" y="64674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E1B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C0C4154-C971-4A1E-A3E9-F761BCFE7869}"/>
              </a:ext>
            </a:extLst>
          </p:cNvPr>
          <p:cNvSpPr>
            <a:spLocks noGrp="1"/>
          </p:cNvSpPr>
          <p:nvPr/>
        </p:nvSpPr>
        <p:spPr>
          <a:xfrm>
            <a:off x="5861685" y="1808256"/>
            <a:ext cx="19050" cy="31051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818583-B4E6-41D6-9531-1B5D3F05EC00}"/>
              </a:ext>
            </a:extLst>
          </p:cNvPr>
          <p:cNvSpPr>
            <a:spLocks noGrp="1"/>
          </p:cNvSpPr>
          <p:nvPr/>
        </p:nvSpPr>
        <p:spPr>
          <a:xfrm>
            <a:off x="6484620" y="1262067"/>
            <a:ext cx="4095206" cy="4607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sz="3200" dirty="0"/>
              <a:t>Fine-tuning</a:t>
            </a:r>
            <a:endParaRPr sz="3200" b="1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7EC252F-E6C2-4844-89AA-A1483DCE1591}"/>
              </a:ext>
            </a:extLst>
          </p:cNvPr>
          <p:cNvSpPr>
            <a:spLocks noGrp="1"/>
          </p:cNvSpPr>
          <p:nvPr/>
        </p:nvSpPr>
        <p:spPr>
          <a:xfrm>
            <a:off x="6510745" y="2042009"/>
            <a:ext cx="5128261" cy="4006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sz="2000" dirty="0"/>
              <a:t>OPEN TASKS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/>
              <a:t>AFQMC (semantic matching)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/>
              <a:t>OCNLI (natural language inference)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/>
              <a:t>TNEWS (news classification)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/>
              <a:t>CLUEWSC2020 (coreference resolution)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endParaRPr lang="en-US" sz="2000" dirty="0"/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sz="200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HIDDEN TA</a:t>
            </a:r>
            <a:r>
              <a:rPr lang="en-US" sz="2000" dirty="0">
                <a:solidFill>
                  <a:srgbClr val="9E1B32"/>
                </a:solidFill>
              </a:rPr>
              <a:t>SKS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/>
              <a:t>C3 (reading comprehension)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/>
              <a:t>Diagnostic NLI (natural language inference)</a:t>
            </a:r>
            <a:endParaRPr sz="2000" b="0" dirty="0">
              <a:solidFill>
                <a:srgbClr val="23334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077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4-title">
            <a:extLst>
              <a:ext uri="{FF2B5EF4-FFF2-40B4-BE49-F238E27FC236}">
                <a16:creationId xmlns:a16="http://schemas.microsoft.com/office/drawing/2014/main" id="{ED4EF037-91C8-4FEA-AA2C-D87C9FEEBDAF}"/>
              </a:ext>
            </a:extLst>
          </p:cNvPr>
          <p:cNvSpPr>
            <a:spLocks noGrp="1"/>
          </p:cNvSpPr>
          <p:nvPr/>
        </p:nvSpPr>
        <p:spPr>
          <a:xfrm>
            <a:off x="685800" y="345831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4000" dirty="0"/>
              <a:t>Cognitive Modeling Track</a:t>
            </a:r>
          </a:p>
        </p:txBody>
      </p:sp>
      <p:sp>
        <p:nvSpPr>
          <p:cNvPr id="2" name="slide-4-top-rule">
            <a:extLst>
              <a:ext uri="{FF2B5EF4-FFF2-40B4-BE49-F238E27FC236}">
                <a16:creationId xmlns:a16="http://schemas.microsoft.com/office/drawing/2014/main" id="{31C64AA6-A017-40C0-B692-B8AE66CA2B32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1082040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7AAA3E-F043-4D63-929C-A4D782AAD594}"/>
              </a:ext>
            </a:extLst>
          </p:cNvPr>
          <p:cNvSpPr>
            <a:spLocks noGrp="1"/>
          </p:cNvSpPr>
          <p:nvPr/>
        </p:nvSpPr>
        <p:spPr>
          <a:xfrm>
            <a:off x="685799" y="1287041"/>
            <a:ext cx="10182498" cy="11034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50000"/>
              </a:lnSpc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sz="2400" dirty="0" err="1"/>
              <a:t>MulCogBench</a:t>
            </a:r>
            <a:endParaRPr lang="en-US" sz="2400" dirty="0"/>
          </a:p>
          <a:p>
            <a:pPr>
              <a:lnSpc>
                <a:spcPct val="150000"/>
              </a:lnSpc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sz="1800" b="0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fit a ridge-regression from model representations to fMRI responses to evaluate the correlation between model representation and brain signal</a:t>
            </a:r>
            <a:endParaRPr sz="1800" b="0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ide-4-footer-label">
            <a:extLst>
              <a:ext uri="{FF2B5EF4-FFF2-40B4-BE49-F238E27FC236}">
                <a16:creationId xmlns:a16="http://schemas.microsoft.com/office/drawing/2014/main" id="{4C13F1E4-67A4-4B01-8698-631EE193F524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5A9AE"/>
                </a:solidFill>
                <a:latin typeface="Arial"/>
                <a:ea typeface="Arial"/>
                <a:cs typeface="Arial"/>
              </a:rPr>
              <a:t>ChineseBabyLM  |  NLPCC 2026</a:t>
            </a:r>
          </a:p>
        </p:txBody>
      </p:sp>
      <p:sp>
        <p:nvSpPr>
          <p:cNvPr id="26" name="slide-4-footer-number">
            <a:extLst>
              <a:ext uri="{FF2B5EF4-FFF2-40B4-BE49-F238E27FC236}">
                <a16:creationId xmlns:a16="http://schemas.microsoft.com/office/drawing/2014/main" id="{F99695F2-4C5C-4675-B114-4511F4DF668C}"/>
              </a:ext>
            </a:extLst>
          </p:cNvPr>
          <p:cNvSpPr>
            <a:spLocks noGrp="1"/>
          </p:cNvSpPr>
          <p:nvPr/>
        </p:nvSpPr>
        <p:spPr>
          <a:xfrm>
            <a:off x="11001375" y="64674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05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5</a:t>
            </a:r>
            <a:endParaRPr sz="105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075863-2884-4066-84D9-0EAE00ED62EF}"/>
              </a:ext>
            </a:extLst>
          </p:cNvPr>
          <p:cNvSpPr>
            <a:spLocks noGrp="1"/>
          </p:cNvSpPr>
          <p:nvPr/>
        </p:nvSpPr>
        <p:spPr>
          <a:xfrm>
            <a:off x="733424" y="2929554"/>
            <a:ext cx="5020632" cy="9320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dirty="0"/>
              <a:t>Word fMRI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/>
              <a:t>11 participants reading 672 isolated words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endParaRPr lang="en-US" sz="2000" b="0" dirty="0"/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sz="2000" dirty="0"/>
              <a:t>55% OPEN 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sz="2000" dirty="0"/>
              <a:t>45% </a:t>
            </a:r>
            <a:r>
              <a:rPr lang="en-US" altLang="zh-CN" sz="2000" dirty="0"/>
              <a:t>HIDDEN</a:t>
            </a:r>
            <a:endParaRPr lang="en-US" sz="2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882E92-52EB-48C0-89AE-D91C6CE59C9E}"/>
              </a:ext>
            </a:extLst>
          </p:cNvPr>
          <p:cNvSpPr>
            <a:spLocks noGrp="1"/>
          </p:cNvSpPr>
          <p:nvPr/>
        </p:nvSpPr>
        <p:spPr>
          <a:xfrm>
            <a:off x="6106757" y="2951997"/>
            <a:ext cx="19050" cy="31051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08B6B3-57A3-4AFD-8D00-6FD11339679D}"/>
              </a:ext>
            </a:extLst>
          </p:cNvPr>
          <p:cNvSpPr>
            <a:spLocks noGrp="1"/>
          </p:cNvSpPr>
          <p:nvPr/>
        </p:nvSpPr>
        <p:spPr>
          <a:xfrm>
            <a:off x="6755682" y="2880949"/>
            <a:ext cx="4702085" cy="9320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dirty="0"/>
              <a:t>Discourse fMRI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/>
              <a:t>12 participants listening to 60 stories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/>
              <a:t> 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dirty="0"/>
              <a:t>50% OPEN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dirty="0"/>
              <a:t>50% HIDDEN</a:t>
            </a:r>
          </a:p>
        </p:txBody>
      </p:sp>
    </p:spTree>
    <p:extLst>
      <p:ext uri="{BB962C8B-B14F-4D97-AF65-F5344CB8AC3E}">
        <p14:creationId xmlns:p14="http://schemas.microsoft.com/office/powerpoint/2010/main" val="2777023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4-title">
            <a:extLst>
              <a:ext uri="{FF2B5EF4-FFF2-40B4-BE49-F238E27FC236}">
                <a16:creationId xmlns:a16="http://schemas.microsoft.com/office/drawing/2014/main" id="{ED4EF037-91C8-4FEA-AA2C-D87C9FEEBDAF}"/>
              </a:ext>
            </a:extLst>
          </p:cNvPr>
          <p:cNvSpPr>
            <a:spLocks noGrp="1"/>
          </p:cNvSpPr>
          <p:nvPr/>
        </p:nvSpPr>
        <p:spPr>
          <a:xfrm>
            <a:off x="685800" y="345831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9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4000" dirty="0"/>
              <a:t>HANZI Track</a:t>
            </a:r>
            <a:endParaRPr lang="en-US" altLang="zh-CN" sz="400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lide-4-top-rule">
            <a:extLst>
              <a:ext uri="{FF2B5EF4-FFF2-40B4-BE49-F238E27FC236}">
                <a16:creationId xmlns:a16="http://schemas.microsoft.com/office/drawing/2014/main" id="{31C64AA6-A017-40C0-B692-B8AE66CA2B32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1082040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7AAA3E-F043-4D63-929C-A4D782AAD594}"/>
              </a:ext>
            </a:extLst>
          </p:cNvPr>
          <p:cNvSpPr>
            <a:spLocks noGrp="1"/>
          </p:cNvSpPr>
          <p:nvPr/>
        </p:nvSpPr>
        <p:spPr>
          <a:xfrm>
            <a:off x="685800" y="1522175"/>
            <a:ext cx="4095206" cy="4607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sz="3200" dirty="0"/>
              <a:t>Structure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F8B493-8A10-4448-A3B5-DA6493B69CA1}"/>
              </a:ext>
            </a:extLst>
          </p:cNvPr>
          <p:cNvSpPr>
            <a:spLocks noGrp="1"/>
          </p:cNvSpPr>
          <p:nvPr/>
        </p:nvSpPr>
        <p:spPr>
          <a:xfrm>
            <a:off x="733424" y="2350355"/>
            <a:ext cx="4609285" cy="119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sz="2000" b="0" dirty="0"/>
              <a:t>Chinese character and its components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endParaRPr lang="en-US" sz="2000" b="0" dirty="0"/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sz="2000" b="0" dirty="0"/>
              <a:t>4000 minimal pairs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endParaRPr lang="en-US" altLang="zh-CN" sz="2000" b="0" dirty="0"/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dirty="0"/>
              <a:t>50% OPEN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dirty="0"/>
              <a:t>50% HIDDEN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endParaRPr lang="en-US" altLang="zh-CN" sz="2000" b="0" dirty="0"/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endParaRPr lang="en-US" sz="2000" dirty="0"/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endParaRPr lang="en-US" sz="2000" dirty="0"/>
          </a:p>
        </p:txBody>
      </p:sp>
      <p:sp>
        <p:nvSpPr>
          <p:cNvPr id="25" name="slide-4-footer-label">
            <a:extLst>
              <a:ext uri="{FF2B5EF4-FFF2-40B4-BE49-F238E27FC236}">
                <a16:creationId xmlns:a16="http://schemas.microsoft.com/office/drawing/2014/main" id="{4C13F1E4-67A4-4B01-8698-631EE193F524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5A9AE"/>
                </a:solidFill>
                <a:latin typeface="Arial"/>
                <a:ea typeface="Arial"/>
                <a:cs typeface="Arial"/>
              </a:rPr>
              <a:t>ChineseBabyLM  |  NLPCC 2026</a:t>
            </a:r>
          </a:p>
        </p:txBody>
      </p:sp>
      <p:sp>
        <p:nvSpPr>
          <p:cNvPr id="26" name="slide-4-footer-number">
            <a:extLst>
              <a:ext uri="{FF2B5EF4-FFF2-40B4-BE49-F238E27FC236}">
                <a16:creationId xmlns:a16="http://schemas.microsoft.com/office/drawing/2014/main" id="{F99695F2-4C5C-4675-B114-4511F4DF668C}"/>
              </a:ext>
            </a:extLst>
          </p:cNvPr>
          <p:cNvSpPr>
            <a:spLocks noGrp="1"/>
          </p:cNvSpPr>
          <p:nvPr/>
        </p:nvSpPr>
        <p:spPr>
          <a:xfrm>
            <a:off x="11001375" y="64674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dirty="0"/>
              <a:t>6</a:t>
            </a:r>
            <a:endParaRPr sz="105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C0C4154-C971-4A1E-A3E9-F761BCFE7869}"/>
              </a:ext>
            </a:extLst>
          </p:cNvPr>
          <p:cNvSpPr>
            <a:spLocks noGrp="1"/>
          </p:cNvSpPr>
          <p:nvPr/>
        </p:nvSpPr>
        <p:spPr>
          <a:xfrm>
            <a:off x="5861685" y="1808256"/>
            <a:ext cx="19050" cy="31051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818583-B4E6-41D6-9531-1B5D3F05EC00}"/>
              </a:ext>
            </a:extLst>
          </p:cNvPr>
          <p:cNvSpPr>
            <a:spLocks noGrp="1"/>
          </p:cNvSpPr>
          <p:nvPr/>
        </p:nvSpPr>
        <p:spPr>
          <a:xfrm>
            <a:off x="6484620" y="1497201"/>
            <a:ext cx="4095206" cy="4607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sz="3200" dirty="0"/>
              <a:t>Pinyin</a:t>
            </a:r>
            <a:endParaRPr sz="3200" b="1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7EC252F-E6C2-4844-89AA-A1483DCE1591}"/>
              </a:ext>
            </a:extLst>
          </p:cNvPr>
          <p:cNvSpPr>
            <a:spLocks noGrp="1"/>
          </p:cNvSpPr>
          <p:nvPr/>
        </p:nvSpPr>
        <p:spPr>
          <a:xfrm>
            <a:off x="6510745" y="2277140"/>
            <a:ext cx="5128261" cy="4006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/>
              <a:t>Pronunciation of Chinese character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endParaRPr lang="en-US" altLang="zh-CN" sz="2000" b="0" dirty="0"/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0" dirty="0"/>
              <a:t>4000 minimal pairs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endParaRPr lang="en-US" sz="2000" dirty="0"/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dirty="0"/>
              <a:t>50% OPEN</a:t>
            </a:r>
          </a:p>
          <a:p>
            <a:pPr>
              <a:lnSpc>
                <a:spcPct val="150000"/>
              </a:lnSpc>
              <a:defRPr sz="1200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dirty="0"/>
              <a:t>50% HIDDEN</a:t>
            </a:r>
          </a:p>
        </p:txBody>
      </p:sp>
    </p:spTree>
    <p:extLst>
      <p:ext uri="{BB962C8B-B14F-4D97-AF65-F5344CB8AC3E}">
        <p14:creationId xmlns:p14="http://schemas.microsoft.com/office/powerpoint/2010/main" val="3529761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3-title">
            <a:extLst>
              <a:ext uri="{FF2B5EF4-FFF2-40B4-BE49-F238E27FC236}">
                <a16:creationId xmlns:a16="http://schemas.microsoft.com/office/drawing/2014/main" id="{9317D7BB-CA89-413C-AD7F-195EC208124A}"/>
              </a:ext>
            </a:extLst>
          </p:cNvPr>
          <p:cNvSpPr>
            <a:spLocks noGrp="1"/>
          </p:cNvSpPr>
          <p:nvPr/>
        </p:nvSpPr>
        <p:spPr>
          <a:xfrm>
            <a:off x="698863" y="344260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4000" dirty="0"/>
              <a:t>Rules for Model Training</a:t>
            </a:r>
            <a:endParaRPr sz="4000" b="1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lide-3-top-rule">
            <a:extLst>
              <a:ext uri="{FF2B5EF4-FFF2-40B4-BE49-F238E27FC236}">
                <a16:creationId xmlns:a16="http://schemas.microsoft.com/office/drawing/2014/main" id="{30296450-1637-48DD-B96F-38B25E025940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1082040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B1D367-A35B-4E40-92A7-850890FAFAFF}"/>
              </a:ext>
            </a:extLst>
          </p:cNvPr>
          <p:cNvSpPr>
            <a:spLocks noGrp="1"/>
          </p:cNvSpPr>
          <p:nvPr/>
        </p:nvSpPr>
        <p:spPr>
          <a:xfrm>
            <a:off x="685799" y="1396731"/>
            <a:ext cx="4126039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50000"/>
              </a:lnSpc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80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1. Pretrain from scratch</a:t>
            </a:r>
            <a:endParaRPr lang="en-US" sz="280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50000"/>
              </a:lnSpc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9E1B32"/>
                </a:solidFill>
              </a:rPr>
              <a:t>2. Data Constraints</a:t>
            </a:r>
          </a:p>
          <a:p>
            <a:pPr>
              <a:lnSpc>
                <a:spcPct val="150000"/>
              </a:lnSpc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endParaRPr sz="280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271C56-F842-4474-8D45-590CD39137A9}"/>
              </a:ext>
            </a:extLst>
          </p:cNvPr>
          <p:cNvSpPr>
            <a:spLocks noGrp="1"/>
          </p:cNvSpPr>
          <p:nvPr/>
        </p:nvSpPr>
        <p:spPr>
          <a:xfrm>
            <a:off x="715081" y="2973173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lang="en-US" sz="2400" dirty="0"/>
              <a:t>Data Option 1</a:t>
            </a:r>
            <a:endParaRPr sz="2400" b="1" dirty="0">
              <a:solidFill>
                <a:srgbClr val="C49A2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5681C2-D55B-4D11-92AA-B58916CBB8B9}"/>
              </a:ext>
            </a:extLst>
          </p:cNvPr>
          <p:cNvSpPr>
            <a:spLocks noGrp="1"/>
          </p:cNvSpPr>
          <p:nvPr/>
        </p:nvSpPr>
        <p:spPr>
          <a:xfrm>
            <a:off x="715081" y="3505730"/>
            <a:ext cx="2736148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13000"/>
              </a:lnSpc>
              <a:buNone/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sz="2000" dirty="0">
                <a:solidFill>
                  <a:srgbClr val="686E75"/>
                </a:solidFill>
                <a:latin typeface="Arial"/>
                <a:ea typeface="Arial"/>
                <a:cs typeface="Arial"/>
              </a:rPr>
              <a:t>Official </a:t>
            </a:r>
            <a:r>
              <a:rPr lang="en-US" sz="2000" dirty="0">
                <a:solidFill>
                  <a:srgbClr val="686E75"/>
                </a:solidFill>
                <a:latin typeface="Arial"/>
                <a:ea typeface="Arial"/>
                <a:cs typeface="Arial"/>
              </a:rPr>
              <a:t>102M-word training corpus, sampled from </a:t>
            </a:r>
            <a:r>
              <a:rPr lang="en-US" sz="2000" dirty="0"/>
              <a:t>the Chinese portion of </a:t>
            </a:r>
            <a:r>
              <a:rPr sz="2000" dirty="0" err="1">
                <a:solidFill>
                  <a:srgbClr val="686E75"/>
                </a:solidFill>
                <a:latin typeface="Arial"/>
                <a:ea typeface="Arial"/>
                <a:cs typeface="Arial"/>
              </a:rPr>
              <a:t>BabyBabelLM</a:t>
            </a:r>
            <a:endParaRPr sz="2000" dirty="0">
              <a:solidFill>
                <a:srgbClr val="686E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ide-3-footer-label">
            <a:extLst>
              <a:ext uri="{FF2B5EF4-FFF2-40B4-BE49-F238E27FC236}">
                <a16:creationId xmlns:a16="http://schemas.microsoft.com/office/drawing/2014/main" id="{05780473-874D-43CA-BC67-8B40A2944E6D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5A9AE"/>
                </a:solidFill>
                <a:latin typeface="Arial"/>
                <a:ea typeface="Arial"/>
                <a:cs typeface="Arial"/>
              </a:rPr>
              <a:t>ChineseBabyLM  |  NLPCC 2026</a:t>
            </a:r>
          </a:p>
        </p:txBody>
      </p:sp>
      <p:sp>
        <p:nvSpPr>
          <p:cNvPr id="28" name="slide-3-footer-number">
            <a:extLst>
              <a:ext uri="{FF2B5EF4-FFF2-40B4-BE49-F238E27FC236}">
                <a16:creationId xmlns:a16="http://schemas.microsoft.com/office/drawing/2014/main" id="{5E589268-5E7D-43AE-A9E0-9A7BD01A2A97}"/>
              </a:ext>
            </a:extLst>
          </p:cNvPr>
          <p:cNvSpPr>
            <a:spLocks noGrp="1"/>
          </p:cNvSpPr>
          <p:nvPr/>
        </p:nvSpPr>
        <p:spPr>
          <a:xfrm>
            <a:off x="11001375" y="64674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05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7</a:t>
            </a:r>
            <a:endParaRPr sz="105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A92F37-9D31-47CA-88AE-AD3A809D1B71}"/>
              </a:ext>
            </a:extLst>
          </p:cNvPr>
          <p:cNvSpPr>
            <a:spLocks noGrp="1"/>
          </p:cNvSpPr>
          <p:nvPr/>
        </p:nvSpPr>
        <p:spPr>
          <a:xfrm>
            <a:off x="3900847" y="2960201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lang="en-US" sz="2400" dirty="0"/>
              <a:t>Data Option 2</a:t>
            </a:r>
            <a:endParaRPr sz="2400" b="1" dirty="0">
              <a:solidFill>
                <a:srgbClr val="C49A2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7F20882-DE28-4C59-82BB-CAE40AF03231}"/>
              </a:ext>
            </a:extLst>
          </p:cNvPr>
          <p:cNvSpPr>
            <a:spLocks noGrp="1"/>
          </p:cNvSpPr>
          <p:nvPr/>
        </p:nvSpPr>
        <p:spPr>
          <a:xfrm>
            <a:off x="3916001" y="3492758"/>
            <a:ext cx="2725347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13000"/>
              </a:lnSpc>
              <a:buNone/>
              <a:defRPr sz="1500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lang="en-US" sz="2000" dirty="0">
                <a:solidFill>
                  <a:srgbClr val="686E75"/>
                </a:solidFill>
                <a:latin typeface="Arial"/>
                <a:ea typeface="Arial"/>
                <a:cs typeface="Arial"/>
              </a:rPr>
              <a:t>Self-compiled corpus. </a:t>
            </a:r>
            <a:r>
              <a:rPr lang="en-US" sz="2000" dirty="0"/>
              <a:t>No more than 102M words calculated using  </a:t>
            </a:r>
            <a:r>
              <a:rPr lang="en-US" sz="2000" dirty="0" err="1"/>
              <a:t>Jieba</a:t>
            </a:r>
            <a:r>
              <a:rPr lang="en-US" sz="2000" dirty="0"/>
              <a:t> 0.42.1 (default mode)</a:t>
            </a:r>
            <a:endParaRPr sz="2000" dirty="0">
              <a:solidFill>
                <a:srgbClr val="686E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55F3852-3DFE-454E-A324-E726D3F289AE}"/>
              </a:ext>
            </a:extLst>
          </p:cNvPr>
          <p:cNvSpPr>
            <a:spLocks noGrp="1"/>
          </p:cNvSpPr>
          <p:nvPr/>
        </p:nvSpPr>
        <p:spPr>
          <a:xfrm flipH="1">
            <a:off x="6859171" y="1664546"/>
            <a:ext cx="10800" cy="432000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6E08FA9-A7E8-4CC7-952D-EEB154CDF1BE}"/>
              </a:ext>
            </a:extLst>
          </p:cNvPr>
          <p:cNvSpPr>
            <a:spLocks noGrp="1"/>
          </p:cNvSpPr>
          <p:nvPr/>
        </p:nvSpPr>
        <p:spPr>
          <a:xfrm>
            <a:off x="7286625" y="1317486"/>
            <a:ext cx="4126039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50000"/>
              </a:lnSpc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80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Open Design Space</a:t>
            </a:r>
            <a:endParaRPr lang="en-US" altLang="zh-CN" sz="240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50000"/>
              </a:lnSpc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lang="en-US" sz="2400" dirty="0">
                <a:solidFill>
                  <a:srgbClr val="20242A"/>
                </a:solidFill>
              </a:rPr>
              <a:t>Tokenizer</a:t>
            </a:r>
          </a:p>
          <a:p>
            <a:pPr>
              <a:lnSpc>
                <a:spcPct val="150000"/>
              </a:lnSpc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Architecture</a:t>
            </a:r>
          </a:p>
          <a:p>
            <a:pPr>
              <a:lnSpc>
                <a:spcPct val="150000"/>
              </a:lnSpc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lang="en-US" sz="2400" dirty="0">
                <a:solidFill>
                  <a:srgbClr val="20242A"/>
                </a:solidFill>
              </a:rPr>
              <a:t>Model Scale</a:t>
            </a:r>
          </a:p>
          <a:p>
            <a:pPr>
              <a:lnSpc>
                <a:spcPct val="150000"/>
              </a:lnSpc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Training Strategy</a:t>
            </a:r>
          </a:p>
          <a:p>
            <a:pPr>
              <a:lnSpc>
                <a:spcPct val="150000"/>
              </a:lnSpc>
              <a:defRPr sz="105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lang="en-US" sz="2400" dirty="0">
                <a:solidFill>
                  <a:srgbClr val="20242A"/>
                </a:solidFill>
              </a:rPr>
              <a:t>…</a:t>
            </a:r>
            <a:endParaRPr lang="en-US" sz="2400" b="1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1212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5-title">
            <a:extLst>
              <a:ext uri="{FF2B5EF4-FFF2-40B4-BE49-F238E27FC236}">
                <a16:creationId xmlns:a16="http://schemas.microsoft.com/office/drawing/2014/main" id="{78A583D8-32CC-4F33-B0B4-B24608150094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lang="en-US" sz="40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Final Results</a:t>
            </a:r>
            <a:endParaRPr sz="4000" b="1" dirty="0">
              <a:solidFill>
                <a:srgbClr val="2024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lide-5-top-rule">
            <a:extLst>
              <a:ext uri="{FF2B5EF4-FFF2-40B4-BE49-F238E27FC236}">
                <a16:creationId xmlns:a16="http://schemas.microsoft.com/office/drawing/2014/main" id="{F390E3A6-536F-44BF-8D35-E6B2786B4B10}"/>
              </a:ext>
            </a:extLst>
          </p:cNvPr>
          <p:cNvSpPr>
            <a:spLocks noGrp="1"/>
          </p:cNvSpPr>
          <p:nvPr/>
        </p:nvSpPr>
        <p:spPr>
          <a:xfrm>
            <a:off x="7517695" y="743764"/>
            <a:ext cx="432000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D781C5-7393-4663-8BDC-322B8ECEE64C}"/>
              </a:ext>
            </a:extLst>
          </p:cNvPr>
          <p:cNvSpPr>
            <a:spLocks noGrp="1"/>
          </p:cNvSpPr>
          <p:nvPr/>
        </p:nvSpPr>
        <p:spPr>
          <a:xfrm>
            <a:off x="7308687" y="1067614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006372-47FD-4D10-8B7D-392A95FC54B9}"/>
              </a:ext>
            </a:extLst>
          </p:cNvPr>
          <p:cNvSpPr>
            <a:spLocks noGrp="1"/>
          </p:cNvSpPr>
          <p:nvPr/>
        </p:nvSpPr>
        <p:spPr>
          <a:xfrm>
            <a:off x="7308687" y="1639114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86E75"/>
                </a:solidFill>
                <a:latin typeface="Arial"/>
                <a:ea typeface="Arial"/>
                <a:cs typeface="Arial"/>
              </a:rPr>
              <a:t>TEAMS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934118-7B31-4E44-A216-A1B15DC64FDE}"/>
              </a:ext>
            </a:extLst>
          </p:cNvPr>
          <p:cNvSpPr>
            <a:spLocks noGrp="1"/>
          </p:cNvSpPr>
          <p:nvPr/>
        </p:nvSpPr>
        <p:spPr>
          <a:xfrm>
            <a:off x="9687213" y="1067614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36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2327B5-A3E5-4056-8700-7AFDF12097C1}"/>
              </a:ext>
            </a:extLst>
          </p:cNvPr>
          <p:cNvSpPr>
            <a:spLocks noGrp="1"/>
          </p:cNvSpPr>
          <p:nvPr/>
        </p:nvSpPr>
        <p:spPr>
          <a:xfrm>
            <a:off x="9687213" y="1639114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25" b="1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lang="en-US" sz="1425" b="1" dirty="0">
                <a:solidFill>
                  <a:srgbClr val="686E75"/>
                </a:solidFill>
                <a:latin typeface="Arial"/>
                <a:ea typeface="Arial"/>
                <a:cs typeface="Arial"/>
              </a:rPr>
              <a:t>SUBMISSIONS</a:t>
            </a:r>
            <a:endParaRPr sz="1425" b="1" dirty="0">
              <a:solidFill>
                <a:srgbClr val="686E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02FB94-3BDF-4445-9EC1-357994F05CF4}"/>
              </a:ext>
            </a:extLst>
          </p:cNvPr>
          <p:cNvSpPr>
            <a:spLocks noGrp="1"/>
          </p:cNvSpPr>
          <p:nvPr/>
        </p:nvSpPr>
        <p:spPr>
          <a:xfrm>
            <a:off x="7517695" y="2105839"/>
            <a:ext cx="432000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8C469D-7BD9-4130-803D-9850CF3AD926}"/>
              </a:ext>
            </a:extLst>
          </p:cNvPr>
          <p:cNvSpPr>
            <a:spLocks noGrp="1"/>
          </p:cNvSpPr>
          <p:nvPr/>
        </p:nvSpPr>
        <p:spPr>
          <a:xfrm>
            <a:off x="685800" y="1315809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Overall leaderboard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E6E1C027-7FE9-4550-87A5-4F8B1A6983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7352010"/>
              </p:ext>
            </p:extLst>
          </p:nvPr>
        </p:nvGraphicFramePr>
        <p:xfrm>
          <a:off x="685800" y="1944115"/>
          <a:ext cx="6394269" cy="3915730"/>
        </p:xfrm>
        <a:graphic>
          <a:graphicData uri="http://schemas.openxmlformats.org/drawingml/2006/table">
            <a:tbl>
              <a:tblPr firstRow="1"/>
              <a:tblGrid>
                <a:gridCol w="751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3383">
                  <a:extLst>
                    <a:ext uri="{9D8B030D-6E8A-4147-A177-3AD203B41FA5}">
                      <a16:colId xmlns:a16="http://schemas.microsoft.com/office/drawing/2014/main" val="3148030153"/>
                    </a:ext>
                  </a:extLst>
                </a:gridCol>
                <a:gridCol w="1332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686E75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Rank</a:t>
                      </a:r>
                    </a:p>
                  </a:txBody>
                  <a:tcPr anchor="ctr">
                    <a:lnL w="9525">
                      <a:solidFill>
                        <a:srgbClr val="D9D7D2"/>
                      </a:solidFill>
                      <a:prstDash val="soli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>
                      <a:solidFill>
                        <a:srgbClr val="D9D7D2"/>
                      </a:solidFill>
                      <a:prstDash val="solid"/>
                    </a:lnT>
                    <a:lnB w="9525">
                      <a:solidFill>
                        <a:srgbClr val="D9D7D2"/>
                      </a:solidFill>
                      <a:prstDash val="soli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686E75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Team</a:t>
                      </a:r>
                      <a:endParaRPr sz="1800" b="1" dirty="0">
                        <a:solidFill>
                          <a:srgbClr val="686E75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>
                      <a:solidFill>
                        <a:srgbClr val="D9D7D2"/>
                      </a:solidFill>
                      <a:prstDash val="solid"/>
                    </a:lnT>
                    <a:lnB w="9525">
                      <a:solidFill>
                        <a:srgbClr val="D9D7D2"/>
                      </a:solidFill>
                      <a:prstDash val="soli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>
                          <a:solidFill>
                            <a:srgbClr val="686E75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Institution</a:t>
                      </a:r>
                      <a:endParaRPr sz="1800" b="1" dirty="0">
                        <a:solidFill>
                          <a:srgbClr val="686E75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>
                      <a:solidFill>
                        <a:srgbClr val="D9D7D2"/>
                      </a:solidFill>
                      <a:prstDash val="soli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686E75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Overall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>
                      <a:solidFill>
                        <a:srgbClr val="D9D7D2"/>
                      </a:solidFill>
                      <a:prstDash val="soli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9525">
                      <a:solidFill>
                        <a:srgbClr val="D9D7D2"/>
                      </a:solidFill>
                      <a:prstDash val="soli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7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BabyDragon</a:t>
                      </a:r>
                      <a:endParaRPr sz="1800" b="0" dirty="0">
                        <a:solidFill>
                          <a:srgbClr val="20242A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7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dirty="0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University of Chinese Academy of Sciences</a:t>
                      </a: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8A182B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61.49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9525">
                      <a:solidFill>
                        <a:srgbClr val="D9D7D2"/>
                      </a:solidFill>
                      <a:prstDash val="soli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7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OK</a:t>
                      </a:r>
                      <a:r>
                        <a:rPr lang="zh-CN" altLang="en-US" sz="1800" b="0" dirty="0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的老大</a:t>
                      </a:r>
                      <a:endParaRPr sz="1800" b="0" dirty="0">
                        <a:solidFill>
                          <a:srgbClr val="20242A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7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Fudan University</a:t>
                      </a:r>
                      <a:endParaRPr sz="1800" b="0" dirty="0">
                        <a:solidFill>
                          <a:srgbClr val="20242A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A23449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57.79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9525">
                      <a:solidFill>
                        <a:srgbClr val="D9D7D2"/>
                      </a:solidFill>
                      <a:prstDash val="soli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TUM Campus Heilbronn</a:t>
                      </a:r>
                      <a:endParaRPr sz="1800" b="0" dirty="0">
                        <a:solidFill>
                          <a:srgbClr val="20242A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Technical University of Munich</a:t>
                      </a:r>
                      <a:endParaRPr sz="1800" b="0" dirty="0">
                        <a:solidFill>
                          <a:srgbClr val="20242A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B43A50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54.90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4</a:t>
                      </a:r>
                      <a:endParaRPr sz="1800" b="1" dirty="0">
                        <a:solidFill>
                          <a:srgbClr val="20242A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7D2"/>
                      </a:solidFill>
                      <a:prstDash val="solid"/>
                    </a:lnL>
                    <a:lnR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dirty="0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SMI</a:t>
                      </a:r>
                      <a:endParaRPr sz="1800" b="0" dirty="0">
                        <a:solidFill>
                          <a:srgbClr val="20242A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Jiangsu Normal University</a:t>
                      </a:r>
                      <a:endParaRPr sz="1800" b="0" dirty="0">
                        <a:solidFill>
                          <a:srgbClr val="20242A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49A2C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51.77</a:t>
                      </a:r>
                      <a:endParaRPr sz="1800" b="1" dirty="0">
                        <a:solidFill>
                          <a:srgbClr val="C49A2C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46056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5</a:t>
                      </a:r>
                      <a:endParaRPr sz="1800" b="1" dirty="0">
                        <a:solidFill>
                          <a:srgbClr val="20242A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7D2"/>
                      </a:solidFill>
                      <a:prstDash val="solid"/>
                    </a:lnL>
                    <a:lnR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7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solidFill>
                            <a:srgbClr val="20242A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lampa</a:t>
                      </a:r>
                      <a:endParaRPr sz="1800" b="0" dirty="0">
                        <a:solidFill>
                          <a:srgbClr val="20242A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7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University of Cambridge</a:t>
                      </a:r>
                      <a:endParaRPr sz="1800" b="0" dirty="0">
                        <a:solidFill>
                          <a:srgbClr val="20242A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7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49A2C"/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50.37</a:t>
                      </a:r>
                      <a:endParaRPr sz="1800" b="1" dirty="0">
                        <a:solidFill>
                          <a:srgbClr val="C49A2C"/>
                        </a:solidFill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7D2"/>
                      </a:solidFill>
                      <a:prstDash val="solid"/>
                    </a:lnR>
                    <a:lnT w="9525" cap="flat" cmpd="sng" algn="ctr">
                      <a:solidFill>
                        <a:srgbClr val="D9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7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071320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8B7FFE86-CBEA-4BDD-9B93-8DC26D71C9A5}"/>
              </a:ext>
            </a:extLst>
          </p:cNvPr>
          <p:cNvSpPr>
            <a:spLocks noGrp="1"/>
          </p:cNvSpPr>
          <p:nvPr/>
        </p:nvSpPr>
        <p:spPr>
          <a:xfrm>
            <a:off x="7579453" y="2536640"/>
            <a:ext cx="19050" cy="396000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57DA81-6A84-4ED0-98F9-E4915D738D5F}"/>
              </a:ext>
            </a:extLst>
          </p:cNvPr>
          <p:cNvSpPr>
            <a:spLocks noGrp="1"/>
          </p:cNvSpPr>
          <p:nvPr/>
        </p:nvSpPr>
        <p:spPr>
          <a:xfrm>
            <a:off x="7939087" y="2377979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Track winners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9D23AD4-2267-4240-A4C7-1F95B7FF46CF}"/>
              </a:ext>
            </a:extLst>
          </p:cNvPr>
          <p:cNvSpPr>
            <a:spLocks noGrp="1"/>
          </p:cNvSpPr>
          <p:nvPr/>
        </p:nvSpPr>
        <p:spPr>
          <a:xfrm>
            <a:off x="7938612" y="2964723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C49A2C"/>
                </a:solidFill>
                <a:latin typeface="Arial"/>
                <a:ea typeface="Arial"/>
                <a:cs typeface="Arial"/>
              </a:rPr>
              <a:t>NLU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1CAAD3-6832-496E-B5F3-884D0858D2BF}"/>
              </a:ext>
            </a:extLst>
          </p:cNvPr>
          <p:cNvSpPr>
            <a:spLocks noGrp="1"/>
          </p:cNvSpPr>
          <p:nvPr/>
        </p:nvSpPr>
        <p:spPr>
          <a:xfrm>
            <a:off x="7950927" y="3428460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1" dirty="0"/>
              <a:t>YNU-HPCC</a:t>
            </a:r>
            <a:r>
              <a:rPr lang="en-US" altLang="zh-CN" sz="2000" dirty="0"/>
              <a:t> </a:t>
            </a:r>
            <a:endParaRPr sz="1800" b="1" dirty="0">
              <a:solidFill>
                <a:srgbClr val="23334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8EA3EB-CBFA-48BE-A315-7025D07BCDD6}"/>
              </a:ext>
            </a:extLst>
          </p:cNvPr>
          <p:cNvSpPr>
            <a:spLocks noGrp="1"/>
          </p:cNvSpPr>
          <p:nvPr/>
        </p:nvSpPr>
        <p:spPr>
          <a:xfrm>
            <a:off x="10351906" y="3106318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60.99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71EC079-127E-466B-B4E5-F985D7A3C935}"/>
              </a:ext>
            </a:extLst>
          </p:cNvPr>
          <p:cNvSpPr>
            <a:spLocks noGrp="1"/>
          </p:cNvSpPr>
          <p:nvPr/>
        </p:nvSpPr>
        <p:spPr>
          <a:xfrm>
            <a:off x="7894456" y="3904859"/>
            <a:ext cx="3314700" cy="9525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2AC653-3BC4-4600-AF49-E06B1656845B}"/>
              </a:ext>
            </a:extLst>
          </p:cNvPr>
          <p:cNvSpPr>
            <a:spLocks noGrp="1"/>
          </p:cNvSpPr>
          <p:nvPr/>
        </p:nvSpPr>
        <p:spPr>
          <a:xfrm>
            <a:off x="7938612" y="4155792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C49A2C"/>
                </a:solidFill>
                <a:latin typeface="Arial"/>
                <a:ea typeface="Arial"/>
                <a:cs typeface="Arial"/>
              </a:rPr>
              <a:t>COGNITIVE MODELING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62E12B-1A17-4FFC-A7EE-8CE44B125BF0}"/>
              </a:ext>
            </a:extLst>
          </p:cNvPr>
          <p:cNvSpPr>
            <a:spLocks noGrp="1"/>
          </p:cNvSpPr>
          <p:nvPr/>
        </p:nvSpPr>
        <p:spPr>
          <a:xfrm>
            <a:off x="7938612" y="4586947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dirty="0" err="1"/>
              <a:t>Deepscientist</a:t>
            </a:r>
            <a:endParaRPr sz="1800" b="1" dirty="0">
              <a:solidFill>
                <a:srgbClr val="23334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D7A2900-00AE-48B4-8108-CBC1C132865F}"/>
              </a:ext>
            </a:extLst>
          </p:cNvPr>
          <p:cNvSpPr>
            <a:spLocks noGrp="1"/>
          </p:cNvSpPr>
          <p:nvPr/>
        </p:nvSpPr>
        <p:spPr>
          <a:xfrm>
            <a:off x="10396537" y="4385481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33.96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15E774-87D8-4708-959A-1A768D504F88}"/>
              </a:ext>
            </a:extLst>
          </p:cNvPr>
          <p:cNvSpPr>
            <a:spLocks noGrp="1"/>
          </p:cNvSpPr>
          <p:nvPr/>
        </p:nvSpPr>
        <p:spPr>
          <a:xfrm>
            <a:off x="7938612" y="5123067"/>
            <a:ext cx="3314700" cy="9525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52157E-9DB6-4C34-AB37-280CFF909B5B}"/>
              </a:ext>
            </a:extLst>
          </p:cNvPr>
          <p:cNvSpPr>
            <a:spLocks noGrp="1"/>
          </p:cNvSpPr>
          <p:nvPr/>
        </p:nvSpPr>
        <p:spPr>
          <a:xfrm>
            <a:off x="7938612" y="5385739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C49A2C"/>
                </a:solidFill>
                <a:latin typeface="Arial"/>
                <a:ea typeface="Arial"/>
                <a:cs typeface="Arial"/>
              </a:rPr>
              <a:t>HANZI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4F89B00-D52C-4C71-B88A-17D574A5B3AD}"/>
              </a:ext>
            </a:extLst>
          </p:cNvPr>
          <p:cNvSpPr>
            <a:spLocks noGrp="1"/>
          </p:cNvSpPr>
          <p:nvPr/>
        </p:nvSpPr>
        <p:spPr>
          <a:xfrm>
            <a:off x="7948137" y="5841913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1">
                <a:solidFill>
                  <a:srgbClr val="23334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00" b="1" dirty="0" err="1"/>
              <a:t>BabyDragon</a:t>
            </a:r>
            <a:r>
              <a:rPr lang="en-US" altLang="zh-CN" sz="2000" dirty="0"/>
              <a:t> </a:t>
            </a:r>
            <a:endParaRPr sz="1800" b="1" dirty="0">
              <a:solidFill>
                <a:srgbClr val="23334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5A9E174-8E5A-4DD5-B8F8-DF8480529B65}"/>
              </a:ext>
            </a:extLst>
          </p:cNvPr>
          <p:cNvSpPr>
            <a:spLocks noGrp="1"/>
          </p:cNvSpPr>
          <p:nvPr/>
        </p:nvSpPr>
        <p:spPr>
          <a:xfrm>
            <a:off x="10396537" y="5584083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91.56</a:t>
            </a:r>
          </a:p>
        </p:txBody>
      </p:sp>
      <p:sp>
        <p:nvSpPr>
          <p:cNvPr id="27" name="slide-5-footer-label">
            <a:extLst>
              <a:ext uri="{FF2B5EF4-FFF2-40B4-BE49-F238E27FC236}">
                <a16:creationId xmlns:a16="http://schemas.microsoft.com/office/drawing/2014/main" id="{20797D32-8797-45F9-B224-FE51E70EB433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5A9AE"/>
                </a:solidFill>
                <a:latin typeface="Arial"/>
                <a:ea typeface="Arial"/>
                <a:cs typeface="Arial"/>
              </a:rPr>
              <a:t>ChineseBabyLM  |  NLPCC 2026</a:t>
            </a:r>
          </a:p>
        </p:txBody>
      </p:sp>
      <p:sp>
        <p:nvSpPr>
          <p:cNvPr id="28" name="slide-5-footer-number">
            <a:extLst>
              <a:ext uri="{FF2B5EF4-FFF2-40B4-BE49-F238E27FC236}">
                <a16:creationId xmlns:a16="http://schemas.microsoft.com/office/drawing/2014/main" id="{80796F6F-A4FB-4DFF-A293-27DD13AF38AF}"/>
              </a:ext>
            </a:extLst>
          </p:cNvPr>
          <p:cNvSpPr>
            <a:spLocks noGrp="1"/>
          </p:cNvSpPr>
          <p:nvPr/>
        </p:nvSpPr>
        <p:spPr>
          <a:xfrm>
            <a:off x="11001375" y="64674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050" b="1" dirty="0">
                <a:solidFill>
                  <a:srgbClr val="9E1B32"/>
                </a:solidFill>
                <a:latin typeface="Arial"/>
                <a:ea typeface="Arial"/>
                <a:cs typeface="Arial"/>
              </a:rPr>
              <a:t>8</a:t>
            </a:r>
            <a:endParaRPr sz="1050" b="1" dirty="0">
              <a:solidFill>
                <a:srgbClr val="9E1B3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8430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6-title">
            <a:extLst>
              <a:ext uri="{FF2B5EF4-FFF2-40B4-BE49-F238E27FC236}">
                <a16:creationId xmlns:a16="http://schemas.microsoft.com/office/drawing/2014/main" id="{777AF88B-55C0-40E7-8312-BE0E44927BE1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Submitted model statistics</a:t>
            </a:r>
          </a:p>
        </p:txBody>
      </p:sp>
      <p:sp>
        <p:nvSpPr>
          <p:cNvPr id="2" name="slide-6-top-rule">
            <a:extLst>
              <a:ext uri="{FF2B5EF4-FFF2-40B4-BE49-F238E27FC236}">
                <a16:creationId xmlns:a16="http://schemas.microsoft.com/office/drawing/2014/main" id="{3229FEB6-FD13-4832-8958-79A419ABA061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1082040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5D9788-F5CB-4888-8818-B58A073C824A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Architecture family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6EE92B-D7F9-4136-BA42-2DB8B43D7B8E}"/>
              </a:ext>
            </a:extLst>
          </p:cNvPr>
          <p:cNvSpPr>
            <a:spLocks noGrp="1"/>
          </p:cNvSpPr>
          <p:nvPr/>
        </p:nvSpPr>
        <p:spPr>
          <a:xfrm>
            <a:off x="5829300" y="1390650"/>
            <a:ext cx="19050" cy="213360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B87B9E-F7E7-417C-9DA5-7A6E0510003A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1082040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58005F-E941-4149-9F69-FA006C296454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Score variance by track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1A0590-86F3-4121-BEDC-506563A97E8B}"/>
              </a:ext>
            </a:extLst>
          </p:cNvPr>
          <p:cNvSpPr>
            <a:spLocks noGrp="1"/>
          </p:cNvSpPr>
          <p:nvPr/>
        </p:nvSpPr>
        <p:spPr>
          <a:xfrm>
            <a:off x="9039225" y="45243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C49A2C"/>
                </a:solidFill>
                <a:latin typeface="Arial"/>
                <a:ea typeface="Arial"/>
                <a:cs typeface="Arial"/>
              </a:rPr>
              <a:t>Valid submissions only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96F9FF-2D73-4C9A-BF2F-BB20D83396F4}"/>
              </a:ext>
            </a:extLst>
          </p:cNvPr>
          <p:cNvSpPr>
            <a:spLocks noGrp="1"/>
          </p:cNvSpPr>
          <p:nvPr/>
        </p:nvSpPr>
        <p:spPr>
          <a:xfrm>
            <a:off x="9039225" y="4838700"/>
            <a:ext cx="2190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02000"/>
              </a:lnSpc>
              <a:buNone/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E1B32"/>
                </a:solidFill>
                <a:latin typeface="Arial"/>
                <a:ea typeface="Arial"/>
                <a:cs typeface="Arial"/>
              </a:rPr>
              <a:t>Hanzi strongly</a:t>
            </a:r>
          </a:p>
          <a:p>
            <a:pPr>
              <a:lnSpc>
                <a:spcPct val="102000"/>
              </a:lnSpc>
              <a:buNone/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E1B32"/>
                </a:solidFill>
                <a:latin typeface="Arial"/>
                <a:ea typeface="Arial"/>
                <a:cs typeface="Arial"/>
              </a:rPr>
              <a:t>separated the</a:t>
            </a:r>
          </a:p>
          <a:p>
            <a:pPr>
              <a:lnSpc>
                <a:spcPct val="102000"/>
              </a:lnSpc>
              <a:buNone/>
              <a:defRPr sz="202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E1B32"/>
                </a:solidFill>
                <a:latin typeface="Arial"/>
                <a:ea typeface="Arial"/>
                <a:cs typeface="Arial"/>
              </a:rPr>
              <a:t>final ranking</a:t>
            </a:r>
          </a:p>
        </p:txBody>
      </p:sp>
      <p:sp>
        <p:nvSpPr>
          <p:cNvPr id="16" name="slide-6-footer-label">
            <a:extLst>
              <a:ext uri="{FF2B5EF4-FFF2-40B4-BE49-F238E27FC236}">
                <a16:creationId xmlns:a16="http://schemas.microsoft.com/office/drawing/2014/main" id="{49AC2715-0AD9-4FB0-8346-8E29CCDD9FC7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5A9AE"/>
                </a:solidFill>
                <a:latin typeface="Arial"/>
                <a:ea typeface="Arial"/>
                <a:cs typeface="Arial"/>
              </a:rPr>
              <a:t>ChineseBabyLM  |  NLPCC 2026</a:t>
            </a:r>
          </a:p>
        </p:txBody>
      </p:sp>
      <p:sp>
        <p:nvSpPr>
          <p:cNvPr id="17" name="slide-6-footer-number">
            <a:extLst>
              <a:ext uri="{FF2B5EF4-FFF2-40B4-BE49-F238E27FC236}">
                <a16:creationId xmlns:a16="http://schemas.microsoft.com/office/drawing/2014/main" id="{AAF80F03-952B-4993-9B88-DDD5B161FA8A}"/>
              </a:ext>
            </a:extLst>
          </p:cNvPr>
          <p:cNvSpPr>
            <a:spLocks noGrp="1"/>
          </p:cNvSpPr>
          <p:nvPr/>
        </p:nvSpPr>
        <p:spPr>
          <a:xfrm>
            <a:off x="11001375" y="64674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E1B3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0" name="model-size-title">
            <a:extLst>
              <a:ext uri="{FF2B5EF4-FFF2-40B4-BE49-F238E27FC236}">
                <a16:creationId xmlns:a16="http://schemas.microsoft.com/office/drawing/2014/main" id="{5A2212EC-C42E-40DF-8674-DC7468CF724F}"/>
              </a:ext>
            </a:extLst>
          </p:cNvPr>
          <p:cNvSpPr>
            <a:spLocks noGrp="1"/>
          </p:cNvSpPr>
          <p:nvPr/>
        </p:nvSpPr>
        <p:spPr>
          <a:xfrm>
            <a:off x="6238875" y="137160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0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Reported parameter count</a:t>
            </a:r>
          </a:p>
        </p:txBody>
      </p:sp>
      <p:sp>
        <p:nvSpPr>
          <p:cNvPr id="22" name="model-size-note">
            <a:extLst>
              <a:ext uri="{FF2B5EF4-FFF2-40B4-BE49-F238E27FC236}">
                <a16:creationId xmlns:a16="http://schemas.microsoft.com/office/drawing/2014/main" id="{305B3C7C-68D7-4AA4-B148-1C096E3584F1}"/>
              </a:ext>
            </a:extLst>
          </p:cNvPr>
          <p:cNvSpPr>
            <a:spLocks noGrp="1"/>
          </p:cNvSpPr>
          <p:nvPr/>
        </p:nvSpPr>
        <p:spPr>
          <a:xfrm>
            <a:off x="6238875" y="34766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050" i="1">
                <a:solidFill>
                  <a:srgbClr val="A5A9A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i="1">
                <a:solidFill>
                  <a:srgbClr val="A5A9A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i="1">
                <a:solidFill>
                  <a:srgbClr val="A5A9A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i="1">
                <a:solidFill>
                  <a:srgbClr val="A5A9A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i="1">
                <a:solidFill>
                  <a:srgbClr val="A5A9A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i="1">
                <a:solidFill>
                  <a:srgbClr val="A5A9A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i="1">
                <a:solidFill>
                  <a:srgbClr val="A5A9A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i="1">
                <a:solidFill>
                  <a:srgbClr val="A5A9A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i="1">
                <a:solidFill>
                  <a:srgbClr val="A5A9A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i="1">
                <a:solidFill>
                  <a:srgbClr val="A5A9A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i="1">
                <a:solidFill>
                  <a:srgbClr val="A5A9AE"/>
                </a:solidFill>
                <a:latin typeface="Arial"/>
                <a:ea typeface="Arial"/>
                <a:cs typeface="Arial"/>
              </a:defRPr>
            </a:pPr>
            <a:r>
              <a:rPr sz="1050" i="1">
                <a:solidFill>
                  <a:srgbClr val="A5A9AE"/>
                </a:solidFill>
                <a:latin typeface="Arial"/>
                <a:ea typeface="Arial"/>
                <a:cs typeface="Arial"/>
              </a:rPr>
              <a:t>14 of 18 ranked systems reported parameter counts</a:t>
            </a:r>
          </a:p>
        </p:txBody>
      </p:sp>
      <p:graphicFrame>
        <p:nvGraphicFramePr>
          <p:cNvPr id="23" name="Chart">
            <a:extLst>
              <a:ext uri="{FF2B5EF4-FFF2-40B4-BE49-F238E27FC236}">
                <a16:creationId xmlns:a16="http://schemas.microsoft.com/office/drawing/2014/main" id="{E05A16D1-1595-4324-B4A7-9A4F3B61E71E}"/>
              </a:ext>
            </a:extLst>
          </p:cNvPr>
          <p:cNvGraphicFramePr/>
          <p:nvPr/>
        </p:nvGraphicFramePr>
        <p:xfrm>
          <a:off x="476250" y="1724025"/>
          <a:ext cx="4953000" cy="1952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">
            <a:extLst>
              <a:ext uri="{FF2B5EF4-FFF2-40B4-BE49-F238E27FC236}">
                <a16:creationId xmlns:a16="http://schemas.microsoft.com/office/drawing/2014/main" id="{714689C5-717F-46A9-BAF3-01645B135D53}"/>
              </a:ext>
            </a:extLst>
          </p:cNvPr>
          <p:cNvGraphicFramePr/>
          <p:nvPr/>
        </p:nvGraphicFramePr>
        <p:xfrm>
          <a:off x="6048375" y="1724025"/>
          <a:ext cx="5191125" cy="167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">
            <a:extLst>
              <a:ext uri="{FF2B5EF4-FFF2-40B4-BE49-F238E27FC236}">
                <a16:creationId xmlns:a16="http://schemas.microsoft.com/office/drawing/2014/main" id="{11AB184D-3EDE-458E-87C2-F2B8BF0DE831}"/>
              </a:ext>
            </a:extLst>
          </p:cNvPr>
          <p:cNvGraphicFramePr/>
          <p:nvPr/>
        </p:nvGraphicFramePr>
        <p:xfrm>
          <a:off x="476250" y="4410075"/>
          <a:ext cx="81915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2520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7-title">
            <a:extLst>
              <a:ext uri="{FF2B5EF4-FFF2-40B4-BE49-F238E27FC236}">
                <a16:creationId xmlns:a16="http://schemas.microsoft.com/office/drawing/2014/main" id="{1E06AB0B-9319-4B19-8AFC-391D8FAA7378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150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Future Directions</a:t>
            </a:r>
          </a:p>
        </p:txBody>
      </p:sp>
      <p:sp>
        <p:nvSpPr>
          <p:cNvPr id="2" name="slide-7-top-rule">
            <a:extLst>
              <a:ext uri="{FF2B5EF4-FFF2-40B4-BE49-F238E27FC236}">
                <a16:creationId xmlns:a16="http://schemas.microsoft.com/office/drawing/2014/main" id="{FC127CCA-2696-4335-AF8B-270EB47F94CF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10820400" cy="190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0412EA-BE6A-40BF-9EA8-64A9931E03ED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49A2C"/>
                </a:solidFill>
                <a:latin typeface="Arial"/>
                <a:ea typeface="Arial"/>
                <a:cs typeface="Arial"/>
              </a:rPr>
              <a:t>MODELING DIRECTIONS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727F9A-9668-4D17-8372-474FB0C94A1A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Unified and interpretable systems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860B12-A9F1-49A5-8A63-2A5976E24345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4810125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9pPr>
          </a:lstStyle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86E75"/>
                </a:solidFill>
                <a:latin typeface="Arial"/>
                <a:ea typeface="Arial"/>
                <a:cs typeface="Arial"/>
              </a:rPr>
              <a:t>Run systematic ablations of data injection, tokenization, curricula, and representation fusion</a:t>
            </a:r>
          </a:p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86E75"/>
                </a:solidFill>
                <a:latin typeface="Arial"/>
                <a:ea typeface="Arial"/>
                <a:cs typeface="Arial"/>
              </a:rPr>
              <a:t>Explore objectives that encode Hanzi form, sound, and meaning</a:t>
            </a:r>
          </a:p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86E75"/>
                </a:solidFill>
                <a:latin typeface="Arial"/>
                <a:ea typeface="Arial"/>
                <a:cs typeface="Arial"/>
              </a:rPr>
              <a:t>Build one model competitive across all three tracks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F5AD70-6EF5-4143-B779-4DDFC003B470}"/>
              </a:ext>
            </a:extLst>
          </p:cNvPr>
          <p:cNvSpPr>
            <a:spLocks noGrp="1"/>
          </p:cNvSpPr>
          <p:nvPr/>
        </p:nvSpPr>
        <p:spPr>
          <a:xfrm>
            <a:off x="6048375" y="1495425"/>
            <a:ext cx="19050" cy="2762250"/>
          </a:xfrm>
          <a:prstGeom prst="rect">
            <a:avLst/>
          </a:prstGeom>
          <a:solidFill>
            <a:srgbClr val="D9D7D2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15CB29-6380-4E27-AFBA-3CD573BACAFB}"/>
              </a:ext>
            </a:extLst>
          </p:cNvPr>
          <p:cNvSpPr>
            <a:spLocks noGrp="1"/>
          </p:cNvSpPr>
          <p:nvPr/>
        </p:nvSpPr>
        <p:spPr>
          <a:xfrm>
            <a:off x="6477000" y="149542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49A2C"/>
                </a:solidFill>
                <a:latin typeface="Arial"/>
                <a:ea typeface="Arial"/>
                <a:cs typeface="Arial"/>
              </a:rPr>
              <a:t>EVALUATION DIRECTIONS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434339-5B76-4DF8-ABD7-CEADA35A1795}"/>
              </a:ext>
            </a:extLst>
          </p:cNvPr>
          <p:cNvSpPr>
            <a:spLocks noGrp="1"/>
          </p:cNvSpPr>
          <p:nvPr/>
        </p:nvSpPr>
        <p:spPr>
          <a:xfrm>
            <a:off x="6477000" y="19335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1">
                <a:solidFill>
                  <a:srgbClr val="2024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42A"/>
                </a:solidFill>
                <a:latin typeface="Arial"/>
                <a:ea typeface="Arial"/>
                <a:cs typeface="Arial"/>
              </a:rPr>
              <a:t>More diagnostic benchmarks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0721AE-1EAB-4626-AA0D-CA6D38D1EAB5}"/>
              </a:ext>
            </a:extLst>
          </p:cNvPr>
          <p:cNvSpPr>
            <a:spLocks noGrp="1"/>
          </p:cNvSpPr>
          <p:nvPr/>
        </p:nvSpPr>
        <p:spPr>
          <a:xfrm>
            <a:off x="6477000" y="2457450"/>
            <a:ext cx="4762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>
                <a:solidFill>
                  <a:srgbClr val="686E75"/>
                </a:solidFill>
                <a:latin typeface="Arial"/>
                <a:ea typeface="Arial"/>
                <a:cs typeface="Arial"/>
              </a:defRPr>
            </a:lvl9pPr>
          </a:lstStyle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686E75"/>
                </a:solidFill>
                <a:latin typeface="Arial"/>
                <a:ea typeface="Arial"/>
                <a:cs typeface="Arial"/>
              </a:rPr>
              <a:t>Keep </a:t>
            </a:r>
            <a:r>
              <a:rPr sz="1575" dirty="0" err="1">
                <a:solidFill>
                  <a:srgbClr val="686E75"/>
                </a:solidFill>
                <a:latin typeface="Arial"/>
                <a:ea typeface="Arial"/>
                <a:cs typeface="Arial"/>
              </a:rPr>
              <a:t>ZhoBLiMP</a:t>
            </a:r>
            <a:r>
              <a:rPr sz="1575" dirty="0">
                <a:solidFill>
                  <a:srgbClr val="686E75"/>
                </a:solidFill>
                <a:latin typeface="Arial"/>
                <a:ea typeface="Arial"/>
                <a:cs typeface="Arial"/>
              </a:rPr>
              <a:t>, NLI, and Hanzi, and make saturated pinyin tasks harder</a:t>
            </a:r>
          </a:p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686E75"/>
                </a:solidFill>
                <a:latin typeface="Arial"/>
                <a:ea typeface="Arial"/>
                <a:cs typeface="Arial"/>
              </a:rPr>
              <a:t>Re</a:t>
            </a:r>
            <a:r>
              <a:rPr lang="en-US" sz="1575" dirty="0">
                <a:solidFill>
                  <a:srgbClr val="686E75"/>
                </a:solidFill>
                <a:latin typeface="Arial"/>
                <a:ea typeface="Arial"/>
                <a:cs typeface="Arial"/>
              </a:rPr>
              <a:t>vise</a:t>
            </a:r>
            <a:r>
              <a:rPr sz="1575" dirty="0">
                <a:solidFill>
                  <a:srgbClr val="686E75"/>
                </a:solidFill>
                <a:latin typeface="Arial"/>
                <a:ea typeface="Arial"/>
                <a:cs typeface="Arial"/>
              </a:rPr>
              <a:t> word fMRI, AFQMC, and CLUEWSC</a:t>
            </a:r>
          </a:p>
          <a:p>
            <a:pPr marL="228600" indent="-114300">
              <a:spcAft>
                <a:spcPts val="1000"/>
              </a:spcAft>
              <a:buChar char="•"/>
              <a:defRPr sz="1575">
                <a:solidFill>
                  <a:srgbClr val="686E75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686E75"/>
                </a:solidFill>
                <a:latin typeface="Arial"/>
                <a:ea typeface="Arial"/>
                <a:cs typeface="Arial"/>
              </a:rPr>
              <a:t>Add segmentation, morphology, discourse, reading time, and acquisition measures</a:t>
            </a:r>
          </a:p>
        </p:txBody>
      </p:sp>
      <p:sp>
        <p:nvSpPr>
          <p:cNvPr id="10" name="closing-research-target">
            <a:extLst>
              <a:ext uri="{FF2B5EF4-FFF2-40B4-BE49-F238E27FC236}">
                <a16:creationId xmlns:a16="http://schemas.microsoft.com/office/drawing/2014/main" id="{EC400A32-6140-4E14-8102-9D69437A5C01}"/>
              </a:ext>
            </a:extLst>
          </p:cNvPr>
          <p:cNvSpPr>
            <a:spLocks noGrp="1"/>
          </p:cNvSpPr>
          <p:nvPr/>
        </p:nvSpPr>
        <p:spPr>
          <a:xfrm>
            <a:off x="685800" y="4638675"/>
            <a:ext cx="10820400" cy="1371600"/>
          </a:xfrm>
          <a:prstGeom prst="rect">
            <a:avLst/>
          </a:prstGeom>
          <a:solidFill>
            <a:srgbClr val="F7ECEF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CE2D44-981B-4BC0-9858-BA6E67927CB5}"/>
              </a:ext>
            </a:extLst>
          </p:cNvPr>
          <p:cNvSpPr>
            <a:spLocks noGrp="1"/>
          </p:cNvSpPr>
          <p:nvPr/>
        </p:nvSpPr>
        <p:spPr>
          <a:xfrm>
            <a:off x="962025" y="48387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1">
                <a:solidFill>
                  <a:srgbClr val="C49A2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49A2C"/>
                </a:solidFill>
                <a:latin typeface="Arial"/>
                <a:ea typeface="Arial"/>
                <a:cs typeface="Arial"/>
              </a:rPr>
              <a:t>LONG-TERM GOAL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C33783-4030-4671-82EC-500347ADE3B4}"/>
              </a:ext>
            </a:extLst>
          </p:cNvPr>
          <p:cNvSpPr>
            <a:spLocks noGrp="1"/>
          </p:cNvSpPr>
          <p:nvPr/>
        </p:nvSpPr>
        <p:spPr>
          <a:xfrm>
            <a:off x="962025" y="514350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217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02000"/>
              </a:lnSpc>
              <a:buNone/>
              <a:defRPr sz="217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E1B32"/>
                </a:solidFill>
                <a:latin typeface="Arial"/>
                <a:ea typeface="Arial"/>
                <a:cs typeface="Arial"/>
              </a:rPr>
              <a:t>One limited-data model that learns Chinese-specific structure</a:t>
            </a:r>
          </a:p>
          <a:p>
            <a:pPr>
              <a:lnSpc>
                <a:spcPct val="102000"/>
              </a:lnSpc>
              <a:buNone/>
              <a:defRPr sz="2175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E1B32"/>
                </a:solidFill>
                <a:latin typeface="Arial"/>
                <a:ea typeface="Arial"/>
                <a:cs typeface="Arial"/>
              </a:rPr>
              <a:t>and performs well across all three tracks</a:t>
            </a:r>
          </a:p>
        </p:txBody>
      </p:sp>
      <p:sp>
        <p:nvSpPr>
          <p:cNvPr id="13" name="slide-7-footer-label">
            <a:extLst>
              <a:ext uri="{FF2B5EF4-FFF2-40B4-BE49-F238E27FC236}">
                <a16:creationId xmlns:a16="http://schemas.microsoft.com/office/drawing/2014/main" id="{8D8C51E4-B97A-4804-B78B-8814DB91018E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>
                <a:solidFill>
                  <a:srgbClr val="A5A9A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5A9AE"/>
                </a:solidFill>
                <a:latin typeface="Arial"/>
                <a:ea typeface="Arial"/>
                <a:cs typeface="Arial"/>
              </a:rPr>
              <a:t>ChineseBabyLM  |  NLPCC 2026</a:t>
            </a:r>
          </a:p>
        </p:txBody>
      </p:sp>
      <p:sp>
        <p:nvSpPr>
          <p:cNvPr id="14" name="slide-7-footer-number">
            <a:extLst>
              <a:ext uri="{FF2B5EF4-FFF2-40B4-BE49-F238E27FC236}">
                <a16:creationId xmlns:a16="http://schemas.microsoft.com/office/drawing/2014/main" id="{EB9C9B66-F4E8-4260-9B16-5F11B03D9F79}"/>
              </a:ext>
            </a:extLst>
          </p:cNvPr>
          <p:cNvSpPr>
            <a:spLocks noGrp="1"/>
          </p:cNvSpPr>
          <p:nvPr/>
        </p:nvSpPr>
        <p:spPr>
          <a:xfrm>
            <a:off x="11001375" y="6467475"/>
            <a:ext cx="504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 algn="r"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050" b="1">
                <a:solidFill>
                  <a:srgbClr val="9E1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E1B3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11490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1277</Words>
  <Application>Microsoft Office PowerPoint</Application>
  <DocSecurity>0</DocSecurity>
  <PresentationFormat>宽屏</PresentationFormat>
  <Paragraphs>219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Aptos</vt:lpstr>
      <vt:lpstr>Arial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Zhiheng Qian</cp:lastModifiedBy>
  <cp:revision>128</cp:revision>
  <dcterms:created xsi:type="dcterms:W3CDTF">2026-10-27T17:08:01Z</dcterms:created>
  <dcterms:modified xsi:type="dcterms:W3CDTF">2026-10-30T17:58:33Z</dcterms:modified>
</cp:coreProperties>
</file>